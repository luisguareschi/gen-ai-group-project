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handoutMasterIdLst>
    <p:handoutMasterId r:id="rId14"/>
  </p:handoutMasterIdLst>
  <p:sldIdLst>
    <p:sldId id="256" r:id="rId2"/>
    <p:sldId id="257" r:id="rId3"/>
    <p:sldId id="258" r:id="rId4"/>
    <p:sldId id="259" r:id="rId5"/>
    <p:sldId id="260" r:id="rId6"/>
    <p:sldId id="265" r:id="rId7"/>
    <p:sldId id="266" r:id="rId8"/>
    <p:sldId id="261" r:id="rId9"/>
    <p:sldId id="262" r:id="rId10"/>
    <p:sldId id="263" r:id="rId11"/>
    <p:sldId id="264"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F9F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9569"/>
    <p:restoredTop sz="86371"/>
  </p:normalViewPr>
  <p:slideViewPr>
    <p:cSldViewPr snapToGrid="0" snapToObjects="1">
      <p:cViewPr varScale="1">
        <p:scale>
          <a:sx n="186" d="100"/>
          <a:sy n="186" d="100"/>
        </p:scale>
        <p:origin x="1032" y="192"/>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snapToObjects="1">
      <p:cViewPr varScale="1">
        <p:scale>
          <a:sx n="125" d="100"/>
          <a:sy n="125" d="100"/>
        </p:scale>
        <p:origin x="7544" y="17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9E98354-ACE3-3F56-AE64-E1AEB7F6802F}"/>
              </a:ext>
            </a:extLst>
          </p:cNvPr>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D8001CD-30A1-8077-5BC8-1D02BFF66C72}"/>
              </a:ext>
            </a:extLst>
          </p:cNvPr>
          <p:cNvSpPr>
            <a:spLocks noGrp="1"/>
          </p:cNvSpPr>
          <p:nvPr>
            <p:ph type="dt" sz="quarter" idx="1"/>
          </p:nvPr>
        </p:nvSpPr>
        <p:spPr>
          <a:xfrm>
            <a:off x="3884613" y="0"/>
            <a:ext cx="2971800" cy="611188"/>
          </a:xfrm>
          <a:prstGeom prst="rect">
            <a:avLst/>
          </a:prstGeom>
        </p:spPr>
        <p:txBody>
          <a:bodyPr vert="horz" lIns="91440" tIns="45720" rIns="91440" bIns="45720" rtlCol="0"/>
          <a:lstStyle>
            <a:lvl1pPr algn="r">
              <a:defRPr sz="1200"/>
            </a:lvl1pPr>
          </a:lstStyle>
          <a:p>
            <a:fld id="{0E807ACA-B284-DC4B-837E-566AD042D345}" type="datetimeFigureOut">
              <a:rPr lang="en-US" smtClean="0"/>
              <a:t>4/25/26</a:t>
            </a:fld>
            <a:endParaRPr lang="en-US"/>
          </a:p>
        </p:txBody>
      </p:sp>
      <p:sp>
        <p:nvSpPr>
          <p:cNvPr id="4" name="Footer Placeholder 3">
            <a:extLst>
              <a:ext uri="{FF2B5EF4-FFF2-40B4-BE49-F238E27FC236}">
                <a16:creationId xmlns:a16="http://schemas.microsoft.com/office/drawing/2014/main" id="{FD0AF7E1-CEBE-B4E5-D8C0-A335E6849AA2}"/>
              </a:ext>
            </a:extLst>
          </p:cNvPr>
          <p:cNvSpPr>
            <a:spLocks noGrp="1"/>
          </p:cNvSpPr>
          <p:nvPr>
            <p:ph type="ftr" sz="quarter" idx="2"/>
          </p:nvPr>
        </p:nvSpPr>
        <p:spPr>
          <a:xfrm>
            <a:off x="0" y="11580813"/>
            <a:ext cx="2971800" cy="6111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F1472D9-BCEE-DC7D-E76E-41C881B982D3}"/>
              </a:ext>
            </a:extLst>
          </p:cNvPr>
          <p:cNvSpPr>
            <a:spLocks noGrp="1"/>
          </p:cNvSpPr>
          <p:nvPr>
            <p:ph type="sldNum" sz="quarter" idx="3"/>
          </p:nvPr>
        </p:nvSpPr>
        <p:spPr>
          <a:xfrm>
            <a:off x="3884613" y="11580813"/>
            <a:ext cx="2971800" cy="611187"/>
          </a:xfrm>
          <a:prstGeom prst="rect">
            <a:avLst/>
          </a:prstGeom>
        </p:spPr>
        <p:txBody>
          <a:bodyPr vert="horz" lIns="91440" tIns="45720" rIns="91440" bIns="45720" rtlCol="0" anchor="b"/>
          <a:lstStyle>
            <a:lvl1pPr algn="r">
              <a:defRPr sz="1200"/>
            </a:lvl1pPr>
          </a:lstStyle>
          <a:p>
            <a:fld id="{67CED1CA-E173-D04E-9C18-E4DE4D294696}" type="slidenum">
              <a:rPr lang="en-US" smtClean="0"/>
              <a:t>‹#›</a:t>
            </a:fld>
            <a:endParaRPr lang="en-US"/>
          </a:p>
        </p:txBody>
      </p:sp>
    </p:spTree>
    <p:extLst>
      <p:ext uri="{BB962C8B-B14F-4D97-AF65-F5344CB8AC3E}">
        <p14:creationId xmlns:p14="http://schemas.microsoft.com/office/powerpoint/2010/main" val="20281802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87656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Good morning. We are Luis, Asier, and Alejandro. Our project is a multi-agent fake news detection system, built on CrewAI with a local Qwen2.5:3b model and evaluated against the WELFake dataset. The headline result is 90% accuracy, but the more interesting story is what that number does and doesn't mean. I'll walk through the problem, the architecture, our results, and the engineering and methodological caveats we hit along the way.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Fake news spreads roughly six times faster than real news online, and manual fact-checking simply does not scale. A single classifier model misses what humans pick up on instinctively: tone, framing, and how a piece of writing positions itself. Our approach uses four specialized CrewAI agents, each handling one part of that judgement. Claim extraction, fact-checking against external sources, bias detection, and a final judge that combines the signals. We also pulled all numerical scoring out of the LLM and into deterministic Python, which I'll come back to. For evaluation we used WELFake, 100 balanced articles from US political news between 2015 and 2017.</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walkthrough. An article enters the pipeline and the Claim Extractor produces three to five factual claims worth verifying. The Fact Checker takes each claim and searches Wikipedia and DuckDuckGo, returning supported or contradicted. The Bias Detector reads the original text and produces a bias score and tone flags, no external tools. The Judge combines those signals and emits a real or fake verdict with a confidence score. The verdict formula weights fact-checking at 60%, bias at 35%, and the RoBERTa supporting signal at 5%. Crucially, the arithmetic happens in Python, not in the LLM, which guarantees reproducibility. On sequencing: we deliberately chose sequential over parallel. The bias detector is fast because it has no tools, so running it concurrently with fact-checking saves very little wall-clock time. Concurrent logs would have made debugging the tool-use issues substantially harder, which we can talk about next.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 stack. I'll keep this brief because the choices are mostly defensive. CrewAI handles orchestration, with sequential pipeline and built-in delegation between agents. For the LLM we used Qwen2.5:3b running locally through Ollama; the smaller model gave better results than 7b, which I'll explain when we get to caveats. Wikipedia and DuckDuckGo provide fact-checker retrieval. RoBERTa, specifically the hamzab fake news classifier on HuggingFace, gives us a small supporting signal. All scoring lives in a Python function called _compute_verdict, which guarantees reproducibility. The dataset is WELFake, 100 balanced articles for evaluation only, no fine-tuning.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engineering challenges, each with a structural fix.
ONE. output_pydantic causes agents to skip tool calls. Setting output_pydantic makes the agent jump straight to JSON, skipping any Wikipedia or DuckDuckGo searches. The fix is to split into a search-only task without a schema, then a verdict task with a schema that uses the search result as context. One caveat worth flagging: this fixes the structural bug but not the epistemic one. Local models still invent plausible-looking sources when real evidence is thin, including fabricated URLs and snippets that quote the article back to itself.
TWO. Local models are unreliable at tool calling. Qwen2.5:3b outputs tool parameters as plain text rather than structured function calls, which CrewAI cannot parse or execute. The framework requires OpenAI-style function calling. For pipelines that depend on real-time web searches, use the OpenAI API or call tools directly from Python.
THREE. Non-deterministic scoring from the Judge agent. Letting the Judge LLM compute the final confidence score produced inconsistent results on identical inputs. The solution was to extract all arithmetic to a Python function called _compute_verdict. The agent now receives pre-computed values and only writes the human-readable explanation.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C0AFE-AC50-0259-9DAC-B9AB99E86C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3D8871-A3D2-2D09-7014-8D129F6CF1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F3A249-EF6D-DB6B-4A60-9901C496C8C4}"/>
              </a:ext>
            </a:extLst>
          </p:cNvPr>
          <p:cNvSpPr>
            <a:spLocks noGrp="1"/>
          </p:cNvSpPr>
          <p:nvPr>
            <p:ph type="body" idx="1"/>
          </p:nvPr>
        </p:nvSpPr>
        <p:spPr/>
        <p:txBody>
          <a:bodyPr/>
          <a:lstStyle/>
          <a:p>
            <a:r>
              <a:rPr lang="en-US" dirty="0"/>
              <a:t>Interface</a:t>
            </a:r>
          </a:p>
        </p:txBody>
      </p:sp>
      <p:sp>
        <p:nvSpPr>
          <p:cNvPr id="4" name="Slide Number Placeholder 3">
            <a:extLst>
              <a:ext uri="{FF2B5EF4-FFF2-40B4-BE49-F238E27FC236}">
                <a16:creationId xmlns:a16="http://schemas.microsoft.com/office/drawing/2014/main" id="{AD0D23C1-1C3E-9D82-932E-6EC01799ECE8}"/>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4577457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A4465-3801-396E-0188-AB2154CD5F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B2ADED-089D-BB6C-513C-4C2B73154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62617E-6555-BDBA-2C7A-6F3F3F747075}"/>
              </a:ext>
            </a:extLst>
          </p:cNvPr>
          <p:cNvSpPr>
            <a:spLocks noGrp="1"/>
          </p:cNvSpPr>
          <p:nvPr>
            <p:ph type="body" idx="1"/>
          </p:nvPr>
        </p:nvSpPr>
        <p:spPr/>
        <p:txBody>
          <a:bodyPr/>
          <a:lstStyle/>
          <a:p>
            <a:r>
              <a:rPr lang="en-US" dirty="0"/>
              <a:t>Batch and individual processing, with outputs from the agents</a:t>
            </a:r>
          </a:p>
        </p:txBody>
      </p:sp>
      <p:sp>
        <p:nvSpPr>
          <p:cNvPr id="4" name="Slide Number Placeholder 3">
            <a:extLst>
              <a:ext uri="{FF2B5EF4-FFF2-40B4-BE49-F238E27FC236}">
                <a16:creationId xmlns:a16="http://schemas.microsoft.com/office/drawing/2014/main" id="{77F9272E-7778-95B3-8250-1C738681A49C}"/>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916294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on the headline numbers. On 100 articles we get 90% accuracy, 0.90 F1, average confidence of 0.86, and roughly 43 seconds per article. The confusion matrix is fairly balanced. On REAL articles we got 48 right and missed 2, recall of 96%, precision 86%. On FAKE we got 42 right and missed 8, so recall is 84% and precision 96%. The asymmetry is interesting: the system is good at identifying real news and conservative when it labels something as fake. Per-class F1 is 0.91 for REAL, 0.89 for FAKE. These are strong numbers, but I want to spend the next slide explaining why they don't tell the full story.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90% accuracy is misleading and I want to flag four reasons before we move on.
ONE. Training data leakage. The model pattern-matches to articles it already knows from pretraining. High accuracy on WELFake is not real generalization, it is memorization. A truly robust evaluation requires post-cutoff data the model has never seen.
TWO. Wikipedia search adds noise. When the model already has the answer baked in from training, retrieved search results introduce conflicting or redundant context. The model tries to reconcile its internal knowledge with the retrieved text and sometimes produces worse verdicts.
THREE. Smaller model overthinks less. Qwen2.5:3b outperformed Qwen2.5:7b on this dataset. Not because it is smarter, but because the 3b model pattern-matches quickly to salient features. The 7b model considers counterarguments, hedges, and talks itself out of the correct answer.
FOUR. No clean post-2024 dataset exists. The algozee/fake-news Kaggle dataset turned out to contain synthetic template-generated articles rather than real news, making it useless for evaluation. Credible testing requires a held-out post-cutoff set, which is very hard to build.
Bottom line, treat the 90% as an upper bound on contaminated data, not real-world performance.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lessons that generalize beyond this project.
ONE. Use Python for arithmetic, not LLMs. Never let an agent decide a numerical score. Extract scoring to a Python function for guaranteed reproducibility, and let the LLM only produce the human-readable explanation.
TWO. Split search and synthesis into two tasks. output_pydantic on a search task makes agents skip tool calls entirely. Use one task to search with plain text output, then a separate task to produce structured output from those results.
THREE. Bias signal is the most reliable feature. When tool calling fails on local models, the Bias Detector carries most of the weight. Fake news tends to use inflammatory language and one-sided framing that the model detects reliably without any web access.
FOUR. Know when to break out of the framework. CrewAI is a good abstraction when the model's judgement is the value being captured. Extract to Python when a step is just computation. The two-crew split here is a symptom of CrewAI lacking deterministic-step nodes; LangGraph or a hand-rolled orchestration loop fits this shape more naturally.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three buckets: what worked, what didn't, and where this goes next.
WHAT WORKED. A sequential four-agent pipeline with deterministic Python scoring via _compute_verdict. Bias detection turned out to be a reliable fallback when tool calling failed. RoBERTa contributed as a lightweight supporting signal. The system reaches 90% accuracy on WELFake using a free, local 3b model.
WHAT DIDN'T. Local model tool calling is fragile: Qwen outputs plain text instead of structured function calls. Dataset leakage inflates the headline metric. The 3b model wins for the wrong reasons, relying on fast pattern matching over memorized data rather than genuine reasoning. Confidence is poorly calibrated: several incorrect predictions were issued at 0.93 and above, for example articles 43702 and 34392. The reported confidence reflects internal signal agreement, not a calibrated probability of correctness.
FUTURE WORK. First, build a post-cutoff evaluation dataset for uncontaminated testing. Second, use an OpenAI backend for reliable tool use. Third, move to a parallel pipeline with agents two and three running concurrently to reduce latency. Fourth, recalibrate confidence against held-out accuracy, either via isotonic regression or coarse high, medium, and low buckets. Finally, revisit RoBERTa's five percent weight, given that it is the only component actually trained for this task.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AF8F3"/>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jp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endParaRPr lang="en-US" sz="800" dirty="0"/>
          </a:p>
        </p:txBody>
      </p:sp>
      <p:sp>
        <p:nvSpPr>
          <p:cNvPr id="3" name="Shape 1"/>
          <p:cNvSpPr/>
          <p:nvPr/>
        </p:nvSpPr>
        <p:spPr>
          <a:xfrm>
            <a:off x="548640" y="1051560"/>
            <a:ext cx="11094415" cy="0"/>
          </a:xfrm>
          <a:prstGeom prst="line">
            <a:avLst/>
          </a:prstGeom>
          <a:noFill/>
          <a:ln w="19050">
            <a:solidFill>
              <a:srgbClr val="1A1915"/>
            </a:solidFill>
            <a:prstDash val="solid"/>
          </a:ln>
        </p:spPr>
        <p:txBody>
          <a:bodyPr/>
          <a:lstStyle/>
          <a:p>
            <a:endParaRPr lang="en-US"/>
          </a:p>
        </p:txBody>
      </p:sp>
      <p:sp>
        <p:nvSpPr>
          <p:cNvPr id="4" name="Text 2"/>
          <p:cNvSpPr/>
          <p:nvPr/>
        </p:nvSpPr>
        <p:spPr>
          <a:xfrm>
            <a:off x="548640" y="777240"/>
            <a:ext cx="11094415" cy="274320"/>
          </a:xfrm>
          <a:prstGeom prst="rect">
            <a:avLst/>
          </a:prstGeom>
          <a:noFill/>
          <a:ln/>
        </p:spPr>
        <p:txBody>
          <a:bodyPr wrap="square" lIns="0" tIns="0" rIns="0" bIns="0" rtlCol="0" anchor="b"/>
          <a:lstStyle/>
          <a:p>
            <a:pPr marL="0" indent="0">
              <a:buNone/>
            </a:pPr>
            <a:r>
              <a:rPr lang="en-US" sz="1000" kern="0" spc="400" dirty="0">
                <a:solidFill>
                  <a:srgbClr val="4A4742"/>
                </a:solidFill>
                <a:latin typeface="Consolas" pitchFamily="34" charset="0"/>
                <a:ea typeface="Consolas" pitchFamily="34" charset="-122"/>
                <a:cs typeface="Consolas" pitchFamily="34" charset="-120"/>
              </a:rPr>
              <a:t>PROJECT · FAKE NEWS DETECTION · IE MBD-PT</a:t>
            </a:r>
            <a:endParaRPr lang="en-US" sz="1000" dirty="0"/>
          </a:p>
        </p:txBody>
      </p:sp>
      <p:sp>
        <p:nvSpPr>
          <p:cNvPr id="5" name="Text 3"/>
          <p:cNvSpPr/>
          <p:nvPr/>
        </p:nvSpPr>
        <p:spPr>
          <a:xfrm>
            <a:off x="548640" y="1325880"/>
            <a:ext cx="11094415" cy="914400"/>
          </a:xfrm>
          <a:prstGeom prst="rect">
            <a:avLst/>
          </a:prstGeom>
          <a:noFill/>
          <a:ln/>
        </p:spPr>
        <p:txBody>
          <a:bodyPr wrap="square" lIns="0" tIns="0" rIns="0" bIns="0" rtlCol="0" anchor="t"/>
          <a:lstStyle/>
          <a:p>
            <a:pPr marL="0" indent="0">
              <a:buNone/>
            </a:pPr>
            <a:r>
              <a:rPr lang="en-US" sz="5400" dirty="0">
                <a:solidFill>
                  <a:srgbClr val="1A1915"/>
                </a:solidFill>
                <a:latin typeface="Georgia" pitchFamily="34" charset="0"/>
                <a:ea typeface="Georgia" pitchFamily="34" charset="-122"/>
                <a:cs typeface="Georgia" pitchFamily="34" charset="-120"/>
              </a:rPr>
              <a:t>Multi-Agent Fake News</a:t>
            </a:r>
            <a:endParaRPr lang="en-US" sz="5400" dirty="0"/>
          </a:p>
        </p:txBody>
      </p:sp>
      <p:sp>
        <p:nvSpPr>
          <p:cNvPr id="6" name="Text 4"/>
          <p:cNvSpPr/>
          <p:nvPr/>
        </p:nvSpPr>
        <p:spPr>
          <a:xfrm>
            <a:off x="548640" y="2148840"/>
            <a:ext cx="11094415" cy="914400"/>
          </a:xfrm>
          <a:prstGeom prst="rect">
            <a:avLst/>
          </a:prstGeom>
          <a:noFill/>
          <a:ln/>
        </p:spPr>
        <p:txBody>
          <a:bodyPr wrap="square" lIns="0" tIns="0" rIns="0" bIns="0" rtlCol="0" anchor="t"/>
          <a:lstStyle/>
          <a:p>
            <a:pPr marL="0" indent="0">
              <a:buNone/>
            </a:pPr>
            <a:r>
              <a:rPr lang="en-US" sz="5400" i="1" dirty="0">
                <a:solidFill>
                  <a:srgbClr val="8B3A1F"/>
                </a:solidFill>
                <a:latin typeface="Georgia" pitchFamily="34" charset="0"/>
                <a:ea typeface="Georgia" pitchFamily="34" charset="-122"/>
                <a:cs typeface="Georgia" pitchFamily="34" charset="-120"/>
              </a:rPr>
              <a:t>Detection</a:t>
            </a:r>
            <a:endParaRPr lang="en-US" sz="5400" dirty="0"/>
          </a:p>
        </p:txBody>
      </p:sp>
      <p:sp>
        <p:nvSpPr>
          <p:cNvPr id="7" name="Text 5"/>
          <p:cNvSpPr/>
          <p:nvPr/>
        </p:nvSpPr>
        <p:spPr>
          <a:xfrm>
            <a:off x="548640" y="3108960"/>
            <a:ext cx="11094415" cy="502920"/>
          </a:xfrm>
          <a:prstGeom prst="rect">
            <a:avLst/>
          </a:prstGeom>
          <a:noFill/>
          <a:ln/>
        </p:spPr>
        <p:txBody>
          <a:bodyPr wrap="square" lIns="0" tIns="0" rIns="0" bIns="0" rtlCol="0" anchor="ctr"/>
          <a:lstStyle/>
          <a:p>
            <a:pPr marL="0" indent="0">
              <a:buNone/>
            </a:pPr>
            <a:r>
              <a:rPr lang="en-US" sz="1800" i="1" dirty="0">
                <a:solidFill>
                  <a:srgbClr val="4A4742"/>
                </a:solidFill>
                <a:latin typeface="Georgia" pitchFamily="34" charset="0"/>
                <a:ea typeface="Georgia" pitchFamily="34" charset="-122"/>
                <a:cs typeface="Georgia" pitchFamily="34" charset="-120"/>
              </a:rPr>
              <a:t>A CrewAI multi-agent pipeline for automated news verification.</a:t>
            </a:r>
            <a:endParaRPr lang="en-US" sz="1800" dirty="0"/>
          </a:p>
        </p:txBody>
      </p:sp>
      <p:sp>
        <p:nvSpPr>
          <p:cNvPr id="8" name="Text 6"/>
          <p:cNvSpPr/>
          <p:nvPr/>
        </p:nvSpPr>
        <p:spPr>
          <a:xfrm>
            <a:off x="548640" y="3657600"/>
            <a:ext cx="11094415" cy="320040"/>
          </a:xfrm>
          <a:prstGeom prst="rect">
            <a:avLst/>
          </a:prstGeom>
          <a:noFill/>
          <a:ln/>
        </p:spPr>
        <p:txBody>
          <a:bodyPr wrap="square" lIns="0" tIns="0" rIns="0" bIns="0" rtlCol="0" anchor="ctr"/>
          <a:lstStyle/>
          <a:p>
            <a:pPr marL="0" indent="0">
              <a:buNone/>
            </a:pPr>
            <a:r>
              <a:rPr lang="en-US" sz="1100" kern="0" spc="300" dirty="0">
                <a:solidFill>
                  <a:srgbClr val="8B3A1F"/>
                </a:solidFill>
                <a:latin typeface="Consolas" pitchFamily="34" charset="0"/>
                <a:ea typeface="Consolas" pitchFamily="34" charset="-122"/>
                <a:cs typeface="Consolas" pitchFamily="34" charset="-120"/>
              </a:rPr>
              <a:t>CrewAI  ·  Qwen2.5:3b  ·  WELFake Dataset  ·  RoBERTa Classifier</a:t>
            </a:r>
            <a:endParaRPr lang="en-US" sz="1100" dirty="0"/>
          </a:p>
        </p:txBody>
      </p:sp>
      <p:sp>
        <p:nvSpPr>
          <p:cNvPr id="9" name="Shape 7"/>
          <p:cNvSpPr/>
          <p:nvPr/>
        </p:nvSpPr>
        <p:spPr>
          <a:xfrm>
            <a:off x="548640" y="4114800"/>
            <a:ext cx="11094415" cy="0"/>
          </a:xfrm>
          <a:prstGeom prst="line">
            <a:avLst/>
          </a:prstGeom>
          <a:noFill/>
          <a:ln w="6350">
            <a:solidFill>
              <a:srgbClr val="D8D3C7"/>
            </a:solidFill>
            <a:prstDash val="solid"/>
          </a:ln>
        </p:spPr>
        <p:txBody>
          <a:bodyPr/>
          <a:lstStyle/>
          <a:p>
            <a:endParaRPr lang="en-US"/>
          </a:p>
        </p:txBody>
      </p:sp>
      <p:sp>
        <p:nvSpPr>
          <p:cNvPr id="10" name="Text 8"/>
          <p:cNvSpPr/>
          <p:nvPr/>
        </p:nvSpPr>
        <p:spPr>
          <a:xfrm>
            <a:off x="548640" y="429768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TEAM MEMBERS</a:t>
            </a:r>
            <a:endParaRPr lang="en-US" sz="900" dirty="0"/>
          </a:p>
        </p:txBody>
      </p:sp>
      <p:sp>
        <p:nvSpPr>
          <p:cNvPr id="11" name="Text 9"/>
          <p:cNvSpPr/>
          <p:nvPr/>
        </p:nvSpPr>
        <p:spPr>
          <a:xfrm>
            <a:off x="548640" y="4617720"/>
            <a:ext cx="5486400" cy="1371600"/>
          </a:xfrm>
          <a:prstGeom prst="rect">
            <a:avLst/>
          </a:prstGeom>
          <a:noFill/>
          <a:ln/>
        </p:spPr>
        <p:txBody>
          <a:bodyPr wrap="square" lIns="0" tIns="0" rIns="0" bIns="0" rtlCol="0" anchor="ctr"/>
          <a:lstStyle/>
          <a:p>
            <a:pPr marL="0" indent="0">
              <a:spcAft>
                <a:spcPts val="400"/>
              </a:spcAft>
              <a:buNone/>
            </a:pPr>
            <a:r>
              <a:rPr lang="en-US" sz="1600" dirty="0">
                <a:solidFill>
                  <a:srgbClr val="1A1915"/>
                </a:solidFill>
                <a:latin typeface="Georgia" pitchFamily="34" charset="0"/>
                <a:ea typeface="Georgia" pitchFamily="34" charset="-122"/>
                <a:cs typeface="Georgia" pitchFamily="34" charset="-120"/>
              </a:rPr>
              <a:t>Luis Guareschi</a:t>
            </a:r>
            <a:endParaRPr lang="en-US" sz="1600" dirty="0"/>
          </a:p>
          <a:p>
            <a:pPr marL="0" indent="0">
              <a:spcAft>
                <a:spcPts val="400"/>
              </a:spcAft>
              <a:buNone/>
            </a:pPr>
            <a:r>
              <a:rPr lang="en-US" sz="1600" dirty="0">
                <a:solidFill>
                  <a:srgbClr val="1A1915"/>
                </a:solidFill>
                <a:latin typeface="Georgia" pitchFamily="34" charset="0"/>
                <a:ea typeface="Georgia" pitchFamily="34" charset="-122"/>
                <a:cs typeface="Georgia" pitchFamily="34" charset="-120"/>
              </a:rPr>
              <a:t>Asier Ugarteche Perez</a:t>
            </a:r>
            <a:endParaRPr lang="en-US" sz="1600" dirty="0"/>
          </a:p>
          <a:p>
            <a:pPr marL="0" indent="0">
              <a:spcAft>
                <a:spcPts val="400"/>
              </a:spcAft>
              <a:buNone/>
            </a:pPr>
            <a:r>
              <a:rPr lang="en-US" sz="1600" dirty="0">
                <a:solidFill>
                  <a:srgbClr val="1A1915"/>
                </a:solidFill>
                <a:latin typeface="Georgia" pitchFamily="34" charset="0"/>
                <a:ea typeface="Georgia" pitchFamily="34" charset="-122"/>
                <a:cs typeface="Georgia" pitchFamily="34" charset="-120"/>
              </a:rPr>
              <a:t>Alejandro Gutierrez Werner</a:t>
            </a:r>
            <a:endParaRPr lang="en-US" sz="1600" dirty="0"/>
          </a:p>
        </p:txBody>
      </p:sp>
      <p:sp>
        <p:nvSpPr>
          <p:cNvPr id="12" name="Text 10"/>
          <p:cNvSpPr/>
          <p:nvPr/>
        </p:nvSpPr>
        <p:spPr>
          <a:xfrm>
            <a:off x="7071055" y="4617720"/>
            <a:ext cx="4572000" cy="1097280"/>
          </a:xfrm>
          <a:prstGeom prst="rect">
            <a:avLst/>
          </a:prstGeom>
          <a:noFill/>
          <a:ln/>
        </p:spPr>
        <p:txBody>
          <a:bodyPr wrap="square" lIns="0" tIns="0" rIns="0" bIns="0" rtlCol="0" anchor="ctr"/>
          <a:lstStyle/>
          <a:p>
            <a:pPr marL="0" indent="0" algn="r">
              <a:spcAft>
                <a:spcPts val="300"/>
              </a:spcAft>
              <a:buNone/>
            </a:pPr>
            <a:r>
              <a:rPr lang="en-US" sz="1000" dirty="0">
                <a:solidFill>
                  <a:srgbClr val="4A4742"/>
                </a:solidFill>
                <a:latin typeface="Consolas" pitchFamily="34" charset="0"/>
                <a:ea typeface="Consolas" pitchFamily="34" charset="-122"/>
                <a:cs typeface="Consolas" pitchFamily="34" charset="-120"/>
              </a:rPr>
              <a:t>Course  ·  </a:t>
            </a:r>
            <a:r>
              <a:rPr lang="en-US" sz="1000" dirty="0">
                <a:solidFill>
                  <a:srgbClr val="1A1915"/>
                </a:solidFill>
                <a:latin typeface="Consolas" pitchFamily="34" charset="0"/>
                <a:ea typeface="Consolas" pitchFamily="34" charset="-122"/>
                <a:cs typeface="Consolas" pitchFamily="34" charset="-120"/>
              </a:rPr>
              <a:t>Generative AI &amp; Intelligent Agents</a:t>
            </a:r>
            <a:endParaRPr lang="en-US" sz="1000" dirty="0"/>
          </a:p>
          <a:p>
            <a:pPr marL="0" indent="0" algn="r">
              <a:spcAft>
                <a:spcPts val="300"/>
              </a:spcAft>
              <a:buNone/>
            </a:pPr>
            <a:r>
              <a:rPr lang="en-US" sz="1000" dirty="0">
                <a:solidFill>
                  <a:srgbClr val="4A4742"/>
                </a:solidFill>
                <a:latin typeface="Consolas" pitchFamily="34" charset="0"/>
                <a:ea typeface="Consolas" pitchFamily="34" charset="-122"/>
                <a:cs typeface="Consolas" pitchFamily="34" charset="-120"/>
              </a:rPr>
              <a:t>Instructor  ·  </a:t>
            </a:r>
            <a:r>
              <a:rPr lang="en-US" sz="1000" dirty="0">
                <a:solidFill>
                  <a:srgbClr val="1A1915"/>
                </a:solidFill>
                <a:latin typeface="Consolas" pitchFamily="34" charset="0"/>
                <a:ea typeface="Consolas" pitchFamily="34" charset="-122"/>
                <a:cs typeface="Consolas" pitchFamily="34" charset="-120"/>
              </a:rPr>
              <a:t>Dr. Manero</a:t>
            </a:r>
            <a:endParaRPr lang="en-US" sz="1000" dirty="0"/>
          </a:p>
          <a:p>
            <a:pPr marL="0" indent="0" algn="r">
              <a:spcAft>
                <a:spcPts val="300"/>
              </a:spcAft>
              <a:buNone/>
            </a:pPr>
            <a:r>
              <a:rPr lang="en-US" sz="1000" dirty="0">
                <a:solidFill>
                  <a:srgbClr val="4A4742"/>
                </a:solidFill>
                <a:latin typeface="Consolas" pitchFamily="34" charset="0"/>
                <a:ea typeface="Consolas" pitchFamily="34" charset="-122"/>
                <a:cs typeface="Consolas" pitchFamily="34" charset="-120"/>
              </a:rPr>
              <a:t>Deliverable  ·  </a:t>
            </a:r>
            <a:r>
              <a:rPr lang="en-US" sz="1000" dirty="0">
                <a:solidFill>
                  <a:srgbClr val="1A1915"/>
                </a:solidFill>
                <a:latin typeface="Consolas" pitchFamily="34" charset="0"/>
                <a:ea typeface="Consolas" pitchFamily="34" charset="-122"/>
                <a:cs typeface="Consolas" pitchFamily="34" charset="-120"/>
              </a:rPr>
              <a:t>Group Practice III</a:t>
            </a:r>
            <a:endParaRPr lang="en-US" sz="1000" dirty="0"/>
          </a:p>
        </p:txBody>
      </p:sp>
      <p:sp>
        <p:nvSpPr>
          <p:cNvPr id="13" name="Shape 11"/>
          <p:cNvSpPr/>
          <p:nvPr/>
        </p:nvSpPr>
        <p:spPr>
          <a:xfrm>
            <a:off x="10454335" y="5943600"/>
            <a:ext cx="1188720" cy="292608"/>
          </a:xfrm>
          <a:prstGeom prst="rect">
            <a:avLst/>
          </a:prstGeom>
          <a:solidFill>
            <a:srgbClr val="1A1915"/>
          </a:solidFill>
          <a:ln w="12700">
            <a:solidFill>
              <a:srgbClr val="1A1915"/>
            </a:solidFill>
            <a:prstDash val="solid"/>
          </a:ln>
        </p:spPr>
        <p:txBody>
          <a:bodyPr/>
          <a:lstStyle/>
          <a:p>
            <a:endParaRPr lang="en-US"/>
          </a:p>
        </p:txBody>
      </p:sp>
      <p:sp>
        <p:nvSpPr>
          <p:cNvPr id="14" name="Text 12"/>
          <p:cNvSpPr/>
          <p:nvPr/>
        </p:nvSpPr>
        <p:spPr>
          <a:xfrm>
            <a:off x="10454335" y="5943600"/>
            <a:ext cx="1188720" cy="292608"/>
          </a:xfrm>
          <a:prstGeom prst="rect">
            <a:avLst/>
          </a:prstGeom>
          <a:noFill/>
          <a:ln/>
        </p:spPr>
        <p:txBody>
          <a:bodyPr wrap="square" lIns="0" tIns="0" rIns="0" bIns="0" rtlCol="0" anchor="ctr"/>
          <a:lstStyle/>
          <a:p>
            <a:pPr marL="0" indent="0" algn="ctr">
              <a:buNone/>
            </a:pPr>
            <a:r>
              <a:rPr lang="en-US" sz="900" kern="0" spc="300" dirty="0">
                <a:solidFill>
                  <a:srgbClr val="FAF8F3"/>
                </a:solidFill>
                <a:latin typeface="Consolas" pitchFamily="34" charset="0"/>
                <a:ea typeface="Consolas" pitchFamily="34" charset="-122"/>
                <a:cs typeface="Consolas" pitchFamily="34" charset="-120"/>
              </a:rPr>
              <a:t>FINAL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02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01</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Problem &amp; Objective</a:t>
            </a:r>
            <a:endParaRPr lang="en-US" sz="36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828800"/>
            <a:ext cx="11094415" cy="1005840"/>
          </a:xfrm>
          <a:prstGeom prst="rect">
            <a:avLst/>
          </a:prstGeom>
          <a:solidFill>
            <a:srgbClr val="EDE6D7"/>
          </a:solidFill>
          <a:ln w="12700">
            <a:solidFill>
              <a:srgbClr val="EDE6D7"/>
            </a:solidFill>
            <a:prstDash val="solid"/>
          </a:ln>
        </p:spPr>
        <p:txBody>
          <a:bodyPr/>
          <a:lstStyle/>
          <a:p>
            <a:endParaRPr lang="en-US"/>
          </a:p>
        </p:txBody>
      </p:sp>
      <p:sp>
        <p:nvSpPr>
          <p:cNvPr id="7" name="Shape 5"/>
          <p:cNvSpPr/>
          <p:nvPr/>
        </p:nvSpPr>
        <p:spPr>
          <a:xfrm>
            <a:off x="548640" y="1828800"/>
            <a:ext cx="45720" cy="1005840"/>
          </a:xfrm>
          <a:prstGeom prst="rect">
            <a:avLst/>
          </a:prstGeom>
          <a:solidFill>
            <a:srgbClr val="8B3A1F"/>
          </a:solidFill>
          <a:ln w="12700">
            <a:solidFill>
              <a:srgbClr val="8B3A1F"/>
            </a:solidFill>
            <a:prstDash val="solid"/>
          </a:ln>
        </p:spPr>
        <p:txBody>
          <a:bodyPr/>
          <a:lstStyle/>
          <a:p>
            <a:endParaRPr lang="en-US"/>
          </a:p>
        </p:txBody>
      </p:sp>
      <p:sp>
        <p:nvSpPr>
          <p:cNvPr id="8" name="Text 6"/>
          <p:cNvSpPr/>
          <p:nvPr/>
        </p:nvSpPr>
        <p:spPr>
          <a:xfrm>
            <a:off x="822960" y="1828800"/>
            <a:ext cx="1645920" cy="1005840"/>
          </a:xfrm>
          <a:prstGeom prst="rect">
            <a:avLst/>
          </a:prstGeom>
          <a:noFill/>
          <a:ln/>
        </p:spPr>
        <p:txBody>
          <a:bodyPr wrap="square" lIns="0" tIns="0" rIns="0" bIns="0" rtlCol="0" anchor="ctr"/>
          <a:lstStyle/>
          <a:p>
            <a:pPr marL="0" indent="0">
              <a:buNone/>
            </a:pPr>
            <a:r>
              <a:rPr lang="en-US" sz="900" kern="0" spc="400" dirty="0">
                <a:solidFill>
                  <a:srgbClr val="8B3A1F"/>
                </a:solidFill>
                <a:latin typeface="Consolas" pitchFamily="34" charset="0"/>
                <a:ea typeface="Consolas" pitchFamily="34" charset="-122"/>
                <a:cs typeface="Consolas" pitchFamily="34" charset="-120"/>
              </a:rPr>
              <a:t>THE CHALLENGE</a:t>
            </a:r>
            <a:endParaRPr lang="en-US" sz="900" dirty="0"/>
          </a:p>
        </p:txBody>
      </p:sp>
      <p:sp>
        <p:nvSpPr>
          <p:cNvPr id="9" name="Text 7"/>
          <p:cNvSpPr/>
          <p:nvPr/>
        </p:nvSpPr>
        <p:spPr>
          <a:xfrm>
            <a:off x="2560320" y="1965960"/>
            <a:ext cx="8808415" cy="731520"/>
          </a:xfrm>
          <a:prstGeom prst="rect">
            <a:avLst/>
          </a:prstGeom>
          <a:noFill/>
          <a:ln/>
        </p:spPr>
        <p:txBody>
          <a:bodyPr wrap="square" lIns="0" tIns="0" rIns="0" bIns="0" rtlCol="0" anchor="ctr"/>
          <a:lstStyle/>
          <a:p>
            <a:pPr marL="0" indent="0">
              <a:buNone/>
            </a:pPr>
            <a:r>
              <a:rPr lang="en-US" sz="1400" dirty="0">
                <a:solidFill>
                  <a:srgbClr val="1A1915"/>
                </a:solidFill>
                <a:latin typeface="Georgia" pitchFamily="34" charset="0"/>
                <a:ea typeface="Georgia" pitchFamily="34" charset="-122"/>
                <a:cs typeface="Georgia" pitchFamily="34" charset="-120"/>
              </a:rPr>
              <a:t>Fake news spreads </a:t>
            </a:r>
            <a:r>
              <a:rPr lang="en-US" sz="1400" b="1" dirty="0">
                <a:solidFill>
                  <a:srgbClr val="1A1915"/>
                </a:solidFill>
                <a:latin typeface="Georgia" pitchFamily="34" charset="0"/>
                <a:ea typeface="Georgia" pitchFamily="34" charset="-122"/>
                <a:cs typeface="Georgia" pitchFamily="34" charset="-120"/>
              </a:rPr>
              <a:t>six times faster</a:t>
            </a:r>
            <a:r>
              <a:rPr lang="en-US" sz="1400" dirty="0">
                <a:solidFill>
                  <a:srgbClr val="1A1915"/>
                </a:solidFill>
                <a:latin typeface="Georgia" pitchFamily="34" charset="0"/>
                <a:ea typeface="Georgia" pitchFamily="34" charset="-122"/>
                <a:cs typeface="Georgia" pitchFamily="34" charset="-120"/>
              </a:rPr>
              <a:t> than real news. Manual fact-checking cannot scale to millions of articles per day, and single-model classifiers miss the nuance, context, and bias that often reveal fabrications.</a:t>
            </a:r>
            <a:endParaRPr lang="en-US" sz="1400" dirty="0"/>
          </a:p>
        </p:txBody>
      </p:sp>
      <p:sp>
        <p:nvSpPr>
          <p:cNvPr id="10" name="Text 8"/>
          <p:cNvSpPr/>
          <p:nvPr/>
        </p:nvSpPr>
        <p:spPr>
          <a:xfrm>
            <a:off x="548640" y="3108960"/>
            <a:ext cx="5364328"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OUR APPROACH</a:t>
            </a:r>
            <a:endParaRPr lang="en-US" sz="900" dirty="0"/>
          </a:p>
        </p:txBody>
      </p:sp>
      <p:sp>
        <p:nvSpPr>
          <p:cNvPr id="11" name="Shape 9"/>
          <p:cNvSpPr/>
          <p:nvPr/>
        </p:nvSpPr>
        <p:spPr>
          <a:xfrm>
            <a:off x="548640" y="3383280"/>
            <a:ext cx="5364328" cy="0"/>
          </a:xfrm>
          <a:prstGeom prst="line">
            <a:avLst/>
          </a:prstGeom>
          <a:noFill/>
          <a:ln w="6350">
            <a:solidFill>
              <a:srgbClr val="D8D3C7"/>
            </a:solidFill>
            <a:prstDash val="solid"/>
          </a:ln>
        </p:spPr>
        <p:txBody>
          <a:bodyPr/>
          <a:lstStyle/>
          <a:p>
            <a:endParaRPr lang="en-US"/>
          </a:p>
        </p:txBody>
      </p:sp>
      <p:sp>
        <p:nvSpPr>
          <p:cNvPr id="12" name="Text 10"/>
          <p:cNvSpPr/>
          <p:nvPr/>
        </p:nvSpPr>
        <p:spPr>
          <a:xfrm>
            <a:off x="548640" y="3520440"/>
            <a:ext cx="5364328" cy="2286000"/>
          </a:xfrm>
          <a:prstGeom prst="rect">
            <a:avLst/>
          </a:prstGeom>
          <a:noFill/>
          <a:ln/>
        </p:spPr>
        <p:txBody>
          <a:bodyPr wrap="square" lIns="0" tIns="0" rIns="0" bIns="0" rtlCol="0" anchor="t"/>
          <a:lstStyle/>
          <a:p>
            <a:pPr marL="0" indent="0">
              <a:spcAft>
                <a:spcPts val="800"/>
              </a:spcAft>
              <a:buNone/>
            </a:pPr>
            <a:r>
              <a:rPr lang="en-US" sz="1400" dirty="0">
                <a:solidFill>
                  <a:srgbClr val="1A1915"/>
                </a:solidFill>
                <a:latin typeface="Georgia" pitchFamily="34" charset="0"/>
                <a:ea typeface="Georgia" pitchFamily="34" charset="-122"/>
                <a:cs typeface="Georgia" pitchFamily="34" charset="-120"/>
              </a:rPr>
              <a:t>Four specialized CrewAI agents, each with a distinct role.</a:t>
            </a:r>
            <a:endParaRPr lang="en-US" sz="1400" dirty="0"/>
          </a:p>
          <a:p>
            <a:pPr marL="0" indent="0">
              <a:spcAft>
                <a:spcPts val="800"/>
              </a:spcAft>
              <a:buNone/>
            </a:pPr>
            <a:r>
              <a:rPr lang="en-US" sz="1400" dirty="0">
                <a:solidFill>
                  <a:srgbClr val="1A1915"/>
                </a:solidFill>
                <a:latin typeface="Georgia" pitchFamily="34" charset="0"/>
                <a:ea typeface="Georgia" pitchFamily="34" charset="-122"/>
                <a:cs typeface="Georgia" pitchFamily="34" charset="-120"/>
              </a:rPr>
              <a:t>Claim extraction, fact-checking, bias detection, and a final verdict.</a:t>
            </a:r>
            <a:endParaRPr lang="en-US" sz="1400" dirty="0"/>
          </a:p>
          <a:p>
            <a:pPr marL="0" indent="0">
              <a:spcAft>
                <a:spcPts val="800"/>
              </a:spcAft>
              <a:buNone/>
            </a:pPr>
            <a:r>
              <a:rPr lang="en-US" sz="1400" dirty="0">
                <a:solidFill>
                  <a:srgbClr val="1A1915"/>
                </a:solidFill>
                <a:latin typeface="Georgia" pitchFamily="34" charset="0"/>
                <a:ea typeface="Georgia" pitchFamily="34" charset="-122"/>
                <a:cs typeface="Georgia" pitchFamily="34" charset="-120"/>
              </a:rPr>
              <a:t>A RoBERTa classifier acts as a supporting signal for the Judge agent.</a:t>
            </a:r>
            <a:endParaRPr lang="en-US" sz="1400" dirty="0"/>
          </a:p>
          <a:p>
            <a:pPr marL="0" indent="0">
              <a:spcAft>
                <a:spcPts val="800"/>
              </a:spcAft>
              <a:buNone/>
            </a:pPr>
            <a:r>
              <a:rPr lang="en-US" sz="1400" dirty="0">
                <a:solidFill>
                  <a:srgbClr val="1A1915"/>
                </a:solidFill>
                <a:latin typeface="Georgia" pitchFamily="34" charset="0"/>
                <a:ea typeface="Georgia" pitchFamily="34" charset="-122"/>
                <a:cs typeface="Georgia" pitchFamily="34" charset="-120"/>
              </a:rPr>
              <a:t>Deterministic Python scoring removes LLM arithmetic from the loop.</a:t>
            </a:r>
            <a:endParaRPr lang="en-US" sz="1400" dirty="0"/>
          </a:p>
        </p:txBody>
      </p:sp>
      <p:sp>
        <p:nvSpPr>
          <p:cNvPr id="13" name="Text 11"/>
          <p:cNvSpPr/>
          <p:nvPr/>
        </p:nvSpPr>
        <p:spPr>
          <a:xfrm>
            <a:off x="6278728" y="3108960"/>
            <a:ext cx="5364328"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DATASET</a:t>
            </a:r>
            <a:endParaRPr lang="en-US" sz="900" dirty="0"/>
          </a:p>
        </p:txBody>
      </p:sp>
      <p:sp>
        <p:nvSpPr>
          <p:cNvPr id="14" name="Shape 12"/>
          <p:cNvSpPr/>
          <p:nvPr/>
        </p:nvSpPr>
        <p:spPr>
          <a:xfrm>
            <a:off x="6278728" y="3383280"/>
            <a:ext cx="5364328" cy="0"/>
          </a:xfrm>
          <a:prstGeom prst="line">
            <a:avLst/>
          </a:prstGeom>
          <a:noFill/>
          <a:ln w="6350">
            <a:solidFill>
              <a:srgbClr val="D8D3C7"/>
            </a:solidFill>
            <a:prstDash val="solid"/>
          </a:ln>
        </p:spPr>
        <p:txBody>
          <a:bodyPr/>
          <a:lstStyle/>
          <a:p>
            <a:endParaRPr lang="en-US"/>
          </a:p>
        </p:txBody>
      </p:sp>
      <p:sp>
        <p:nvSpPr>
          <p:cNvPr id="15" name="Text 13"/>
          <p:cNvSpPr/>
          <p:nvPr/>
        </p:nvSpPr>
        <p:spPr>
          <a:xfrm>
            <a:off x="6278728" y="3566160"/>
            <a:ext cx="1463040" cy="274320"/>
          </a:xfrm>
          <a:prstGeom prst="rect">
            <a:avLst/>
          </a:prstGeom>
          <a:noFill/>
          <a:ln/>
        </p:spPr>
        <p:txBody>
          <a:bodyPr wrap="square" lIns="0" tIns="0" rIns="0" bIns="0" rtlCol="0" anchor="ctr"/>
          <a:lstStyle/>
          <a:p>
            <a:pPr marL="0" indent="0">
              <a:buNone/>
            </a:pPr>
            <a:r>
              <a:rPr lang="en-US" sz="850" kern="0" spc="300" dirty="0">
                <a:solidFill>
                  <a:srgbClr val="4A4742"/>
                </a:solidFill>
                <a:latin typeface="Consolas" pitchFamily="34" charset="0"/>
                <a:ea typeface="Consolas" pitchFamily="34" charset="-122"/>
                <a:cs typeface="Consolas" pitchFamily="34" charset="-120"/>
              </a:rPr>
              <a:t>SOURCE</a:t>
            </a:r>
            <a:endParaRPr lang="en-US" sz="850" dirty="0"/>
          </a:p>
        </p:txBody>
      </p:sp>
      <p:sp>
        <p:nvSpPr>
          <p:cNvPr id="16" name="Text 14"/>
          <p:cNvSpPr/>
          <p:nvPr/>
        </p:nvSpPr>
        <p:spPr>
          <a:xfrm>
            <a:off x="7741768" y="3566160"/>
            <a:ext cx="3901288" cy="274320"/>
          </a:xfrm>
          <a:prstGeom prst="rect">
            <a:avLst/>
          </a:prstGeom>
          <a:noFill/>
          <a:ln/>
        </p:spPr>
        <p:txBody>
          <a:bodyPr wrap="square" lIns="0" tIns="0" rIns="0" bIns="0" rtlCol="0" anchor="ctr"/>
          <a:lstStyle/>
          <a:p>
            <a:pPr marL="0" indent="0">
              <a:buNone/>
            </a:pPr>
            <a:r>
              <a:rPr lang="en-US" sz="1300" dirty="0">
                <a:solidFill>
                  <a:srgbClr val="1A1915"/>
                </a:solidFill>
                <a:latin typeface="Georgia" pitchFamily="34" charset="0"/>
                <a:ea typeface="Georgia" pitchFamily="34" charset="-122"/>
                <a:cs typeface="Georgia" pitchFamily="34" charset="-120"/>
              </a:rPr>
              <a:t>WELFake</a:t>
            </a:r>
            <a:endParaRPr lang="en-US" sz="1300" dirty="0"/>
          </a:p>
        </p:txBody>
      </p:sp>
      <p:sp>
        <p:nvSpPr>
          <p:cNvPr id="17" name="Shape 15"/>
          <p:cNvSpPr/>
          <p:nvPr/>
        </p:nvSpPr>
        <p:spPr>
          <a:xfrm>
            <a:off x="6278728" y="3913632"/>
            <a:ext cx="5364328" cy="0"/>
          </a:xfrm>
          <a:prstGeom prst="line">
            <a:avLst/>
          </a:prstGeom>
          <a:noFill/>
          <a:ln w="6350">
            <a:solidFill>
              <a:srgbClr val="D8D3C7"/>
            </a:solidFill>
            <a:prstDash val="solid"/>
          </a:ln>
        </p:spPr>
        <p:txBody>
          <a:bodyPr/>
          <a:lstStyle/>
          <a:p>
            <a:endParaRPr lang="en-US"/>
          </a:p>
        </p:txBody>
      </p:sp>
      <p:sp>
        <p:nvSpPr>
          <p:cNvPr id="18" name="Text 16"/>
          <p:cNvSpPr/>
          <p:nvPr/>
        </p:nvSpPr>
        <p:spPr>
          <a:xfrm>
            <a:off x="6278728" y="3950208"/>
            <a:ext cx="1463040" cy="274320"/>
          </a:xfrm>
          <a:prstGeom prst="rect">
            <a:avLst/>
          </a:prstGeom>
          <a:noFill/>
          <a:ln/>
        </p:spPr>
        <p:txBody>
          <a:bodyPr wrap="square" lIns="0" tIns="0" rIns="0" bIns="0" rtlCol="0" anchor="ctr"/>
          <a:lstStyle/>
          <a:p>
            <a:pPr marL="0" indent="0">
              <a:buNone/>
            </a:pPr>
            <a:r>
              <a:rPr lang="en-US" sz="850" kern="0" spc="300" dirty="0">
                <a:solidFill>
                  <a:srgbClr val="4A4742"/>
                </a:solidFill>
                <a:latin typeface="Consolas" pitchFamily="34" charset="0"/>
                <a:ea typeface="Consolas" pitchFamily="34" charset="-122"/>
                <a:cs typeface="Consolas" pitchFamily="34" charset="-120"/>
              </a:rPr>
              <a:t>SIZE</a:t>
            </a:r>
            <a:endParaRPr lang="en-US" sz="850" dirty="0"/>
          </a:p>
        </p:txBody>
      </p:sp>
      <p:sp>
        <p:nvSpPr>
          <p:cNvPr id="19" name="Text 17"/>
          <p:cNvSpPr/>
          <p:nvPr/>
        </p:nvSpPr>
        <p:spPr>
          <a:xfrm>
            <a:off x="7741768" y="3950208"/>
            <a:ext cx="3901288" cy="274320"/>
          </a:xfrm>
          <a:prstGeom prst="rect">
            <a:avLst/>
          </a:prstGeom>
          <a:noFill/>
          <a:ln/>
        </p:spPr>
        <p:txBody>
          <a:bodyPr wrap="square" lIns="0" tIns="0" rIns="0" bIns="0" rtlCol="0" anchor="ctr"/>
          <a:lstStyle/>
          <a:p>
            <a:pPr marL="0" indent="0">
              <a:buNone/>
            </a:pPr>
            <a:r>
              <a:rPr lang="en-US" sz="1300" dirty="0">
                <a:solidFill>
                  <a:srgbClr val="1A1915"/>
                </a:solidFill>
                <a:latin typeface="Georgia" pitchFamily="34" charset="0"/>
                <a:ea typeface="Georgia" pitchFamily="34" charset="-122"/>
                <a:cs typeface="Georgia" pitchFamily="34" charset="-120"/>
              </a:rPr>
              <a:t>100 balanced articles</a:t>
            </a:r>
            <a:endParaRPr lang="en-US" sz="1300" dirty="0"/>
          </a:p>
        </p:txBody>
      </p:sp>
      <p:sp>
        <p:nvSpPr>
          <p:cNvPr id="20" name="Shape 18"/>
          <p:cNvSpPr/>
          <p:nvPr/>
        </p:nvSpPr>
        <p:spPr>
          <a:xfrm>
            <a:off x="6278728" y="4297680"/>
            <a:ext cx="5364328" cy="0"/>
          </a:xfrm>
          <a:prstGeom prst="line">
            <a:avLst/>
          </a:prstGeom>
          <a:noFill/>
          <a:ln w="6350">
            <a:solidFill>
              <a:srgbClr val="D8D3C7"/>
            </a:solidFill>
            <a:prstDash val="solid"/>
          </a:ln>
        </p:spPr>
        <p:txBody>
          <a:bodyPr/>
          <a:lstStyle/>
          <a:p>
            <a:endParaRPr lang="en-US"/>
          </a:p>
        </p:txBody>
      </p:sp>
      <p:sp>
        <p:nvSpPr>
          <p:cNvPr id="21" name="Text 19"/>
          <p:cNvSpPr/>
          <p:nvPr/>
        </p:nvSpPr>
        <p:spPr>
          <a:xfrm>
            <a:off x="6278728" y="4334256"/>
            <a:ext cx="1463040" cy="274320"/>
          </a:xfrm>
          <a:prstGeom prst="rect">
            <a:avLst/>
          </a:prstGeom>
          <a:noFill/>
          <a:ln/>
        </p:spPr>
        <p:txBody>
          <a:bodyPr wrap="square" lIns="0" tIns="0" rIns="0" bIns="0" rtlCol="0" anchor="ctr"/>
          <a:lstStyle/>
          <a:p>
            <a:pPr marL="0" indent="0">
              <a:buNone/>
            </a:pPr>
            <a:r>
              <a:rPr lang="en-US" sz="850" kern="0" spc="300" dirty="0">
                <a:solidFill>
                  <a:srgbClr val="4A4742"/>
                </a:solidFill>
                <a:latin typeface="Consolas" pitchFamily="34" charset="0"/>
                <a:ea typeface="Consolas" pitchFamily="34" charset="-122"/>
                <a:cs typeface="Consolas" pitchFamily="34" charset="-120"/>
              </a:rPr>
              <a:t>BALANCE</a:t>
            </a:r>
            <a:endParaRPr lang="en-US" sz="850" dirty="0"/>
          </a:p>
        </p:txBody>
      </p:sp>
      <p:sp>
        <p:nvSpPr>
          <p:cNvPr id="22" name="Text 20"/>
          <p:cNvSpPr/>
          <p:nvPr/>
        </p:nvSpPr>
        <p:spPr>
          <a:xfrm>
            <a:off x="7741768" y="4334256"/>
            <a:ext cx="3901288" cy="274320"/>
          </a:xfrm>
          <a:prstGeom prst="rect">
            <a:avLst/>
          </a:prstGeom>
          <a:noFill/>
          <a:ln/>
        </p:spPr>
        <p:txBody>
          <a:bodyPr wrap="square" lIns="0" tIns="0" rIns="0" bIns="0" rtlCol="0" anchor="ctr"/>
          <a:lstStyle/>
          <a:p>
            <a:pPr marL="0" indent="0">
              <a:buNone/>
            </a:pPr>
            <a:r>
              <a:rPr lang="en-US" sz="1300" dirty="0">
                <a:solidFill>
                  <a:srgbClr val="1A1915"/>
                </a:solidFill>
                <a:latin typeface="Georgia" pitchFamily="34" charset="0"/>
                <a:ea typeface="Georgia" pitchFamily="34" charset="-122"/>
                <a:cs typeface="Georgia" pitchFamily="34" charset="-120"/>
              </a:rPr>
              <a:t>50 REAL · 50 FAKE</a:t>
            </a:r>
            <a:endParaRPr lang="en-US" sz="1300" dirty="0"/>
          </a:p>
        </p:txBody>
      </p:sp>
      <p:sp>
        <p:nvSpPr>
          <p:cNvPr id="23" name="Shape 21"/>
          <p:cNvSpPr/>
          <p:nvPr/>
        </p:nvSpPr>
        <p:spPr>
          <a:xfrm>
            <a:off x="6278728" y="4681728"/>
            <a:ext cx="5364328" cy="0"/>
          </a:xfrm>
          <a:prstGeom prst="line">
            <a:avLst/>
          </a:prstGeom>
          <a:noFill/>
          <a:ln w="6350">
            <a:solidFill>
              <a:srgbClr val="D8D3C7"/>
            </a:solidFill>
            <a:prstDash val="solid"/>
          </a:ln>
        </p:spPr>
        <p:txBody>
          <a:bodyPr/>
          <a:lstStyle/>
          <a:p>
            <a:endParaRPr lang="en-US"/>
          </a:p>
        </p:txBody>
      </p:sp>
      <p:sp>
        <p:nvSpPr>
          <p:cNvPr id="24" name="Text 22"/>
          <p:cNvSpPr/>
          <p:nvPr/>
        </p:nvSpPr>
        <p:spPr>
          <a:xfrm>
            <a:off x="6278728" y="4718304"/>
            <a:ext cx="1463040" cy="274320"/>
          </a:xfrm>
          <a:prstGeom prst="rect">
            <a:avLst/>
          </a:prstGeom>
          <a:noFill/>
          <a:ln/>
        </p:spPr>
        <p:txBody>
          <a:bodyPr wrap="square" lIns="0" tIns="0" rIns="0" bIns="0" rtlCol="0" anchor="ctr"/>
          <a:lstStyle/>
          <a:p>
            <a:pPr marL="0" indent="0">
              <a:buNone/>
            </a:pPr>
            <a:r>
              <a:rPr lang="en-US" sz="850" kern="0" spc="300" dirty="0">
                <a:solidFill>
                  <a:srgbClr val="4A4742"/>
                </a:solidFill>
                <a:latin typeface="Consolas" pitchFamily="34" charset="0"/>
                <a:ea typeface="Consolas" pitchFamily="34" charset="-122"/>
                <a:cs typeface="Consolas" pitchFamily="34" charset="-120"/>
              </a:rPr>
              <a:t>COVERAGE</a:t>
            </a:r>
            <a:endParaRPr lang="en-US" sz="850" dirty="0"/>
          </a:p>
        </p:txBody>
      </p:sp>
      <p:sp>
        <p:nvSpPr>
          <p:cNvPr id="25" name="Text 23"/>
          <p:cNvSpPr/>
          <p:nvPr/>
        </p:nvSpPr>
        <p:spPr>
          <a:xfrm>
            <a:off x="7741768" y="4718304"/>
            <a:ext cx="3901288" cy="274320"/>
          </a:xfrm>
          <a:prstGeom prst="rect">
            <a:avLst/>
          </a:prstGeom>
          <a:noFill/>
          <a:ln/>
        </p:spPr>
        <p:txBody>
          <a:bodyPr wrap="square" lIns="0" tIns="0" rIns="0" bIns="0" rtlCol="0" anchor="ctr"/>
          <a:lstStyle/>
          <a:p>
            <a:pPr marL="0" indent="0">
              <a:buNone/>
            </a:pPr>
            <a:r>
              <a:rPr lang="en-US" sz="1300" dirty="0">
                <a:solidFill>
                  <a:srgbClr val="1A1915"/>
                </a:solidFill>
                <a:latin typeface="Georgia" pitchFamily="34" charset="0"/>
                <a:ea typeface="Georgia" pitchFamily="34" charset="-122"/>
                <a:cs typeface="Georgia" pitchFamily="34" charset="-120"/>
              </a:rPr>
              <a:t>US political news, 2015 to 2017</a:t>
            </a:r>
            <a:endParaRPr lang="en-US" sz="1300" dirty="0"/>
          </a:p>
        </p:txBody>
      </p:sp>
      <p:sp>
        <p:nvSpPr>
          <p:cNvPr id="26" name="Shape 24"/>
          <p:cNvSpPr/>
          <p:nvPr/>
        </p:nvSpPr>
        <p:spPr>
          <a:xfrm>
            <a:off x="6278728" y="5065776"/>
            <a:ext cx="5364328" cy="0"/>
          </a:xfrm>
          <a:prstGeom prst="line">
            <a:avLst/>
          </a:prstGeom>
          <a:noFill/>
          <a:ln w="6350">
            <a:solidFill>
              <a:srgbClr val="D8D3C7"/>
            </a:solidFill>
            <a:prstDash val="solid"/>
          </a:ln>
        </p:spPr>
        <p:txBody>
          <a:bodyPr/>
          <a:lstStyle/>
          <a:p>
            <a:endParaRPr lang="en-US"/>
          </a:p>
        </p:txBody>
      </p:sp>
      <p:sp>
        <p:nvSpPr>
          <p:cNvPr id="27" name="Text 25"/>
          <p:cNvSpPr/>
          <p:nvPr/>
        </p:nvSpPr>
        <p:spPr>
          <a:xfrm>
            <a:off x="6278728" y="5102352"/>
            <a:ext cx="1463040" cy="274320"/>
          </a:xfrm>
          <a:prstGeom prst="rect">
            <a:avLst/>
          </a:prstGeom>
          <a:noFill/>
          <a:ln/>
        </p:spPr>
        <p:txBody>
          <a:bodyPr wrap="square" lIns="0" tIns="0" rIns="0" bIns="0" rtlCol="0" anchor="ctr"/>
          <a:lstStyle/>
          <a:p>
            <a:pPr marL="0" indent="0">
              <a:buNone/>
            </a:pPr>
            <a:r>
              <a:rPr lang="en-US" sz="850" kern="0" spc="300" dirty="0">
                <a:solidFill>
                  <a:srgbClr val="4A4742"/>
                </a:solidFill>
                <a:latin typeface="Consolas" pitchFamily="34" charset="0"/>
                <a:ea typeface="Consolas" pitchFamily="34" charset="-122"/>
                <a:cs typeface="Consolas" pitchFamily="34" charset="-120"/>
              </a:rPr>
              <a:t>PURPOSE</a:t>
            </a:r>
            <a:endParaRPr lang="en-US" sz="850" dirty="0"/>
          </a:p>
        </p:txBody>
      </p:sp>
      <p:sp>
        <p:nvSpPr>
          <p:cNvPr id="28" name="Text 26"/>
          <p:cNvSpPr/>
          <p:nvPr/>
        </p:nvSpPr>
        <p:spPr>
          <a:xfrm>
            <a:off x="7741768" y="5102352"/>
            <a:ext cx="3901288" cy="274320"/>
          </a:xfrm>
          <a:prstGeom prst="rect">
            <a:avLst/>
          </a:prstGeom>
          <a:noFill/>
          <a:ln/>
        </p:spPr>
        <p:txBody>
          <a:bodyPr wrap="square" lIns="0" tIns="0" rIns="0" bIns="0" rtlCol="0" anchor="ctr"/>
          <a:lstStyle/>
          <a:p>
            <a:pPr marL="0" indent="0">
              <a:buNone/>
            </a:pPr>
            <a:r>
              <a:rPr lang="en-US" sz="1300" dirty="0">
                <a:solidFill>
                  <a:srgbClr val="1A1915"/>
                </a:solidFill>
                <a:latin typeface="Georgia" pitchFamily="34" charset="0"/>
                <a:ea typeface="Georgia" pitchFamily="34" charset="-122"/>
                <a:cs typeface="Georgia" pitchFamily="34" charset="-120"/>
              </a:rPr>
              <a:t>Evaluation only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03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02</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System </a:t>
            </a:r>
            <a:r>
              <a:rPr lang="en-US" sz="3600" i="1" dirty="0">
                <a:solidFill>
                  <a:srgbClr val="8B3A1F"/>
                </a:solidFill>
                <a:latin typeface="Georgia" pitchFamily="34" charset="0"/>
                <a:ea typeface="Georgia" pitchFamily="34" charset="-122"/>
                <a:cs typeface="Georgia" pitchFamily="34" charset="-120"/>
              </a:rPr>
              <a:t>Architecture</a:t>
            </a:r>
            <a:endParaRPr lang="en-US" sz="36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Text 4"/>
          <p:cNvSpPr/>
          <p:nvPr/>
        </p:nvSpPr>
        <p:spPr>
          <a:xfrm>
            <a:off x="548640" y="1645920"/>
            <a:ext cx="11094415" cy="365760"/>
          </a:xfrm>
          <a:prstGeom prst="rect">
            <a:avLst/>
          </a:prstGeom>
          <a:noFill/>
          <a:ln/>
        </p:spPr>
        <p:txBody>
          <a:bodyPr wrap="square" lIns="0" tIns="0" rIns="0" bIns="0" rtlCol="0" anchor="ctr"/>
          <a:lstStyle/>
          <a:p>
            <a:pPr marL="0" indent="0">
              <a:buNone/>
            </a:pPr>
            <a:r>
              <a:rPr lang="en-US" sz="1400" i="1" dirty="0">
                <a:solidFill>
                  <a:srgbClr val="4A4742"/>
                </a:solidFill>
                <a:latin typeface="Georgia" pitchFamily="34" charset="0"/>
                <a:ea typeface="Georgia" pitchFamily="34" charset="-122"/>
                <a:cs typeface="Georgia" pitchFamily="34" charset="-120"/>
              </a:rPr>
              <a:t>A sequential four-agent pipeline.</a:t>
            </a:r>
            <a:endParaRPr lang="en-US" sz="1400" dirty="0"/>
          </a:p>
        </p:txBody>
      </p:sp>
      <p:sp>
        <p:nvSpPr>
          <p:cNvPr id="7" name="Shape 5"/>
          <p:cNvSpPr/>
          <p:nvPr/>
        </p:nvSpPr>
        <p:spPr>
          <a:xfrm>
            <a:off x="548640" y="2468880"/>
            <a:ext cx="1962851" cy="1234440"/>
          </a:xfrm>
          <a:prstGeom prst="rect">
            <a:avLst/>
          </a:prstGeom>
          <a:solidFill>
            <a:srgbClr val="F3EFE5"/>
          </a:solidFill>
          <a:ln w="12700">
            <a:solidFill>
              <a:srgbClr val="F3EFE5"/>
            </a:solidFill>
            <a:prstDash val="solid"/>
          </a:ln>
        </p:spPr>
        <p:txBody>
          <a:bodyPr/>
          <a:lstStyle/>
          <a:p>
            <a:endParaRPr lang="en-US"/>
          </a:p>
        </p:txBody>
      </p:sp>
      <p:sp>
        <p:nvSpPr>
          <p:cNvPr id="8" name="Shape 6"/>
          <p:cNvSpPr/>
          <p:nvPr/>
        </p:nvSpPr>
        <p:spPr>
          <a:xfrm>
            <a:off x="548640" y="2468880"/>
            <a:ext cx="45720" cy="1234440"/>
          </a:xfrm>
          <a:prstGeom prst="rect">
            <a:avLst/>
          </a:prstGeom>
          <a:solidFill>
            <a:srgbClr val="C47B5F"/>
          </a:solidFill>
          <a:ln w="12700">
            <a:solidFill>
              <a:srgbClr val="C47B5F"/>
            </a:solidFill>
            <a:prstDash val="solid"/>
          </a:ln>
        </p:spPr>
        <p:txBody>
          <a:bodyPr/>
          <a:lstStyle/>
          <a:p>
            <a:endParaRPr lang="en-US"/>
          </a:p>
        </p:txBody>
      </p:sp>
      <p:sp>
        <p:nvSpPr>
          <p:cNvPr id="9" name="Text 7"/>
          <p:cNvSpPr/>
          <p:nvPr/>
        </p:nvSpPr>
        <p:spPr>
          <a:xfrm>
            <a:off x="658368" y="2560320"/>
            <a:ext cx="1743395" cy="228600"/>
          </a:xfrm>
          <a:prstGeom prst="rect">
            <a:avLst/>
          </a:prstGeom>
          <a:noFill/>
          <a:ln/>
        </p:spPr>
        <p:txBody>
          <a:bodyPr wrap="square" lIns="0" tIns="0" rIns="0" bIns="0" rtlCol="0" anchor="ctr"/>
          <a:lstStyle/>
          <a:p>
            <a:pPr marL="0" indent="0">
              <a:buNone/>
            </a:pPr>
            <a:r>
              <a:rPr lang="en-US" sz="850" kern="0" spc="300" dirty="0">
                <a:solidFill>
                  <a:srgbClr val="8B3A1F"/>
                </a:solidFill>
                <a:latin typeface="Consolas" pitchFamily="34" charset="0"/>
                <a:ea typeface="Consolas" pitchFamily="34" charset="-122"/>
                <a:cs typeface="Consolas" pitchFamily="34" charset="-120"/>
              </a:rPr>
              <a:t>INPUT</a:t>
            </a:r>
            <a:endParaRPr lang="en-US" sz="850" dirty="0"/>
          </a:p>
        </p:txBody>
      </p:sp>
      <p:sp>
        <p:nvSpPr>
          <p:cNvPr id="10" name="Text 8"/>
          <p:cNvSpPr/>
          <p:nvPr/>
        </p:nvSpPr>
        <p:spPr>
          <a:xfrm>
            <a:off x="658368" y="2816352"/>
            <a:ext cx="1743395" cy="502920"/>
          </a:xfrm>
          <a:prstGeom prst="rect">
            <a:avLst/>
          </a:prstGeom>
          <a:noFill/>
          <a:ln/>
        </p:spPr>
        <p:txBody>
          <a:bodyPr wrap="square" lIns="0" tIns="0" rIns="0" bIns="0" rtlCol="0" anchor="ctr"/>
          <a:lstStyle/>
          <a:p>
            <a:pPr marL="0" indent="0">
              <a:buNone/>
            </a:pPr>
            <a:r>
              <a:rPr lang="en-US" sz="1500" dirty="0">
                <a:solidFill>
                  <a:srgbClr val="1A1915"/>
                </a:solidFill>
                <a:latin typeface="Georgia" pitchFamily="34" charset="0"/>
                <a:ea typeface="Georgia" pitchFamily="34" charset="-122"/>
                <a:cs typeface="Georgia" pitchFamily="34" charset="-120"/>
              </a:rPr>
              <a:t>Article Text</a:t>
            </a:r>
            <a:endParaRPr lang="en-US" sz="1500" dirty="0"/>
          </a:p>
        </p:txBody>
      </p:sp>
      <p:sp>
        <p:nvSpPr>
          <p:cNvPr id="11" name="Text 9"/>
          <p:cNvSpPr/>
          <p:nvPr/>
        </p:nvSpPr>
        <p:spPr>
          <a:xfrm>
            <a:off x="658368" y="3337560"/>
            <a:ext cx="1743395" cy="274320"/>
          </a:xfrm>
          <a:prstGeom prst="rect">
            <a:avLst/>
          </a:prstGeom>
          <a:noFill/>
          <a:ln/>
        </p:spPr>
        <p:txBody>
          <a:bodyPr wrap="square" lIns="0" tIns="0" rIns="0" bIns="0" rtlCol="0" anchor="ctr"/>
          <a:lstStyle/>
          <a:p>
            <a:pPr marL="0" indent="0">
              <a:buNone/>
            </a:pPr>
            <a:r>
              <a:rPr lang="en-US" sz="800" dirty="0">
                <a:solidFill>
                  <a:srgbClr val="4A4742"/>
                </a:solidFill>
                <a:latin typeface="Consolas" pitchFamily="34" charset="0"/>
                <a:ea typeface="Consolas" pitchFamily="34" charset="-122"/>
                <a:cs typeface="Consolas" pitchFamily="34" charset="-120"/>
              </a:rPr>
              <a:t>from dataset</a:t>
            </a:r>
            <a:endParaRPr lang="en-US" sz="800" dirty="0"/>
          </a:p>
        </p:txBody>
      </p:sp>
      <p:sp>
        <p:nvSpPr>
          <p:cNvPr id="12" name="Text 10"/>
          <p:cNvSpPr/>
          <p:nvPr/>
        </p:nvSpPr>
        <p:spPr>
          <a:xfrm>
            <a:off x="2511491" y="2468880"/>
            <a:ext cx="320040" cy="1234440"/>
          </a:xfrm>
          <a:prstGeom prst="rect">
            <a:avLst/>
          </a:prstGeom>
          <a:noFill/>
          <a:ln/>
        </p:spPr>
        <p:txBody>
          <a:bodyPr wrap="square" lIns="0" tIns="0" rIns="0" bIns="0" rtlCol="0" anchor="ctr"/>
          <a:lstStyle/>
          <a:p>
            <a:pPr marL="0" indent="0" algn="ctr">
              <a:buNone/>
            </a:pPr>
            <a:r>
              <a:rPr lang="en-US" sz="2000" dirty="0">
                <a:solidFill>
                  <a:srgbClr val="8B3A1F"/>
                </a:solidFill>
                <a:latin typeface="Consolas" pitchFamily="34" charset="0"/>
                <a:ea typeface="Consolas" pitchFamily="34" charset="-122"/>
                <a:cs typeface="Consolas" pitchFamily="34" charset="-120"/>
              </a:rPr>
              <a:t>→</a:t>
            </a:r>
            <a:endParaRPr lang="en-US" sz="2000" dirty="0"/>
          </a:p>
        </p:txBody>
      </p:sp>
      <p:sp>
        <p:nvSpPr>
          <p:cNvPr id="13" name="Shape 11"/>
          <p:cNvSpPr/>
          <p:nvPr/>
        </p:nvSpPr>
        <p:spPr>
          <a:xfrm>
            <a:off x="2831531" y="2468880"/>
            <a:ext cx="1962851" cy="1234440"/>
          </a:xfrm>
          <a:prstGeom prst="rect">
            <a:avLst/>
          </a:prstGeom>
          <a:solidFill>
            <a:srgbClr val="F3EFE5"/>
          </a:solidFill>
          <a:ln w="12700">
            <a:solidFill>
              <a:srgbClr val="F3EFE5"/>
            </a:solidFill>
            <a:prstDash val="solid"/>
          </a:ln>
        </p:spPr>
        <p:txBody>
          <a:bodyPr/>
          <a:lstStyle/>
          <a:p>
            <a:endParaRPr lang="en-US"/>
          </a:p>
        </p:txBody>
      </p:sp>
      <p:sp>
        <p:nvSpPr>
          <p:cNvPr id="14" name="Shape 12"/>
          <p:cNvSpPr/>
          <p:nvPr/>
        </p:nvSpPr>
        <p:spPr>
          <a:xfrm>
            <a:off x="2831531" y="2468880"/>
            <a:ext cx="45720" cy="1234440"/>
          </a:xfrm>
          <a:prstGeom prst="rect">
            <a:avLst/>
          </a:prstGeom>
          <a:solidFill>
            <a:srgbClr val="C47B5F"/>
          </a:solidFill>
          <a:ln w="12700">
            <a:solidFill>
              <a:srgbClr val="C47B5F"/>
            </a:solidFill>
            <a:prstDash val="solid"/>
          </a:ln>
        </p:spPr>
        <p:txBody>
          <a:bodyPr/>
          <a:lstStyle/>
          <a:p>
            <a:endParaRPr lang="en-US"/>
          </a:p>
        </p:txBody>
      </p:sp>
      <p:sp>
        <p:nvSpPr>
          <p:cNvPr id="15" name="Text 13"/>
          <p:cNvSpPr/>
          <p:nvPr/>
        </p:nvSpPr>
        <p:spPr>
          <a:xfrm>
            <a:off x="2941259" y="2560320"/>
            <a:ext cx="1743395" cy="228600"/>
          </a:xfrm>
          <a:prstGeom prst="rect">
            <a:avLst/>
          </a:prstGeom>
          <a:noFill/>
          <a:ln/>
        </p:spPr>
        <p:txBody>
          <a:bodyPr wrap="square" lIns="0" tIns="0" rIns="0" bIns="0" rtlCol="0" anchor="ctr"/>
          <a:lstStyle/>
          <a:p>
            <a:pPr marL="0" indent="0">
              <a:buNone/>
            </a:pPr>
            <a:r>
              <a:rPr lang="en-US" sz="850" kern="0" spc="300" dirty="0">
                <a:solidFill>
                  <a:srgbClr val="8B3A1F"/>
                </a:solidFill>
                <a:latin typeface="Consolas" pitchFamily="34" charset="0"/>
                <a:ea typeface="Consolas" pitchFamily="34" charset="-122"/>
                <a:cs typeface="Consolas" pitchFamily="34" charset="-120"/>
              </a:rPr>
              <a:t>AGENT 1</a:t>
            </a:r>
            <a:endParaRPr lang="en-US" sz="850" dirty="0"/>
          </a:p>
        </p:txBody>
      </p:sp>
      <p:sp>
        <p:nvSpPr>
          <p:cNvPr id="16" name="Text 14"/>
          <p:cNvSpPr/>
          <p:nvPr/>
        </p:nvSpPr>
        <p:spPr>
          <a:xfrm>
            <a:off x="2941259" y="2816352"/>
            <a:ext cx="1743395" cy="502920"/>
          </a:xfrm>
          <a:prstGeom prst="rect">
            <a:avLst/>
          </a:prstGeom>
          <a:noFill/>
          <a:ln/>
        </p:spPr>
        <p:txBody>
          <a:bodyPr wrap="square" lIns="0" tIns="0" rIns="0" bIns="0" rtlCol="0" anchor="ctr"/>
          <a:lstStyle/>
          <a:p>
            <a:pPr marL="0" indent="0">
              <a:buNone/>
            </a:pPr>
            <a:r>
              <a:rPr lang="en-US" sz="1500" dirty="0">
                <a:solidFill>
                  <a:srgbClr val="1A1915"/>
                </a:solidFill>
                <a:latin typeface="Georgia" pitchFamily="34" charset="0"/>
                <a:ea typeface="Georgia" pitchFamily="34" charset="-122"/>
                <a:cs typeface="Georgia" pitchFamily="34" charset="-120"/>
              </a:rPr>
              <a:t>Claim Extractor</a:t>
            </a:r>
            <a:endParaRPr lang="en-US" sz="1500" dirty="0"/>
          </a:p>
        </p:txBody>
      </p:sp>
      <p:sp>
        <p:nvSpPr>
          <p:cNvPr id="17" name="Text 15"/>
          <p:cNvSpPr/>
          <p:nvPr/>
        </p:nvSpPr>
        <p:spPr>
          <a:xfrm>
            <a:off x="2941259" y="3337560"/>
            <a:ext cx="1743395" cy="274320"/>
          </a:xfrm>
          <a:prstGeom prst="rect">
            <a:avLst/>
          </a:prstGeom>
          <a:noFill/>
          <a:ln/>
        </p:spPr>
        <p:txBody>
          <a:bodyPr wrap="square" lIns="0" tIns="0" rIns="0" bIns="0" rtlCol="0" anchor="ctr"/>
          <a:lstStyle/>
          <a:p>
            <a:pPr marL="0" indent="0">
              <a:buNone/>
            </a:pPr>
            <a:r>
              <a:rPr lang="en-US" sz="800" dirty="0">
                <a:solidFill>
                  <a:srgbClr val="4A4742"/>
                </a:solidFill>
                <a:latin typeface="Consolas" pitchFamily="34" charset="0"/>
                <a:ea typeface="Consolas" pitchFamily="34" charset="-122"/>
                <a:cs typeface="Consolas" pitchFamily="34" charset="-120"/>
              </a:rPr>
              <a:t>3 to 5 factual claims</a:t>
            </a:r>
            <a:endParaRPr lang="en-US" sz="800" dirty="0"/>
          </a:p>
        </p:txBody>
      </p:sp>
      <p:sp>
        <p:nvSpPr>
          <p:cNvPr id="18" name="Text 16"/>
          <p:cNvSpPr/>
          <p:nvPr/>
        </p:nvSpPr>
        <p:spPr>
          <a:xfrm>
            <a:off x="4794382" y="2468880"/>
            <a:ext cx="320040" cy="1234440"/>
          </a:xfrm>
          <a:prstGeom prst="rect">
            <a:avLst/>
          </a:prstGeom>
          <a:noFill/>
          <a:ln/>
        </p:spPr>
        <p:txBody>
          <a:bodyPr wrap="square" lIns="0" tIns="0" rIns="0" bIns="0" rtlCol="0" anchor="ctr"/>
          <a:lstStyle/>
          <a:p>
            <a:pPr marL="0" indent="0" algn="ctr">
              <a:buNone/>
            </a:pPr>
            <a:r>
              <a:rPr lang="en-US" sz="2000" dirty="0">
                <a:solidFill>
                  <a:srgbClr val="8B3A1F"/>
                </a:solidFill>
                <a:latin typeface="Consolas" pitchFamily="34" charset="0"/>
                <a:ea typeface="Consolas" pitchFamily="34" charset="-122"/>
                <a:cs typeface="Consolas" pitchFamily="34" charset="-120"/>
              </a:rPr>
              <a:t>→</a:t>
            </a:r>
            <a:endParaRPr lang="en-US" sz="2000" dirty="0"/>
          </a:p>
        </p:txBody>
      </p:sp>
      <p:sp>
        <p:nvSpPr>
          <p:cNvPr id="19" name="Shape 17"/>
          <p:cNvSpPr/>
          <p:nvPr/>
        </p:nvSpPr>
        <p:spPr>
          <a:xfrm>
            <a:off x="5114422" y="2468880"/>
            <a:ext cx="1962851" cy="1234440"/>
          </a:xfrm>
          <a:prstGeom prst="rect">
            <a:avLst/>
          </a:prstGeom>
          <a:solidFill>
            <a:srgbClr val="F3EFE5"/>
          </a:solidFill>
          <a:ln w="12700">
            <a:solidFill>
              <a:srgbClr val="F3EFE5"/>
            </a:solidFill>
            <a:prstDash val="solid"/>
          </a:ln>
        </p:spPr>
        <p:txBody>
          <a:bodyPr/>
          <a:lstStyle/>
          <a:p>
            <a:endParaRPr lang="en-US"/>
          </a:p>
        </p:txBody>
      </p:sp>
      <p:sp>
        <p:nvSpPr>
          <p:cNvPr id="20" name="Shape 18"/>
          <p:cNvSpPr/>
          <p:nvPr/>
        </p:nvSpPr>
        <p:spPr>
          <a:xfrm>
            <a:off x="5114422" y="2468880"/>
            <a:ext cx="45720" cy="1234440"/>
          </a:xfrm>
          <a:prstGeom prst="rect">
            <a:avLst/>
          </a:prstGeom>
          <a:solidFill>
            <a:srgbClr val="C47B5F"/>
          </a:solidFill>
          <a:ln w="12700">
            <a:solidFill>
              <a:srgbClr val="C47B5F"/>
            </a:solidFill>
            <a:prstDash val="solid"/>
          </a:ln>
        </p:spPr>
        <p:txBody>
          <a:bodyPr/>
          <a:lstStyle/>
          <a:p>
            <a:endParaRPr lang="en-US"/>
          </a:p>
        </p:txBody>
      </p:sp>
      <p:sp>
        <p:nvSpPr>
          <p:cNvPr id="21" name="Text 19"/>
          <p:cNvSpPr/>
          <p:nvPr/>
        </p:nvSpPr>
        <p:spPr>
          <a:xfrm>
            <a:off x="5224150" y="2560320"/>
            <a:ext cx="1743395" cy="228600"/>
          </a:xfrm>
          <a:prstGeom prst="rect">
            <a:avLst/>
          </a:prstGeom>
          <a:noFill/>
          <a:ln/>
        </p:spPr>
        <p:txBody>
          <a:bodyPr wrap="square" lIns="0" tIns="0" rIns="0" bIns="0" rtlCol="0" anchor="ctr"/>
          <a:lstStyle/>
          <a:p>
            <a:pPr marL="0" indent="0">
              <a:buNone/>
            </a:pPr>
            <a:r>
              <a:rPr lang="en-US" sz="850" kern="0" spc="300" dirty="0">
                <a:solidFill>
                  <a:srgbClr val="8B3A1F"/>
                </a:solidFill>
                <a:latin typeface="Consolas" pitchFamily="34" charset="0"/>
                <a:ea typeface="Consolas" pitchFamily="34" charset="-122"/>
                <a:cs typeface="Consolas" pitchFamily="34" charset="-120"/>
              </a:rPr>
              <a:t>AGENT 2</a:t>
            </a:r>
            <a:endParaRPr lang="en-US" sz="850" dirty="0"/>
          </a:p>
        </p:txBody>
      </p:sp>
      <p:sp>
        <p:nvSpPr>
          <p:cNvPr id="22" name="Text 20"/>
          <p:cNvSpPr/>
          <p:nvPr/>
        </p:nvSpPr>
        <p:spPr>
          <a:xfrm>
            <a:off x="5224150" y="2816352"/>
            <a:ext cx="1743395" cy="502920"/>
          </a:xfrm>
          <a:prstGeom prst="rect">
            <a:avLst/>
          </a:prstGeom>
          <a:noFill/>
          <a:ln/>
        </p:spPr>
        <p:txBody>
          <a:bodyPr wrap="square" lIns="0" tIns="0" rIns="0" bIns="0" rtlCol="0" anchor="ctr"/>
          <a:lstStyle/>
          <a:p>
            <a:pPr marL="0" indent="0">
              <a:buNone/>
            </a:pPr>
            <a:r>
              <a:rPr lang="en-US" sz="1500" dirty="0">
                <a:solidFill>
                  <a:srgbClr val="1A1915"/>
                </a:solidFill>
                <a:latin typeface="Georgia" pitchFamily="34" charset="0"/>
                <a:ea typeface="Georgia" pitchFamily="34" charset="-122"/>
                <a:cs typeface="Georgia" pitchFamily="34" charset="-120"/>
              </a:rPr>
              <a:t>Fact Checker</a:t>
            </a:r>
            <a:endParaRPr lang="en-US" sz="1500" dirty="0"/>
          </a:p>
        </p:txBody>
      </p:sp>
      <p:sp>
        <p:nvSpPr>
          <p:cNvPr id="23" name="Text 21"/>
          <p:cNvSpPr/>
          <p:nvPr/>
        </p:nvSpPr>
        <p:spPr>
          <a:xfrm>
            <a:off x="5224150" y="3337560"/>
            <a:ext cx="1743395" cy="274320"/>
          </a:xfrm>
          <a:prstGeom prst="rect">
            <a:avLst/>
          </a:prstGeom>
          <a:noFill/>
          <a:ln/>
        </p:spPr>
        <p:txBody>
          <a:bodyPr wrap="square" lIns="0" tIns="0" rIns="0" bIns="0" rtlCol="0" anchor="ctr"/>
          <a:lstStyle/>
          <a:p>
            <a:pPr marL="0" indent="0">
              <a:buNone/>
            </a:pPr>
            <a:r>
              <a:rPr lang="en-US" sz="800" dirty="0">
                <a:solidFill>
                  <a:srgbClr val="4A4742"/>
                </a:solidFill>
                <a:latin typeface="Consolas" pitchFamily="34" charset="0"/>
                <a:ea typeface="Consolas" pitchFamily="34" charset="-122"/>
                <a:cs typeface="Consolas" pitchFamily="34" charset="-120"/>
              </a:rPr>
              <a:t>SUPPORTED / CONTRADICTED</a:t>
            </a:r>
            <a:endParaRPr lang="en-US" sz="800" dirty="0"/>
          </a:p>
        </p:txBody>
      </p:sp>
      <p:sp>
        <p:nvSpPr>
          <p:cNvPr id="24" name="Text 22"/>
          <p:cNvSpPr/>
          <p:nvPr/>
        </p:nvSpPr>
        <p:spPr>
          <a:xfrm>
            <a:off x="7077273" y="2468880"/>
            <a:ext cx="320040" cy="1234440"/>
          </a:xfrm>
          <a:prstGeom prst="rect">
            <a:avLst/>
          </a:prstGeom>
          <a:noFill/>
          <a:ln/>
        </p:spPr>
        <p:txBody>
          <a:bodyPr wrap="square" lIns="0" tIns="0" rIns="0" bIns="0" rtlCol="0" anchor="ctr"/>
          <a:lstStyle/>
          <a:p>
            <a:pPr marL="0" indent="0" algn="ctr">
              <a:buNone/>
            </a:pPr>
            <a:r>
              <a:rPr lang="en-US" sz="2000" dirty="0">
                <a:solidFill>
                  <a:srgbClr val="8B3A1F"/>
                </a:solidFill>
                <a:latin typeface="Consolas" pitchFamily="34" charset="0"/>
                <a:ea typeface="Consolas" pitchFamily="34" charset="-122"/>
                <a:cs typeface="Consolas" pitchFamily="34" charset="-120"/>
              </a:rPr>
              <a:t>→</a:t>
            </a:r>
            <a:endParaRPr lang="en-US" sz="2000" dirty="0"/>
          </a:p>
        </p:txBody>
      </p:sp>
      <p:sp>
        <p:nvSpPr>
          <p:cNvPr id="25" name="Shape 23"/>
          <p:cNvSpPr/>
          <p:nvPr/>
        </p:nvSpPr>
        <p:spPr>
          <a:xfrm>
            <a:off x="7397313" y="2468880"/>
            <a:ext cx="1962851" cy="1234440"/>
          </a:xfrm>
          <a:prstGeom prst="rect">
            <a:avLst/>
          </a:prstGeom>
          <a:solidFill>
            <a:srgbClr val="F3EFE5"/>
          </a:solidFill>
          <a:ln w="12700">
            <a:solidFill>
              <a:srgbClr val="F3EFE5"/>
            </a:solidFill>
            <a:prstDash val="solid"/>
          </a:ln>
        </p:spPr>
        <p:txBody>
          <a:bodyPr/>
          <a:lstStyle/>
          <a:p>
            <a:endParaRPr lang="en-US"/>
          </a:p>
        </p:txBody>
      </p:sp>
      <p:sp>
        <p:nvSpPr>
          <p:cNvPr id="26" name="Shape 24"/>
          <p:cNvSpPr/>
          <p:nvPr/>
        </p:nvSpPr>
        <p:spPr>
          <a:xfrm>
            <a:off x="7397313" y="2468880"/>
            <a:ext cx="45720" cy="1234440"/>
          </a:xfrm>
          <a:prstGeom prst="rect">
            <a:avLst/>
          </a:prstGeom>
          <a:solidFill>
            <a:srgbClr val="C47B5F"/>
          </a:solidFill>
          <a:ln w="12700">
            <a:solidFill>
              <a:srgbClr val="C47B5F"/>
            </a:solidFill>
            <a:prstDash val="solid"/>
          </a:ln>
        </p:spPr>
        <p:txBody>
          <a:bodyPr/>
          <a:lstStyle/>
          <a:p>
            <a:endParaRPr lang="en-US"/>
          </a:p>
        </p:txBody>
      </p:sp>
      <p:sp>
        <p:nvSpPr>
          <p:cNvPr id="27" name="Text 25"/>
          <p:cNvSpPr/>
          <p:nvPr/>
        </p:nvSpPr>
        <p:spPr>
          <a:xfrm>
            <a:off x="7507041" y="2560320"/>
            <a:ext cx="1743395" cy="228600"/>
          </a:xfrm>
          <a:prstGeom prst="rect">
            <a:avLst/>
          </a:prstGeom>
          <a:noFill/>
          <a:ln/>
        </p:spPr>
        <p:txBody>
          <a:bodyPr wrap="square" lIns="0" tIns="0" rIns="0" bIns="0" rtlCol="0" anchor="ctr"/>
          <a:lstStyle/>
          <a:p>
            <a:pPr marL="0" indent="0">
              <a:buNone/>
            </a:pPr>
            <a:r>
              <a:rPr lang="en-US" sz="850" kern="0" spc="300" dirty="0">
                <a:solidFill>
                  <a:srgbClr val="8B3A1F"/>
                </a:solidFill>
                <a:latin typeface="Consolas" pitchFamily="34" charset="0"/>
                <a:ea typeface="Consolas" pitchFamily="34" charset="-122"/>
                <a:cs typeface="Consolas" pitchFamily="34" charset="-120"/>
              </a:rPr>
              <a:t>AGENT 3</a:t>
            </a:r>
            <a:endParaRPr lang="en-US" sz="850" dirty="0"/>
          </a:p>
        </p:txBody>
      </p:sp>
      <p:sp>
        <p:nvSpPr>
          <p:cNvPr id="28" name="Text 26"/>
          <p:cNvSpPr/>
          <p:nvPr/>
        </p:nvSpPr>
        <p:spPr>
          <a:xfrm>
            <a:off x="7507041" y="2816352"/>
            <a:ext cx="1743395" cy="502920"/>
          </a:xfrm>
          <a:prstGeom prst="rect">
            <a:avLst/>
          </a:prstGeom>
          <a:noFill/>
          <a:ln/>
        </p:spPr>
        <p:txBody>
          <a:bodyPr wrap="square" lIns="0" tIns="0" rIns="0" bIns="0" rtlCol="0" anchor="ctr"/>
          <a:lstStyle/>
          <a:p>
            <a:pPr marL="0" indent="0">
              <a:buNone/>
            </a:pPr>
            <a:r>
              <a:rPr lang="en-US" sz="1500" dirty="0">
                <a:solidFill>
                  <a:srgbClr val="1A1915"/>
                </a:solidFill>
                <a:latin typeface="Georgia" pitchFamily="34" charset="0"/>
                <a:ea typeface="Georgia" pitchFamily="34" charset="-122"/>
                <a:cs typeface="Georgia" pitchFamily="34" charset="-120"/>
              </a:rPr>
              <a:t>Bias Detector</a:t>
            </a:r>
            <a:endParaRPr lang="en-US" sz="1500" dirty="0"/>
          </a:p>
        </p:txBody>
      </p:sp>
      <p:sp>
        <p:nvSpPr>
          <p:cNvPr id="29" name="Text 27"/>
          <p:cNvSpPr/>
          <p:nvPr/>
        </p:nvSpPr>
        <p:spPr>
          <a:xfrm>
            <a:off x="7507041" y="3337560"/>
            <a:ext cx="1743395" cy="274320"/>
          </a:xfrm>
          <a:prstGeom prst="rect">
            <a:avLst/>
          </a:prstGeom>
          <a:noFill/>
          <a:ln/>
        </p:spPr>
        <p:txBody>
          <a:bodyPr wrap="square" lIns="0" tIns="0" rIns="0" bIns="0" rtlCol="0" anchor="ctr"/>
          <a:lstStyle/>
          <a:p>
            <a:pPr marL="0" indent="0">
              <a:buNone/>
            </a:pPr>
            <a:r>
              <a:rPr lang="en-US" sz="800" dirty="0">
                <a:solidFill>
                  <a:srgbClr val="4A4742"/>
                </a:solidFill>
                <a:latin typeface="Consolas" pitchFamily="34" charset="0"/>
                <a:ea typeface="Consolas" pitchFamily="34" charset="-122"/>
                <a:cs typeface="Consolas" pitchFamily="34" charset="-120"/>
              </a:rPr>
              <a:t>bias_score + tone flags</a:t>
            </a:r>
            <a:endParaRPr lang="en-US" sz="800" dirty="0"/>
          </a:p>
        </p:txBody>
      </p:sp>
      <p:sp>
        <p:nvSpPr>
          <p:cNvPr id="30" name="Text 28"/>
          <p:cNvSpPr/>
          <p:nvPr/>
        </p:nvSpPr>
        <p:spPr>
          <a:xfrm>
            <a:off x="9360164" y="2468880"/>
            <a:ext cx="320040" cy="1234440"/>
          </a:xfrm>
          <a:prstGeom prst="rect">
            <a:avLst/>
          </a:prstGeom>
          <a:noFill/>
          <a:ln/>
        </p:spPr>
        <p:txBody>
          <a:bodyPr wrap="square" lIns="0" tIns="0" rIns="0" bIns="0" rtlCol="0" anchor="ctr"/>
          <a:lstStyle/>
          <a:p>
            <a:pPr marL="0" indent="0" algn="ctr">
              <a:buNone/>
            </a:pPr>
            <a:r>
              <a:rPr lang="en-US" sz="2000" dirty="0">
                <a:solidFill>
                  <a:srgbClr val="8B3A1F"/>
                </a:solidFill>
                <a:latin typeface="Consolas" pitchFamily="34" charset="0"/>
                <a:ea typeface="Consolas" pitchFamily="34" charset="-122"/>
                <a:cs typeface="Consolas" pitchFamily="34" charset="-120"/>
              </a:rPr>
              <a:t>→</a:t>
            </a:r>
            <a:endParaRPr lang="en-US" sz="2000" dirty="0"/>
          </a:p>
        </p:txBody>
      </p:sp>
      <p:sp>
        <p:nvSpPr>
          <p:cNvPr id="31" name="Shape 29"/>
          <p:cNvSpPr/>
          <p:nvPr/>
        </p:nvSpPr>
        <p:spPr>
          <a:xfrm>
            <a:off x="9680204" y="2468880"/>
            <a:ext cx="1962851" cy="1234440"/>
          </a:xfrm>
          <a:prstGeom prst="rect">
            <a:avLst/>
          </a:prstGeom>
          <a:solidFill>
            <a:srgbClr val="EDE6D7"/>
          </a:solidFill>
          <a:ln w="12700">
            <a:solidFill>
              <a:srgbClr val="EDE6D7"/>
            </a:solidFill>
            <a:prstDash val="solid"/>
          </a:ln>
        </p:spPr>
        <p:txBody>
          <a:bodyPr/>
          <a:lstStyle/>
          <a:p>
            <a:endParaRPr lang="en-US"/>
          </a:p>
        </p:txBody>
      </p:sp>
      <p:sp>
        <p:nvSpPr>
          <p:cNvPr id="32" name="Shape 30"/>
          <p:cNvSpPr/>
          <p:nvPr/>
        </p:nvSpPr>
        <p:spPr>
          <a:xfrm>
            <a:off x="9680204" y="2468880"/>
            <a:ext cx="45720" cy="1234440"/>
          </a:xfrm>
          <a:prstGeom prst="rect">
            <a:avLst/>
          </a:prstGeom>
          <a:solidFill>
            <a:srgbClr val="8B3A1F"/>
          </a:solidFill>
          <a:ln w="12700">
            <a:solidFill>
              <a:srgbClr val="8B3A1F"/>
            </a:solidFill>
            <a:prstDash val="solid"/>
          </a:ln>
        </p:spPr>
        <p:txBody>
          <a:bodyPr/>
          <a:lstStyle/>
          <a:p>
            <a:endParaRPr lang="en-US"/>
          </a:p>
        </p:txBody>
      </p:sp>
      <p:sp>
        <p:nvSpPr>
          <p:cNvPr id="33" name="Text 31"/>
          <p:cNvSpPr/>
          <p:nvPr/>
        </p:nvSpPr>
        <p:spPr>
          <a:xfrm>
            <a:off x="9789932" y="2560320"/>
            <a:ext cx="1743395" cy="228600"/>
          </a:xfrm>
          <a:prstGeom prst="rect">
            <a:avLst/>
          </a:prstGeom>
          <a:noFill/>
          <a:ln/>
        </p:spPr>
        <p:txBody>
          <a:bodyPr wrap="square" lIns="0" tIns="0" rIns="0" bIns="0" rtlCol="0" anchor="ctr"/>
          <a:lstStyle/>
          <a:p>
            <a:pPr marL="0" indent="0">
              <a:buNone/>
            </a:pPr>
            <a:r>
              <a:rPr lang="en-US" sz="850" kern="0" spc="300" dirty="0">
                <a:solidFill>
                  <a:srgbClr val="8B3A1F"/>
                </a:solidFill>
                <a:latin typeface="Consolas" pitchFamily="34" charset="0"/>
                <a:ea typeface="Consolas" pitchFamily="34" charset="-122"/>
                <a:cs typeface="Consolas" pitchFamily="34" charset="-120"/>
              </a:rPr>
              <a:t>AGENT 4</a:t>
            </a:r>
            <a:endParaRPr lang="en-US" sz="850" dirty="0"/>
          </a:p>
        </p:txBody>
      </p:sp>
      <p:sp>
        <p:nvSpPr>
          <p:cNvPr id="34" name="Text 32"/>
          <p:cNvSpPr/>
          <p:nvPr/>
        </p:nvSpPr>
        <p:spPr>
          <a:xfrm>
            <a:off x="9789932" y="2816352"/>
            <a:ext cx="1743395" cy="502920"/>
          </a:xfrm>
          <a:prstGeom prst="rect">
            <a:avLst/>
          </a:prstGeom>
          <a:noFill/>
          <a:ln/>
        </p:spPr>
        <p:txBody>
          <a:bodyPr wrap="square" lIns="0" tIns="0" rIns="0" bIns="0" rtlCol="0" anchor="ctr"/>
          <a:lstStyle/>
          <a:p>
            <a:pPr marL="0" indent="0">
              <a:buNone/>
            </a:pPr>
            <a:r>
              <a:rPr lang="en-US" sz="1500" i="1" dirty="0">
                <a:solidFill>
                  <a:srgbClr val="1A1915"/>
                </a:solidFill>
                <a:latin typeface="Georgia" pitchFamily="34" charset="0"/>
                <a:ea typeface="Georgia" pitchFamily="34" charset="-122"/>
                <a:cs typeface="Georgia" pitchFamily="34" charset="-120"/>
              </a:rPr>
              <a:t>Judge</a:t>
            </a:r>
            <a:endParaRPr lang="en-US" sz="1500" dirty="0"/>
          </a:p>
        </p:txBody>
      </p:sp>
      <p:sp>
        <p:nvSpPr>
          <p:cNvPr id="35" name="Text 33"/>
          <p:cNvSpPr/>
          <p:nvPr/>
        </p:nvSpPr>
        <p:spPr>
          <a:xfrm>
            <a:off x="9789932" y="3337560"/>
            <a:ext cx="1743395" cy="274320"/>
          </a:xfrm>
          <a:prstGeom prst="rect">
            <a:avLst/>
          </a:prstGeom>
          <a:noFill/>
          <a:ln/>
        </p:spPr>
        <p:txBody>
          <a:bodyPr wrap="square" lIns="0" tIns="0" rIns="0" bIns="0" rtlCol="0" anchor="ctr"/>
          <a:lstStyle/>
          <a:p>
            <a:pPr marL="0" indent="0">
              <a:buNone/>
            </a:pPr>
            <a:r>
              <a:rPr lang="en-US" sz="800" dirty="0">
                <a:solidFill>
                  <a:srgbClr val="4A4742"/>
                </a:solidFill>
                <a:latin typeface="Consolas" pitchFamily="34" charset="0"/>
                <a:ea typeface="Consolas" pitchFamily="34" charset="-122"/>
                <a:cs typeface="Consolas" pitchFamily="34" charset="-120"/>
              </a:rPr>
              <a:t>REAL / FAKE + confidence</a:t>
            </a:r>
            <a:endParaRPr lang="en-US" sz="800" dirty="0"/>
          </a:p>
        </p:txBody>
      </p:sp>
      <p:sp>
        <p:nvSpPr>
          <p:cNvPr id="36" name="Shape 34"/>
          <p:cNvSpPr/>
          <p:nvPr/>
        </p:nvSpPr>
        <p:spPr>
          <a:xfrm>
            <a:off x="548640" y="4069080"/>
            <a:ext cx="11094415" cy="1051560"/>
          </a:xfrm>
          <a:prstGeom prst="rect">
            <a:avLst/>
          </a:prstGeom>
          <a:solidFill>
            <a:srgbClr val="FAF8F3"/>
          </a:solidFill>
          <a:ln w="12700">
            <a:solidFill>
              <a:srgbClr val="D8D3C7"/>
            </a:solidFill>
            <a:prstDash val="dash"/>
          </a:ln>
        </p:spPr>
        <p:txBody>
          <a:bodyPr/>
          <a:lstStyle/>
          <a:p>
            <a:endParaRPr lang="en-US"/>
          </a:p>
        </p:txBody>
      </p:sp>
      <p:sp>
        <p:nvSpPr>
          <p:cNvPr id="37" name="Text 35"/>
          <p:cNvSpPr/>
          <p:nvPr/>
        </p:nvSpPr>
        <p:spPr>
          <a:xfrm>
            <a:off x="777240" y="4178808"/>
            <a:ext cx="2286000" cy="228600"/>
          </a:xfrm>
          <a:prstGeom prst="rect">
            <a:avLst/>
          </a:prstGeom>
          <a:noFill/>
          <a:ln/>
        </p:spPr>
        <p:txBody>
          <a:bodyPr wrap="square" lIns="0" tIns="0" rIns="0" bIns="0" rtlCol="0" anchor="ctr"/>
          <a:lstStyle/>
          <a:p>
            <a:pPr marL="0" indent="0">
              <a:buNone/>
            </a:pPr>
            <a:r>
              <a:rPr lang="en-US" sz="850" kern="0" spc="400" dirty="0">
                <a:solidFill>
                  <a:srgbClr val="8B3A1F"/>
                </a:solidFill>
                <a:latin typeface="Consolas" pitchFamily="34" charset="0"/>
                <a:ea typeface="Consolas" pitchFamily="34" charset="-122"/>
                <a:cs typeface="Consolas" pitchFamily="34" charset="-120"/>
              </a:rPr>
              <a:t>VERDICT FORMULA</a:t>
            </a:r>
            <a:endParaRPr lang="en-US" sz="850" dirty="0"/>
          </a:p>
        </p:txBody>
      </p:sp>
      <p:sp>
        <p:nvSpPr>
          <p:cNvPr id="38" name="Text 36"/>
          <p:cNvSpPr/>
          <p:nvPr/>
        </p:nvSpPr>
        <p:spPr>
          <a:xfrm>
            <a:off x="777240" y="4480560"/>
            <a:ext cx="10637215" cy="502920"/>
          </a:xfrm>
          <a:prstGeom prst="rect">
            <a:avLst/>
          </a:prstGeom>
          <a:noFill/>
          <a:ln/>
        </p:spPr>
        <p:txBody>
          <a:bodyPr wrap="square" lIns="0" tIns="0" rIns="0" bIns="0" rtlCol="0" anchor="t"/>
          <a:lstStyle/>
          <a:p>
            <a:pPr marL="0" indent="0">
              <a:buNone/>
            </a:pPr>
            <a:r>
              <a:rPr lang="en-US" sz="1600" dirty="0">
                <a:solidFill>
                  <a:srgbClr val="4A4742"/>
                </a:solidFill>
                <a:latin typeface="Consolas" pitchFamily="34" charset="0"/>
                <a:ea typeface="Consolas" pitchFamily="34" charset="-122"/>
                <a:cs typeface="Consolas" pitchFamily="34" charset="-120"/>
              </a:rPr>
              <a:t>combined = </a:t>
            </a:r>
            <a:r>
              <a:rPr lang="en-US" sz="1600" b="1" dirty="0">
                <a:solidFill>
                  <a:srgbClr val="1A1915"/>
                </a:solidFill>
                <a:latin typeface="Consolas" pitchFamily="34" charset="0"/>
                <a:ea typeface="Consolas" pitchFamily="34" charset="-122"/>
                <a:cs typeface="Consolas" pitchFamily="34" charset="-120"/>
              </a:rPr>
              <a:t>fact_signal × 0.60</a:t>
            </a:r>
            <a:r>
              <a:rPr lang="en-US" sz="1600" dirty="0">
                <a:solidFill>
                  <a:srgbClr val="4A4742"/>
                </a:solidFill>
                <a:latin typeface="Consolas" pitchFamily="34" charset="0"/>
                <a:ea typeface="Consolas" pitchFamily="34" charset="-122"/>
                <a:cs typeface="Consolas" pitchFamily="34" charset="-120"/>
              </a:rPr>
              <a:t>  +  </a:t>
            </a:r>
            <a:r>
              <a:rPr lang="en-US" sz="1600" b="1" dirty="0">
                <a:solidFill>
                  <a:srgbClr val="1A1915"/>
                </a:solidFill>
                <a:latin typeface="Consolas" pitchFamily="34" charset="0"/>
                <a:ea typeface="Consolas" pitchFamily="34" charset="-122"/>
                <a:cs typeface="Consolas" pitchFamily="34" charset="-120"/>
              </a:rPr>
              <a:t>bias_signal × 0.35</a:t>
            </a:r>
            <a:r>
              <a:rPr lang="en-US" sz="1600" dirty="0">
                <a:solidFill>
                  <a:srgbClr val="4A4742"/>
                </a:solidFill>
                <a:latin typeface="Consolas" pitchFamily="34" charset="0"/>
                <a:ea typeface="Consolas" pitchFamily="34" charset="-122"/>
                <a:cs typeface="Consolas" pitchFamily="34" charset="-120"/>
              </a:rPr>
              <a:t>  +  </a:t>
            </a:r>
            <a:r>
              <a:rPr lang="en-US" sz="1600" b="1" dirty="0">
                <a:solidFill>
                  <a:srgbClr val="1A1915"/>
                </a:solidFill>
                <a:latin typeface="Consolas" pitchFamily="34" charset="0"/>
                <a:ea typeface="Consolas" pitchFamily="34" charset="-122"/>
                <a:cs typeface="Consolas" pitchFamily="34" charset="-120"/>
              </a:rPr>
              <a:t>roberta_signal × 0.05</a:t>
            </a:r>
            <a:endParaRPr lang="en-US" sz="1600" dirty="0"/>
          </a:p>
        </p:txBody>
      </p:sp>
      <p:sp>
        <p:nvSpPr>
          <p:cNvPr id="39" name="Text 37"/>
          <p:cNvSpPr/>
          <p:nvPr/>
        </p:nvSpPr>
        <p:spPr>
          <a:xfrm>
            <a:off x="548640" y="5349240"/>
            <a:ext cx="11094415" cy="822960"/>
          </a:xfrm>
          <a:prstGeom prst="rect">
            <a:avLst/>
          </a:prstGeom>
          <a:noFill/>
          <a:ln/>
        </p:spPr>
        <p:txBody>
          <a:bodyPr wrap="square" lIns="0" tIns="0" rIns="0" bIns="0" rtlCol="0" anchor="t"/>
          <a:lstStyle/>
          <a:p>
            <a:pPr marL="0" indent="0">
              <a:buNone/>
            </a:pPr>
            <a:r>
              <a:rPr lang="en-US" sz="1200" b="1" i="1" dirty="0">
                <a:solidFill>
                  <a:srgbClr val="8B3A1F"/>
                </a:solidFill>
                <a:latin typeface="Georgia" pitchFamily="34" charset="0"/>
                <a:ea typeface="Georgia" pitchFamily="34" charset="-122"/>
                <a:cs typeface="Georgia" pitchFamily="34" charset="-120"/>
              </a:rPr>
              <a:t>Why sequential rather than parallel.  </a:t>
            </a:r>
            <a:r>
              <a:rPr lang="en-US" sz="1200" i="1" dirty="0">
                <a:solidFill>
                  <a:srgbClr val="4A4742"/>
                </a:solidFill>
                <a:latin typeface="Georgia" pitchFamily="34" charset="0"/>
                <a:ea typeface="Georgia" pitchFamily="34" charset="-122"/>
                <a:cs typeface="Georgia" pitchFamily="34" charset="-120"/>
              </a:rPr>
              <a:t>The bias detector is fast and has no tools, so running it in parallel with the fact-checker saves little wall-clock time. Concurrent logs would have made the tool-use and output_pydantic issues substantially harder to debug.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04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03</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Tech Stack </a:t>
            </a:r>
            <a:r>
              <a:rPr lang="en-US" sz="3600" i="1" dirty="0">
                <a:solidFill>
                  <a:srgbClr val="8B3A1F"/>
                </a:solidFill>
                <a:latin typeface="Georgia" pitchFamily="34" charset="0"/>
                <a:ea typeface="Georgia" pitchFamily="34" charset="-122"/>
                <a:cs typeface="Georgia" pitchFamily="34" charset="-120"/>
              </a:rPr>
              <a:t>&amp; Tools</a:t>
            </a:r>
            <a:endParaRPr lang="en-US" sz="36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920240"/>
            <a:ext cx="3515258" cy="2011680"/>
          </a:xfrm>
          <a:prstGeom prst="rect">
            <a:avLst/>
          </a:prstGeom>
          <a:solidFill>
            <a:srgbClr val="F3EFE5"/>
          </a:solidFill>
          <a:ln w="12700">
            <a:solidFill>
              <a:srgbClr val="F3EFE5"/>
            </a:solidFill>
            <a:prstDash val="solid"/>
          </a:ln>
        </p:spPr>
        <p:txBody>
          <a:bodyPr/>
          <a:lstStyle/>
          <a:p>
            <a:endParaRPr lang="en-US"/>
          </a:p>
        </p:txBody>
      </p:sp>
      <p:sp>
        <p:nvSpPr>
          <p:cNvPr id="7" name="Shape 5"/>
          <p:cNvSpPr/>
          <p:nvPr/>
        </p:nvSpPr>
        <p:spPr>
          <a:xfrm>
            <a:off x="548640" y="1920240"/>
            <a:ext cx="45720" cy="2011680"/>
          </a:xfrm>
          <a:prstGeom prst="rect">
            <a:avLst/>
          </a:prstGeom>
          <a:solidFill>
            <a:srgbClr val="C47B5F"/>
          </a:solidFill>
          <a:ln w="12700">
            <a:solidFill>
              <a:srgbClr val="C47B5F"/>
            </a:solidFill>
            <a:prstDash val="solid"/>
          </a:ln>
        </p:spPr>
        <p:txBody>
          <a:bodyPr/>
          <a:lstStyle/>
          <a:p>
            <a:endParaRPr lang="en-US"/>
          </a:p>
        </p:txBody>
      </p:sp>
      <p:sp>
        <p:nvSpPr>
          <p:cNvPr id="8" name="Text 6"/>
          <p:cNvSpPr/>
          <p:nvPr/>
        </p:nvSpPr>
        <p:spPr>
          <a:xfrm>
            <a:off x="731520" y="2057400"/>
            <a:ext cx="3149498" cy="274320"/>
          </a:xfrm>
          <a:prstGeom prst="rect">
            <a:avLst/>
          </a:prstGeom>
          <a:noFill/>
          <a:ln/>
        </p:spPr>
        <p:txBody>
          <a:bodyPr wrap="square" lIns="0" tIns="0" rIns="0" bIns="0" rtlCol="0" anchor="ctr"/>
          <a:lstStyle/>
          <a:p>
            <a:pPr marL="0" indent="0">
              <a:buNone/>
            </a:pPr>
            <a:r>
              <a:rPr lang="en-US" sz="900" kern="0" spc="300" dirty="0">
                <a:solidFill>
                  <a:srgbClr val="8B3A1F"/>
                </a:solidFill>
                <a:latin typeface="Consolas" pitchFamily="34" charset="0"/>
                <a:ea typeface="Consolas" pitchFamily="34" charset="-122"/>
                <a:cs typeface="Consolas" pitchFamily="34" charset="-120"/>
              </a:rPr>
              <a:t>FRAMEWORK</a:t>
            </a:r>
            <a:endParaRPr lang="en-US" sz="900" dirty="0"/>
          </a:p>
        </p:txBody>
      </p:sp>
      <p:sp>
        <p:nvSpPr>
          <p:cNvPr id="9" name="Text 7"/>
          <p:cNvSpPr/>
          <p:nvPr/>
        </p:nvSpPr>
        <p:spPr>
          <a:xfrm>
            <a:off x="731520" y="2377440"/>
            <a:ext cx="3149498" cy="548640"/>
          </a:xfrm>
          <a:prstGeom prst="rect">
            <a:avLst/>
          </a:prstGeom>
          <a:noFill/>
          <a:ln/>
        </p:spPr>
        <p:txBody>
          <a:bodyPr wrap="square" lIns="0" tIns="0" rIns="0" bIns="0" rtlCol="0" anchor="t"/>
          <a:lstStyle/>
          <a:p>
            <a:pPr marL="0" indent="0">
              <a:buNone/>
            </a:pPr>
            <a:r>
              <a:rPr lang="en-US" sz="2000" dirty="0">
                <a:solidFill>
                  <a:srgbClr val="1A1915"/>
                </a:solidFill>
                <a:latin typeface="Georgia" pitchFamily="34" charset="0"/>
                <a:ea typeface="Georgia" pitchFamily="34" charset="-122"/>
                <a:cs typeface="Georgia" pitchFamily="34" charset="-120"/>
              </a:rPr>
              <a:t>CrewAI</a:t>
            </a:r>
            <a:endParaRPr lang="en-US" sz="2000" dirty="0"/>
          </a:p>
        </p:txBody>
      </p:sp>
      <p:sp>
        <p:nvSpPr>
          <p:cNvPr id="10" name="Text 8"/>
          <p:cNvSpPr/>
          <p:nvPr/>
        </p:nvSpPr>
        <p:spPr>
          <a:xfrm>
            <a:off x="731520" y="3017520"/>
            <a:ext cx="3149498" cy="777240"/>
          </a:xfrm>
          <a:prstGeom prst="rect">
            <a:avLst/>
          </a:prstGeom>
          <a:noFill/>
          <a:ln/>
        </p:spPr>
        <p:txBody>
          <a:bodyPr wrap="square" lIns="0" tIns="0" rIns="0" bIns="0" rtlCol="0" anchor="t"/>
          <a:lstStyle/>
          <a:p>
            <a:pPr marL="0" indent="0">
              <a:buNone/>
            </a:pPr>
            <a:r>
              <a:rPr lang="en-US" sz="1200" dirty="0">
                <a:solidFill>
                  <a:srgbClr val="4A4742"/>
                </a:solidFill>
                <a:latin typeface="Georgia" pitchFamily="34" charset="0"/>
                <a:ea typeface="Georgia" pitchFamily="34" charset="-122"/>
                <a:cs typeface="Georgia" pitchFamily="34" charset="-120"/>
              </a:rPr>
              <a:t>Orchestration framework for multi-agent workflows, with a sequential pipeline and built-in task delegation.</a:t>
            </a:r>
            <a:endParaRPr lang="en-US" sz="1200" dirty="0"/>
          </a:p>
        </p:txBody>
      </p:sp>
      <p:sp>
        <p:nvSpPr>
          <p:cNvPr id="11" name="Shape 9"/>
          <p:cNvSpPr/>
          <p:nvPr/>
        </p:nvSpPr>
        <p:spPr>
          <a:xfrm>
            <a:off x="4338218" y="1920240"/>
            <a:ext cx="3515258" cy="2011680"/>
          </a:xfrm>
          <a:prstGeom prst="rect">
            <a:avLst/>
          </a:prstGeom>
          <a:solidFill>
            <a:srgbClr val="F3EFE5"/>
          </a:solidFill>
          <a:ln w="12700">
            <a:solidFill>
              <a:srgbClr val="F3EFE5"/>
            </a:solidFill>
            <a:prstDash val="solid"/>
          </a:ln>
        </p:spPr>
        <p:txBody>
          <a:bodyPr/>
          <a:lstStyle/>
          <a:p>
            <a:endParaRPr lang="en-US"/>
          </a:p>
        </p:txBody>
      </p:sp>
      <p:sp>
        <p:nvSpPr>
          <p:cNvPr id="12" name="Shape 10"/>
          <p:cNvSpPr/>
          <p:nvPr/>
        </p:nvSpPr>
        <p:spPr>
          <a:xfrm>
            <a:off x="4338218" y="1920240"/>
            <a:ext cx="45720" cy="2011680"/>
          </a:xfrm>
          <a:prstGeom prst="rect">
            <a:avLst/>
          </a:prstGeom>
          <a:solidFill>
            <a:srgbClr val="C47B5F"/>
          </a:solidFill>
          <a:ln w="12700">
            <a:solidFill>
              <a:srgbClr val="C47B5F"/>
            </a:solidFill>
            <a:prstDash val="solid"/>
          </a:ln>
        </p:spPr>
        <p:txBody>
          <a:bodyPr/>
          <a:lstStyle/>
          <a:p>
            <a:endParaRPr lang="en-US"/>
          </a:p>
        </p:txBody>
      </p:sp>
      <p:sp>
        <p:nvSpPr>
          <p:cNvPr id="13" name="Text 11"/>
          <p:cNvSpPr/>
          <p:nvPr/>
        </p:nvSpPr>
        <p:spPr>
          <a:xfrm>
            <a:off x="4521098" y="2057400"/>
            <a:ext cx="3149498" cy="274320"/>
          </a:xfrm>
          <a:prstGeom prst="rect">
            <a:avLst/>
          </a:prstGeom>
          <a:noFill/>
          <a:ln/>
        </p:spPr>
        <p:txBody>
          <a:bodyPr wrap="square" lIns="0" tIns="0" rIns="0" bIns="0" rtlCol="0" anchor="ctr"/>
          <a:lstStyle/>
          <a:p>
            <a:pPr marL="0" indent="0">
              <a:buNone/>
            </a:pPr>
            <a:r>
              <a:rPr lang="en-US" sz="900" kern="0" spc="300" dirty="0">
                <a:solidFill>
                  <a:srgbClr val="8B3A1F"/>
                </a:solidFill>
                <a:latin typeface="Consolas" pitchFamily="34" charset="0"/>
                <a:ea typeface="Consolas" pitchFamily="34" charset="-122"/>
                <a:cs typeface="Consolas" pitchFamily="34" charset="-120"/>
              </a:rPr>
              <a:t>LLM</a:t>
            </a:r>
            <a:endParaRPr lang="en-US" sz="900" dirty="0"/>
          </a:p>
        </p:txBody>
      </p:sp>
      <p:sp>
        <p:nvSpPr>
          <p:cNvPr id="14" name="Text 12"/>
          <p:cNvSpPr/>
          <p:nvPr/>
        </p:nvSpPr>
        <p:spPr>
          <a:xfrm>
            <a:off x="4521098" y="2377440"/>
            <a:ext cx="3149498" cy="548640"/>
          </a:xfrm>
          <a:prstGeom prst="rect">
            <a:avLst/>
          </a:prstGeom>
          <a:noFill/>
          <a:ln/>
        </p:spPr>
        <p:txBody>
          <a:bodyPr wrap="square" lIns="0" tIns="0" rIns="0" bIns="0" rtlCol="0" anchor="t"/>
          <a:lstStyle/>
          <a:p>
            <a:pPr marL="0" indent="0">
              <a:buNone/>
            </a:pPr>
            <a:r>
              <a:rPr lang="en-US" sz="1600" dirty="0">
                <a:solidFill>
                  <a:srgbClr val="1A1915"/>
                </a:solidFill>
                <a:latin typeface="Georgia" pitchFamily="34" charset="0"/>
                <a:ea typeface="Georgia" pitchFamily="34" charset="-122"/>
                <a:cs typeface="Georgia" pitchFamily="34" charset="-120"/>
              </a:rPr>
              <a:t>Qwen2.5:3b  ·  Ollama</a:t>
            </a:r>
            <a:endParaRPr lang="en-US" sz="1600" dirty="0"/>
          </a:p>
        </p:txBody>
      </p:sp>
      <p:sp>
        <p:nvSpPr>
          <p:cNvPr id="15" name="Text 13"/>
          <p:cNvSpPr/>
          <p:nvPr/>
        </p:nvSpPr>
        <p:spPr>
          <a:xfrm>
            <a:off x="4521098" y="3017520"/>
            <a:ext cx="3149498" cy="777240"/>
          </a:xfrm>
          <a:prstGeom prst="rect">
            <a:avLst/>
          </a:prstGeom>
          <a:noFill/>
          <a:ln/>
        </p:spPr>
        <p:txBody>
          <a:bodyPr wrap="square" lIns="0" tIns="0" rIns="0" bIns="0" rtlCol="0" anchor="t"/>
          <a:lstStyle/>
          <a:p>
            <a:pPr marL="0" indent="0">
              <a:buNone/>
            </a:pPr>
            <a:r>
              <a:rPr lang="en-US" sz="1200" dirty="0">
                <a:solidFill>
                  <a:srgbClr val="4A4742"/>
                </a:solidFill>
                <a:latin typeface="Georgia" pitchFamily="34" charset="0"/>
                <a:ea typeface="Georgia" pitchFamily="34" charset="-122"/>
                <a:cs typeface="Georgia" pitchFamily="34" charset="-120"/>
              </a:rPr>
              <a:t>Local inference via the Ollama chat endpoint. The smaller model overthinks less and gave the best accuracy and cost tradeoff.</a:t>
            </a:r>
            <a:endParaRPr lang="en-US" sz="1200" dirty="0"/>
          </a:p>
        </p:txBody>
      </p:sp>
      <p:sp>
        <p:nvSpPr>
          <p:cNvPr id="16" name="Shape 14"/>
          <p:cNvSpPr/>
          <p:nvPr/>
        </p:nvSpPr>
        <p:spPr>
          <a:xfrm>
            <a:off x="8127797" y="1920240"/>
            <a:ext cx="3515258" cy="2011680"/>
          </a:xfrm>
          <a:prstGeom prst="rect">
            <a:avLst/>
          </a:prstGeom>
          <a:solidFill>
            <a:srgbClr val="F3EFE5"/>
          </a:solidFill>
          <a:ln w="12700">
            <a:solidFill>
              <a:srgbClr val="F3EFE5"/>
            </a:solidFill>
            <a:prstDash val="solid"/>
          </a:ln>
        </p:spPr>
        <p:txBody>
          <a:bodyPr/>
          <a:lstStyle/>
          <a:p>
            <a:endParaRPr lang="en-US"/>
          </a:p>
        </p:txBody>
      </p:sp>
      <p:sp>
        <p:nvSpPr>
          <p:cNvPr id="17" name="Shape 15"/>
          <p:cNvSpPr/>
          <p:nvPr/>
        </p:nvSpPr>
        <p:spPr>
          <a:xfrm>
            <a:off x="8127797" y="1920240"/>
            <a:ext cx="45720" cy="2011680"/>
          </a:xfrm>
          <a:prstGeom prst="rect">
            <a:avLst/>
          </a:prstGeom>
          <a:solidFill>
            <a:srgbClr val="C47B5F"/>
          </a:solidFill>
          <a:ln w="12700">
            <a:solidFill>
              <a:srgbClr val="C47B5F"/>
            </a:solidFill>
            <a:prstDash val="solid"/>
          </a:ln>
        </p:spPr>
        <p:txBody>
          <a:bodyPr/>
          <a:lstStyle/>
          <a:p>
            <a:endParaRPr lang="en-US"/>
          </a:p>
        </p:txBody>
      </p:sp>
      <p:sp>
        <p:nvSpPr>
          <p:cNvPr id="18" name="Text 16"/>
          <p:cNvSpPr/>
          <p:nvPr/>
        </p:nvSpPr>
        <p:spPr>
          <a:xfrm>
            <a:off x="8310677" y="2057400"/>
            <a:ext cx="3149498" cy="274320"/>
          </a:xfrm>
          <a:prstGeom prst="rect">
            <a:avLst/>
          </a:prstGeom>
          <a:noFill/>
          <a:ln/>
        </p:spPr>
        <p:txBody>
          <a:bodyPr wrap="square" lIns="0" tIns="0" rIns="0" bIns="0" rtlCol="0" anchor="ctr"/>
          <a:lstStyle/>
          <a:p>
            <a:pPr marL="0" indent="0">
              <a:buNone/>
            </a:pPr>
            <a:r>
              <a:rPr lang="en-US" sz="900" kern="0" spc="300" dirty="0">
                <a:solidFill>
                  <a:srgbClr val="8B3A1F"/>
                </a:solidFill>
                <a:latin typeface="Consolas" pitchFamily="34" charset="0"/>
                <a:ea typeface="Consolas" pitchFamily="34" charset="-122"/>
                <a:cs typeface="Consolas" pitchFamily="34" charset="-120"/>
              </a:rPr>
              <a:t>SEARCH TOOLS</a:t>
            </a:r>
            <a:endParaRPr lang="en-US" sz="900" dirty="0"/>
          </a:p>
        </p:txBody>
      </p:sp>
      <p:sp>
        <p:nvSpPr>
          <p:cNvPr id="19" name="Text 17"/>
          <p:cNvSpPr/>
          <p:nvPr/>
        </p:nvSpPr>
        <p:spPr>
          <a:xfrm>
            <a:off x="8310677" y="2377440"/>
            <a:ext cx="3149498" cy="548640"/>
          </a:xfrm>
          <a:prstGeom prst="rect">
            <a:avLst/>
          </a:prstGeom>
          <a:noFill/>
          <a:ln/>
        </p:spPr>
        <p:txBody>
          <a:bodyPr wrap="square" lIns="0" tIns="0" rIns="0" bIns="0" rtlCol="0" anchor="t"/>
          <a:lstStyle/>
          <a:p>
            <a:pPr marL="0" indent="0">
              <a:buNone/>
            </a:pPr>
            <a:r>
              <a:rPr lang="en-US" sz="2000" dirty="0">
                <a:solidFill>
                  <a:srgbClr val="1A1915"/>
                </a:solidFill>
                <a:latin typeface="Georgia" pitchFamily="34" charset="0"/>
                <a:ea typeface="Georgia" pitchFamily="34" charset="-122"/>
                <a:cs typeface="Georgia" pitchFamily="34" charset="-120"/>
              </a:rPr>
              <a:t>Wikipedia + DDG</a:t>
            </a:r>
            <a:endParaRPr lang="en-US" sz="2000" dirty="0"/>
          </a:p>
        </p:txBody>
      </p:sp>
      <p:sp>
        <p:nvSpPr>
          <p:cNvPr id="20" name="Text 18"/>
          <p:cNvSpPr/>
          <p:nvPr/>
        </p:nvSpPr>
        <p:spPr>
          <a:xfrm>
            <a:off x="8310677" y="3017520"/>
            <a:ext cx="3149498" cy="777240"/>
          </a:xfrm>
          <a:prstGeom prst="rect">
            <a:avLst/>
          </a:prstGeom>
          <a:noFill/>
          <a:ln/>
        </p:spPr>
        <p:txBody>
          <a:bodyPr wrap="square" lIns="0" tIns="0" rIns="0" bIns="0" rtlCol="0" anchor="t"/>
          <a:lstStyle/>
          <a:p>
            <a:pPr marL="0" indent="0">
              <a:buNone/>
            </a:pPr>
            <a:r>
              <a:rPr lang="en-US" sz="1200" dirty="0">
                <a:solidFill>
                  <a:srgbClr val="4A4742"/>
                </a:solidFill>
                <a:latin typeface="Georgia" pitchFamily="34" charset="0"/>
                <a:ea typeface="Georgia" pitchFamily="34" charset="-122"/>
                <a:cs typeface="Georgia" pitchFamily="34" charset="-120"/>
              </a:rPr>
              <a:t>Fact-checker retrieval stack. Provides real-time evidence against each factual claim the extractor surfaces.</a:t>
            </a:r>
            <a:endParaRPr lang="en-US" sz="1200" dirty="0"/>
          </a:p>
        </p:txBody>
      </p:sp>
      <p:sp>
        <p:nvSpPr>
          <p:cNvPr id="21" name="Shape 19"/>
          <p:cNvSpPr/>
          <p:nvPr/>
        </p:nvSpPr>
        <p:spPr>
          <a:xfrm>
            <a:off x="548640" y="4206240"/>
            <a:ext cx="3515258" cy="2011680"/>
          </a:xfrm>
          <a:prstGeom prst="rect">
            <a:avLst/>
          </a:prstGeom>
          <a:solidFill>
            <a:srgbClr val="F3EFE5"/>
          </a:solidFill>
          <a:ln w="12700">
            <a:solidFill>
              <a:srgbClr val="F3EFE5"/>
            </a:solidFill>
            <a:prstDash val="solid"/>
          </a:ln>
        </p:spPr>
        <p:txBody>
          <a:bodyPr/>
          <a:lstStyle/>
          <a:p>
            <a:endParaRPr lang="en-US"/>
          </a:p>
        </p:txBody>
      </p:sp>
      <p:sp>
        <p:nvSpPr>
          <p:cNvPr id="22" name="Shape 20"/>
          <p:cNvSpPr/>
          <p:nvPr/>
        </p:nvSpPr>
        <p:spPr>
          <a:xfrm>
            <a:off x="548640" y="4206240"/>
            <a:ext cx="45720" cy="2011680"/>
          </a:xfrm>
          <a:prstGeom prst="rect">
            <a:avLst/>
          </a:prstGeom>
          <a:solidFill>
            <a:srgbClr val="C47B5F"/>
          </a:solidFill>
          <a:ln w="12700">
            <a:solidFill>
              <a:srgbClr val="C47B5F"/>
            </a:solidFill>
            <a:prstDash val="solid"/>
          </a:ln>
        </p:spPr>
        <p:txBody>
          <a:bodyPr/>
          <a:lstStyle/>
          <a:p>
            <a:endParaRPr lang="en-US"/>
          </a:p>
        </p:txBody>
      </p:sp>
      <p:sp>
        <p:nvSpPr>
          <p:cNvPr id="23" name="Text 21"/>
          <p:cNvSpPr/>
          <p:nvPr/>
        </p:nvSpPr>
        <p:spPr>
          <a:xfrm>
            <a:off x="731520" y="4343400"/>
            <a:ext cx="3149498" cy="274320"/>
          </a:xfrm>
          <a:prstGeom prst="rect">
            <a:avLst/>
          </a:prstGeom>
          <a:noFill/>
          <a:ln/>
        </p:spPr>
        <p:txBody>
          <a:bodyPr wrap="square" lIns="0" tIns="0" rIns="0" bIns="0" rtlCol="0" anchor="ctr"/>
          <a:lstStyle/>
          <a:p>
            <a:pPr marL="0" indent="0">
              <a:buNone/>
            </a:pPr>
            <a:r>
              <a:rPr lang="en-US" sz="900" kern="0" spc="300" dirty="0">
                <a:solidFill>
                  <a:srgbClr val="8B3A1F"/>
                </a:solidFill>
                <a:latin typeface="Consolas" pitchFamily="34" charset="0"/>
                <a:ea typeface="Consolas" pitchFamily="34" charset="-122"/>
                <a:cs typeface="Consolas" pitchFamily="34" charset="-120"/>
              </a:rPr>
              <a:t>CLASSIFIER</a:t>
            </a:r>
            <a:endParaRPr lang="en-US" sz="900" dirty="0"/>
          </a:p>
        </p:txBody>
      </p:sp>
      <p:sp>
        <p:nvSpPr>
          <p:cNvPr id="24" name="Text 22"/>
          <p:cNvSpPr/>
          <p:nvPr/>
        </p:nvSpPr>
        <p:spPr>
          <a:xfrm>
            <a:off x="731520" y="4663440"/>
            <a:ext cx="3149498" cy="548640"/>
          </a:xfrm>
          <a:prstGeom prst="rect">
            <a:avLst/>
          </a:prstGeom>
          <a:noFill/>
          <a:ln/>
        </p:spPr>
        <p:txBody>
          <a:bodyPr wrap="square" lIns="0" tIns="0" rIns="0" bIns="0" rtlCol="0" anchor="t"/>
          <a:lstStyle/>
          <a:p>
            <a:pPr marL="0" indent="0">
              <a:buNone/>
            </a:pPr>
            <a:r>
              <a:rPr lang="en-US" sz="2000" dirty="0">
                <a:solidFill>
                  <a:srgbClr val="1A1915"/>
                </a:solidFill>
                <a:latin typeface="Georgia" pitchFamily="34" charset="0"/>
                <a:ea typeface="Georgia" pitchFamily="34" charset="-122"/>
                <a:cs typeface="Georgia" pitchFamily="34" charset="-120"/>
              </a:rPr>
              <a:t>RoBERTa</a:t>
            </a:r>
            <a:endParaRPr lang="en-US" sz="2000" dirty="0"/>
          </a:p>
        </p:txBody>
      </p:sp>
      <p:sp>
        <p:nvSpPr>
          <p:cNvPr id="25" name="Text 23"/>
          <p:cNvSpPr/>
          <p:nvPr/>
        </p:nvSpPr>
        <p:spPr>
          <a:xfrm>
            <a:off x="731520" y="5303520"/>
            <a:ext cx="3149498" cy="777240"/>
          </a:xfrm>
          <a:prstGeom prst="rect">
            <a:avLst/>
          </a:prstGeom>
          <a:noFill/>
          <a:ln/>
        </p:spPr>
        <p:txBody>
          <a:bodyPr wrap="square" lIns="0" tIns="0" rIns="0" bIns="0" rtlCol="0" anchor="t"/>
          <a:lstStyle/>
          <a:p>
            <a:pPr marL="0" indent="0">
              <a:buNone/>
            </a:pPr>
            <a:r>
              <a:rPr lang="en-US" sz="1200" dirty="0">
                <a:solidFill>
                  <a:srgbClr val="4A4742"/>
                </a:solidFill>
                <a:latin typeface="Georgia" pitchFamily="34" charset="0"/>
                <a:ea typeface="Georgia" pitchFamily="34" charset="-122"/>
                <a:cs typeface="Georgia" pitchFamily="34" charset="-120"/>
              </a:rPr>
              <a:t>hamzab/roberta-fake-news-classification via the HuggingFace API. A supporting signal weighted at five percent in the final verdict.</a:t>
            </a:r>
            <a:endParaRPr lang="en-US" sz="1200" dirty="0"/>
          </a:p>
        </p:txBody>
      </p:sp>
      <p:sp>
        <p:nvSpPr>
          <p:cNvPr id="26" name="Shape 24"/>
          <p:cNvSpPr/>
          <p:nvPr/>
        </p:nvSpPr>
        <p:spPr>
          <a:xfrm>
            <a:off x="4338218" y="4206240"/>
            <a:ext cx="3515258" cy="2011680"/>
          </a:xfrm>
          <a:prstGeom prst="rect">
            <a:avLst/>
          </a:prstGeom>
          <a:solidFill>
            <a:srgbClr val="F3EFE5"/>
          </a:solidFill>
          <a:ln w="12700">
            <a:solidFill>
              <a:srgbClr val="F3EFE5"/>
            </a:solidFill>
            <a:prstDash val="solid"/>
          </a:ln>
        </p:spPr>
        <p:txBody>
          <a:bodyPr/>
          <a:lstStyle/>
          <a:p>
            <a:endParaRPr lang="en-US"/>
          </a:p>
        </p:txBody>
      </p:sp>
      <p:sp>
        <p:nvSpPr>
          <p:cNvPr id="27" name="Shape 25"/>
          <p:cNvSpPr/>
          <p:nvPr/>
        </p:nvSpPr>
        <p:spPr>
          <a:xfrm>
            <a:off x="4338218" y="4206240"/>
            <a:ext cx="45720" cy="2011680"/>
          </a:xfrm>
          <a:prstGeom prst="rect">
            <a:avLst/>
          </a:prstGeom>
          <a:solidFill>
            <a:srgbClr val="C47B5F"/>
          </a:solidFill>
          <a:ln w="12700">
            <a:solidFill>
              <a:srgbClr val="C47B5F"/>
            </a:solidFill>
            <a:prstDash val="solid"/>
          </a:ln>
        </p:spPr>
        <p:txBody>
          <a:bodyPr/>
          <a:lstStyle/>
          <a:p>
            <a:endParaRPr lang="en-US"/>
          </a:p>
        </p:txBody>
      </p:sp>
      <p:sp>
        <p:nvSpPr>
          <p:cNvPr id="28" name="Text 26"/>
          <p:cNvSpPr/>
          <p:nvPr/>
        </p:nvSpPr>
        <p:spPr>
          <a:xfrm>
            <a:off x="4521098" y="4343400"/>
            <a:ext cx="3149498" cy="274320"/>
          </a:xfrm>
          <a:prstGeom prst="rect">
            <a:avLst/>
          </a:prstGeom>
          <a:noFill/>
          <a:ln/>
        </p:spPr>
        <p:txBody>
          <a:bodyPr wrap="square" lIns="0" tIns="0" rIns="0" bIns="0" rtlCol="0" anchor="ctr"/>
          <a:lstStyle/>
          <a:p>
            <a:pPr marL="0" indent="0">
              <a:buNone/>
            </a:pPr>
            <a:r>
              <a:rPr lang="en-US" sz="900" kern="0" spc="300" dirty="0">
                <a:solidFill>
                  <a:srgbClr val="8B3A1F"/>
                </a:solidFill>
                <a:latin typeface="Consolas" pitchFamily="34" charset="0"/>
                <a:ea typeface="Consolas" pitchFamily="34" charset="-122"/>
                <a:cs typeface="Consolas" pitchFamily="34" charset="-120"/>
              </a:rPr>
              <a:t>SCORING</a:t>
            </a:r>
            <a:endParaRPr lang="en-US" sz="900" dirty="0"/>
          </a:p>
        </p:txBody>
      </p:sp>
      <p:sp>
        <p:nvSpPr>
          <p:cNvPr id="29" name="Text 27"/>
          <p:cNvSpPr/>
          <p:nvPr/>
        </p:nvSpPr>
        <p:spPr>
          <a:xfrm>
            <a:off x="4521098" y="4663440"/>
            <a:ext cx="3149498" cy="548640"/>
          </a:xfrm>
          <a:prstGeom prst="rect">
            <a:avLst/>
          </a:prstGeom>
          <a:noFill/>
          <a:ln/>
        </p:spPr>
        <p:txBody>
          <a:bodyPr wrap="square" lIns="0" tIns="0" rIns="0" bIns="0" rtlCol="0" anchor="t"/>
          <a:lstStyle/>
          <a:p>
            <a:pPr marL="0" indent="0">
              <a:buNone/>
            </a:pPr>
            <a:r>
              <a:rPr lang="en-US" sz="1600" dirty="0">
                <a:solidFill>
                  <a:srgbClr val="1A1915"/>
                </a:solidFill>
                <a:latin typeface="Georgia" pitchFamily="34" charset="0"/>
                <a:ea typeface="Georgia" pitchFamily="34" charset="-122"/>
                <a:cs typeface="Georgia" pitchFamily="34" charset="-120"/>
              </a:rPr>
              <a:t>Python · _compute_verdict()</a:t>
            </a:r>
            <a:endParaRPr lang="en-US" sz="1600" dirty="0"/>
          </a:p>
        </p:txBody>
      </p:sp>
      <p:sp>
        <p:nvSpPr>
          <p:cNvPr id="30" name="Text 28"/>
          <p:cNvSpPr/>
          <p:nvPr/>
        </p:nvSpPr>
        <p:spPr>
          <a:xfrm>
            <a:off x="4521098" y="5303520"/>
            <a:ext cx="3149498" cy="777240"/>
          </a:xfrm>
          <a:prstGeom prst="rect">
            <a:avLst/>
          </a:prstGeom>
          <a:noFill/>
          <a:ln/>
        </p:spPr>
        <p:txBody>
          <a:bodyPr wrap="square" lIns="0" tIns="0" rIns="0" bIns="0" rtlCol="0" anchor="t"/>
          <a:lstStyle/>
          <a:p>
            <a:pPr marL="0" indent="0">
              <a:buNone/>
            </a:pPr>
            <a:r>
              <a:rPr lang="en-US" sz="1200" dirty="0">
                <a:solidFill>
                  <a:srgbClr val="4A4742"/>
                </a:solidFill>
                <a:latin typeface="Georgia" pitchFamily="34" charset="0"/>
                <a:ea typeface="Georgia" pitchFamily="34" charset="-122"/>
                <a:cs typeface="Georgia" pitchFamily="34" charset="-120"/>
              </a:rPr>
              <a:t>All arithmetic is extracted from the LLM into a deterministic Python function, which guarantees reproducibility.</a:t>
            </a:r>
            <a:endParaRPr lang="en-US" sz="1200" dirty="0"/>
          </a:p>
        </p:txBody>
      </p:sp>
      <p:sp>
        <p:nvSpPr>
          <p:cNvPr id="31" name="Shape 29"/>
          <p:cNvSpPr/>
          <p:nvPr/>
        </p:nvSpPr>
        <p:spPr>
          <a:xfrm>
            <a:off x="8127797" y="4206240"/>
            <a:ext cx="3515258" cy="2011680"/>
          </a:xfrm>
          <a:prstGeom prst="rect">
            <a:avLst/>
          </a:prstGeom>
          <a:solidFill>
            <a:srgbClr val="F3EFE5"/>
          </a:solidFill>
          <a:ln w="12700">
            <a:solidFill>
              <a:srgbClr val="F3EFE5"/>
            </a:solidFill>
            <a:prstDash val="solid"/>
          </a:ln>
        </p:spPr>
        <p:txBody>
          <a:bodyPr/>
          <a:lstStyle/>
          <a:p>
            <a:endParaRPr lang="en-US"/>
          </a:p>
        </p:txBody>
      </p:sp>
      <p:sp>
        <p:nvSpPr>
          <p:cNvPr id="32" name="Shape 30"/>
          <p:cNvSpPr/>
          <p:nvPr/>
        </p:nvSpPr>
        <p:spPr>
          <a:xfrm>
            <a:off x="8127797" y="4206240"/>
            <a:ext cx="45720" cy="2011680"/>
          </a:xfrm>
          <a:prstGeom prst="rect">
            <a:avLst/>
          </a:prstGeom>
          <a:solidFill>
            <a:srgbClr val="C47B5F"/>
          </a:solidFill>
          <a:ln w="12700">
            <a:solidFill>
              <a:srgbClr val="C47B5F"/>
            </a:solidFill>
            <a:prstDash val="solid"/>
          </a:ln>
        </p:spPr>
        <p:txBody>
          <a:bodyPr/>
          <a:lstStyle/>
          <a:p>
            <a:endParaRPr lang="en-US"/>
          </a:p>
        </p:txBody>
      </p:sp>
      <p:sp>
        <p:nvSpPr>
          <p:cNvPr id="33" name="Text 31"/>
          <p:cNvSpPr/>
          <p:nvPr/>
        </p:nvSpPr>
        <p:spPr>
          <a:xfrm>
            <a:off x="8310677" y="4343400"/>
            <a:ext cx="3149498" cy="274320"/>
          </a:xfrm>
          <a:prstGeom prst="rect">
            <a:avLst/>
          </a:prstGeom>
          <a:noFill/>
          <a:ln/>
        </p:spPr>
        <p:txBody>
          <a:bodyPr wrap="square" lIns="0" tIns="0" rIns="0" bIns="0" rtlCol="0" anchor="ctr"/>
          <a:lstStyle/>
          <a:p>
            <a:pPr marL="0" indent="0">
              <a:buNone/>
            </a:pPr>
            <a:r>
              <a:rPr lang="en-US" sz="900" kern="0" spc="300" dirty="0">
                <a:solidFill>
                  <a:srgbClr val="8B3A1F"/>
                </a:solidFill>
                <a:latin typeface="Consolas" pitchFamily="34" charset="0"/>
                <a:ea typeface="Consolas" pitchFamily="34" charset="-122"/>
                <a:cs typeface="Consolas" pitchFamily="34" charset="-120"/>
              </a:rPr>
              <a:t>DATASET</a:t>
            </a:r>
            <a:endParaRPr lang="en-US" sz="900" dirty="0"/>
          </a:p>
        </p:txBody>
      </p:sp>
      <p:sp>
        <p:nvSpPr>
          <p:cNvPr id="34" name="Text 32"/>
          <p:cNvSpPr/>
          <p:nvPr/>
        </p:nvSpPr>
        <p:spPr>
          <a:xfrm>
            <a:off x="8310677" y="4663440"/>
            <a:ext cx="3149498" cy="548640"/>
          </a:xfrm>
          <a:prstGeom prst="rect">
            <a:avLst/>
          </a:prstGeom>
          <a:noFill/>
          <a:ln/>
        </p:spPr>
        <p:txBody>
          <a:bodyPr wrap="square" lIns="0" tIns="0" rIns="0" bIns="0" rtlCol="0" anchor="t"/>
          <a:lstStyle/>
          <a:p>
            <a:pPr marL="0" indent="0">
              <a:buNone/>
            </a:pPr>
            <a:r>
              <a:rPr lang="en-US" sz="2000" dirty="0">
                <a:solidFill>
                  <a:srgbClr val="1A1915"/>
                </a:solidFill>
                <a:latin typeface="Georgia" pitchFamily="34" charset="0"/>
                <a:ea typeface="Georgia" pitchFamily="34" charset="-122"/>
                <a:cs typeface="Georgia" pitchFamily="34" charset="-120"/>
              </a:rPr>
              <a:t>WELFake</a:t>
            </a:r>
            <a:endParaRPr lang="en-US" sz="2000" dirty="0"/>
          </a:p>
        </p:txBody>
      </p:sp>
      <p:sp>
        <p:nvSpPr>
          <p:cNvPr id="35" name="Text 33"/>
          <p:cNvSpPr/>
          <p:nvPr/>
        </p:nvSpPr>
        <p:spPr>
          <a:xfrm>
            <a:off x="8310677" y="5303520"/>
            <a:ext cx="3149498" cy="777240"/>
          </a:xfrm>
          <a:prstGeom prst="rect">
            <a:avLst/>
          </a:prstGeom>
          <a:noFill/>
          <a:ln/>
        </p:spPr>
        <p:txBody>
          <a:bodyPr wrap="square" lIns="0" tIns="0" rIns="0" bIns="0" rtlCol="0" anchor="t"/>
          <a:lstStyle/>
          <a:p>
            <a:pPr marL="0" indent="0">
              <a:buNone/>
            </a:pPr>
            <a:r>
              <a:rPr lang="en-US" sz="1200" dirty="0">
                <a:solidFill>
                  <a:srgbClr val="4A4742"/>
                </a:solidFill>
                <a:latin typeface="Georgia" pitchFamily="34" charset="0"/>
                <a:ea typeface="Georgia" pitchFamily="34" charset="-122"/>
                <a:cs typeface="Georgia" pitchFamily="34" charset="-120"/>
              </a:rPr>
              <a:t>One hundred balanced articles, fifty REAL and fifty FAKE, sampled from US political news between 2015 and 2017.</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05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04</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Key Engineering </a:t>
            </a:r>
            <a:r>
              <a:rPr lang="en-US" sz="3600" i="1" dirty="0">
                <a:solidFill>
                  <a:srgbClr val="8B3A1F"/>
                </a:solidFill>
                <a:latin typeface="Georgia" pitchFamily="34" charset="0"/>
                <a:ea typeface="Georgia" pitchFamily="34" charset="-122"/>
                <a:cs typeface="Georgia" pitchFamily="34" charset="-120"/>
              </a:rPr>
              <a:t>Challenges</a:t>
            </a:r>
            <a:endParaRPr lang="en-US" sz="36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828800"/>
            <a:ext cx="11094415" cy="1371600"/>
          </a:xfrm>
          <a:prstGeom prst="rect">
            <a:avLst/>
          </a:prstGeom>
          <a:solidFill>
            <a:srgbClr val="F3EFE5"/>
          </a:solidFill>
          <a:ln w="12700">
            <a:solidFill>
              <a:srgbClr val="F3EFE5"/>
            </a:solidFill>
            <a:prstDash val="solid"/>
          </a:ln>
        </p:spPr>
        <p:txBody>
          <a:bodyPr/>
          <a:lstStyle/>
          <a:p>
            <a:endParaRPr lang="en-US"/>
          </a:p>
        </p:txBody>
      </p:sp>
      <p:sp>
        <p:nvSpPr>
          <p:cNvPr id="7" name="Shape 5"/>
          <p:cNvSpPr/>
          <p:nvPr/>
        </p:nvSpPr>
        <p:spPr>
          <a:xfrm>
            <a:off x="548640" y="1828800"/>
            <a:ext cx="11094415" cy="36576"/>
          </a:xfrm>
          <a:prstGeom prst="rect">
            <a:avLst/>
          </a:prstGeom>
          <a:solidFill>
            <a:srgbClr val="8B3A1F"/>
          </a:solidFill>
          <a:ln w="12700">
            <a:solidFill>
              <a:srgbClr val="8B3A1F"/>
            </a:solidFill>
            <a:prstDash val="solid"/>
          </a:ln>
        </p:spPr>
        <p:txBody>
          <a:bodyPr/>
          <a:lstStyle/>
          <a:p>
            <a:endParaRPr lang="en-US"/>
          </a:p>
        </p:txBody>
      </p:sp>
      <p:sp>
        <p:nvSpPr>
          <p:cNvPr id="8" name="Text 6"/>
          <p:cNvSpPr/>
          <p:nvPr/>
        </p:nvSpPr>
        <p:spPr>
          <a:xfrm>
            <a:off x="822960" y="1965960"/>
            <a:ext cx="914400" cy="822960"/>
          </a:xfrm>
          <a:prstGeom prst="rect">
            <a:avLst/>
          </a:prstGeom>
          <a:noFill/>
          <a:ln/>
        </p:spPr>
        <p:txBody>
          <a:bodyPr wrap="square" lIns="0" tIns="0" rIns="0" bIns="0" rtlCol="0" anchor="t"/>
          <a:lstStyle/>
          <a:p>
            <a:pPr marL="0" indent="0">
              <a:buNone/>
            </a:pPr>
            <a:r>
              <a:rPr lang="en-US" sz="4200" dirty="0">
                <a:solidFill>
                  <a:srgbClr val="8B3A1F"/>
                </a:solidFill>
                <a:latin typeface="Georgia" pitchFamily="34" charset="0"/>
                <a:ea typeface="Georgia" pitchFamily="34" charset="-122"/>
                <a:cs typeface="Georgia" pitchFamily="34" charset="-120"/>
              </a:rPr>
              <a:t>01</a:t>
            </a:r>
            <a:endParaRPr lang="en-US" sz="4200" dirty="0"/>
          </a:p>
        </p:txBody>
      </p:sp>
      <p:sp>
        <p:nvSpPr>
          <p:cNvPr id="9" name="Text 7"/>
          <p:cNvSpPr/>
          <p:nvPr/>
        </p:nvSpPr>
        <p:spPr>
          <a:xfrm>
            <a:off x="1737360" y="1993392"/>
            <a:ext cx="9722815" cy="365760"/>
          </a:xfrm>
          <a:prstGeom prst="rect">
            <a:avLst/>
          </a:prstGeom>
          <a:noFill/>
          <a:ln/>
        </p:spPr>
        <p:txBody>
          <a:bodyPr wrap="square" lIns="0" tIns="0" rIns="0" bIns="0" rtlCol="0" anchor="t"/>
          <a:lstStyle/>
          <a:p>
            <a:pPr marL="0" indent="0">
              <a:buNone/>
            </a:pPr>
            <a:r>
              <a:rPr lang="en-US" sz="1700" b="1" dirty="0">
                <a:solidFill>
                  <a:srgbClr val="1A1915"/>
                </a:solidFill>
                <a:latin typeface="Georgia" pitchFamily="34" charset="0"/>
                <a:ea typeface="Georgia" pitchFamily="34" charset="-122"/>
                <a:cs typeface="Georgia" pitchFamily="34" charset="-120"/>
              </a:rPr>
              <a:t>output_pydantic causes agents to skip tool calls</a:t>
            </a:r>
            <a:endParaRPr lang="en-US" sz="1700" dirty="0"/>
          </a:p>
        </p:txBody>
      </p:sp>
      <p:sp>
        <p:nvSpPr>
          <p:cNvPr id="10" name="Text 8"/>
          <p:cNvSpPr/>
          <p:nvPr/>
        </p:nvSpPr>
        <p:spPr>
          <a:xfrm>
            <a:off x="1737360" y="2377440"/>
            <a:ext cx="9722815" cy="36576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Setting output_pydantic makes the agent jump to JSON without searching.</a:t>
            </a:r>
            <a:endParaRPr lang="en-US" sz="1300" dirty="0"/>
          </a:p>
        </p:txBody>
      </p:sp>
      <p:sp>
        <p:nvSpPr>
          <p:cNvPr id="11" name="Text 9"/>
          <p:cNvSpPr/>
          <p:nvPr/>
        </p:nvSpPr>
        <p:spPr>
          <a:xfrm>
            <a:off x="1737360" y="2743200"/>
            <a:ext cx="9722815" cy="365760"/>
          </a:xfrm>
          <a:prstGeom prst="rect">
            <a:avLst/>
          </a:prstGeom>
          <a:noFill/>
          <a:ln/>
        </p:spPr>
        <p:txBody>
          <a:bodyPr wrap="square" lIns="0" tIns="0" rIns="0" bIns="0" rtlCol="0" anchor="t"/>
          <a:lstStyle/>
          <a:p>
            <a:pPr marL="0" indent="0">
              <a:buNone/>
            </a:pPr>
            <a:r>
              <a:rPr lang="en-US" sz="1300" i="1" dirty="0">
                <a:solidFill>
                  <a:srgbClr val="8B3A1F"/>
                </a:solidFill>
                <a:latin typeface="Georgia" pitchFamily="34" charset="0"/>
                <a:ea typeface="Georgia" pitchFamily="34" charset="-122"/>
                <a:cs typeface="Georgia" pitchFamily="34" charset="-120"/>
              </a:rPr>
              <a:t>Fix: split into a search-only task, then a verdict task that uses the result as context.</a:t>
            </a:r>
            <a:endParaRPr lang="en-US" sz="1300" dirty="0"/>
          </a:p>
        </p:txBody>
      </p:sp>
      <p:sp>
        <p:nvSpPr>
          <p:cNvPr id="12" name="Shape 10"/>
          <p:cNvSpPr/>
          <p:nvPr/>
        </p:nvSpPr>
        <p:spPr>
          <a:xfrm>
            <a:off x="548640" y="3383280"/>
            <a:ext cx="11094415" cy="1371600"/>
          </a:xfrm>
          <a:prstGeom prst="rect">
            <a:avLst/>
          </a:prstGeom>
          <a:solidFill>
            <a:srgbClr val="F3EFE5"/>
          </a:solidFill>
          <a:ln w="12700">
            <a:solidFill>
              <a:srgbClr val="F3EFE5"/>
            </a:solidFill>
            <a:prstDash val="solid"/>
          </a:ln>
        </p:spPr>
        <p:txBody>
          <a:bodyPr/>
          <a:lstStyle/>
          <a:p>
            <a:endParaRPr lang="en-US"/>
          </a:p>
        </p:txBody>
      </p:sp>
      <p:sp>
        <p:nvSpPr>
          <p:cNvPr id="13" name="Shape 11"/>
          <p:cNvSpPr/>
          <p:nvPr/>
        </p:nvSpPr>
        <p:spPr>
          <a:xfrm>
            <a:off x="548640" y="3383280"/>
            <a:ext cx="11094415" cy="36576"/>
          </a:xfrm>
          <a:prstGeom prst="rect">
            <a:avLst/>
          </a:prstGeom>
          <a:solidFill>
            <a:srgbClr val="8B3A1F"/>
          </a:solidFill>
          <a:ln w="12700">
            <a:solidFill>
              <a:srgbClr val="8B3A1F"/>
            </a:solidFill>
            <a:prstDash val="solid"/>
          </a:ln>
        </p:spPr>
        <p:txBody>
          <a:bodyPr/>
          <a:lstStyle/>
          <a:p>
            <a:endParaRPr lang="en-US"/>
          </a:p>
        </p:txBody>
      </p:sp>
      <p:sp>
        <p:nvSpPr>
          <p:cNvPr id="14" name="Text 12"/>
          <p:cNvSpPr/>
          <p:nvPr/>
        </p:nvSpPr>
        <p:spPr>
          <a:xfrm>
            <a:off x="822960" y="3520440"/>
            <a:ext cx="914400" cy="822960"/>
          </a:xfrm>
          <a:prstGeom prst="rect">
            <a:avLst/>
          </a:prstGeom>
          <a:noFill/>
          <a:ln/>
        </p:spPr>
        <p:txBody>
          <a:bodyPr wrap="square" lIns="0" tIns="0" rIns="0" bIns="0" rtlCol="0" anchor="t"/>
          <a:lstStyle/>
          <a:p>
            <a:pPr marL="0" indent="0">
              <a:buNone/>
            </a:pPr>
            <a:r>
              <a:rPr lang="en-US" sz="4200" dirty="0">
                <a:solidFill>
                  <a:srgbClr val="8B3A1F"/>
                </a:solidFill>
                <a:latin typeface="Georgia" pitchFamily="34" charset="0"/>
                <a:ea typeface="Georgia" pitchFamily="34" charset="-122"/>
                <a:cs typeface="Georgia" pitchFamily="34" charset="-120"/>
              </a:rPr>
              <a:t>02</a:t>
            </a:r>
            <a:endParaRPr lang="en-US" sz="4200" dirty="0"/>
          </a:p>
        </p:txBody>
      </p:sp>
      <p:sp>
        <p:nvSpPr>
          <p:cNvPr id="15" name="Text 13"/>
          <p:cNvSpPr/>
          <p:nvPr/>
        </p:nvSpPr>
        <p:spPr>
          <a:xfrm>
            <a:off x="1737360" y="3547872"/>
            <a:ext cx="9722815" cy="365760"/>
          </a:xfrm>
          <a:prstGeom prst="rect">
            <a:avLst/>
          </a:prstGeom>
          <a:noFill/>
          <a:ln/>
        </p:spPr>
        <p:txBody>
          <a:bodyPr wrap="square" lIns="0" tIns="0" rIns="0" bIns="0" rtlCol="0" anchor="t"/>
          <a:lstStyle/>
          <a:p>
            <a:pPr marL="0" indent="0">
              <a:buNone/>
            </a:pPr>
            <a:r>
              <a:rPr lang="en-US" sz="1700" b="1" dirty="0">
                <a:solidFill>
                  <a:srgbClr val="1A1915"/>
                </a:solidFill>
                <a:latin typeface="Georgia" pitchFamily="34" charset="0"/>
                <a:ea typeface="Georgia" pitchFamily="34" charset="-122"/>
                <a:cs typeface="Georgia" pitchFamily="34" charset="-120"/>
              </a:rPr>
              <a:t>Local models are unreliable at tool calling</a:t>
            </a:r>
            <a:endParaRPr lang="en-US" sz="1700" dirty="0"/>
          </a:p>
        </p:txBody>
      </p:sp>
      <p:sp>
        <p:nvSpPr>
          <p:cNvPr id="16" name="Text 14"/>
          <p:cNvSpPr/>
          <p:nvPr/>
        </p:nvSpPr>
        <p:spPr>
          <a:xfrm>
            <a:off x="1737360" y="3931920"/>
            <a:ext cx="9722815" cy="36576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Qwen2.5:3b emits tool parameters as plain text, which CrewAI cannot execute.</a:t>
            </a:r>
            <a:endParaRPr lang="en-US" sz="1300" dirty="0"/>
          </a:p>
        </p:txBody>
      </p:sp>
      <p:sp>
        <p:nvSpPr>
          <p:cNvPr id="17" name="Text 15"/>
          <p:cNvSpPr/>
          <p:nvPr/>
        </p:nvSpPr>
        <p:spPr>
          <a:xfrm>
            <a:off x="1737360" y="4297680"/>
            <a:ext cx="9722815" cy="365760"/>
          </a:xfrm>
          <a:prstGeom prst="rect">
            <a:avLst/>
          </a:prstGeom>
          <a:noFill/>
          <a:ln/>
        </p:spPr>
        <p:txBody>
          <a:bodyPr wrap="square" lIns="0" tIns="0" rIns="0" bIns="0" rtlCol="0" anchor="t"/>
          <a:lstStyle/>
          <a:p>
            <a:pPr marL="0" indent="0">
              <a:buNone/>
            </a:pPr>
            <a:r>
              <a:rPr lang="en-US" sz="1300" i="1" dirty="0">
                <a:solidFill>
                  <a:srgbClr val="8B3A1F"/>
                </a:solidFill>
                <a:latin typeface="Georgia" pitchFamily="34" charset="0"/>
                <a:ea typeface="Georgia" pitchFamily="34" charset="-122"/>
                <a:cs typeface="Georgia" pitchFamily="34" charset="-120"/>
              </a:rPr>
              <a:t>Fix: use the OpenAI API for real-time search, or call tools directly from Python.</a:t>
            </a:r>
            <a:endParaRPr lang="en-US" sz="1300" dirty="0"/>
          </a:p>
        </p:txBody>
      </p:sp>
      <p:sp>
        <p:nvSpPr>
          <p:cNvPr id="18" name="Shape 16"/>
          <p:cNvSpPr/>
          <p:nvPr/>
        </p:nvSpPr>
        <p:spPr>
          <a:xfrm>
            <a:off x="548640" y="4937760"/>
            <a:ext cx="11094415" cy="1371600"/>
          </a:xfrm>
          <a:prstGeom prst="rect">
            <a:avLst/>
          </a:prstGeom>
          <a:solidFill>
            <a:srgbClr val="F3EFE5"/>
          </a:solidFill>
          <a:ln w="12700">
            <a:solidFill>
              <a:srgbClr val="F3EFE5"/>
            </a:solidFill>
            <a:prstDash val="solid"/>
          </a:ln>
        </p:spPr>
        <p:txBody>
          <a:bodyPr/>
          <a:lstStyle/>
          <a:p>
            <a:endParaRPr lang="en-US"/>
          </a:p>
        </p:txBody>
      </p:sp>
      <p:sp>
        <p:nvSpPr>
          <p:cNvPr id="19" name="Shape 17"/>
          <p:cNvSpPr/>
          <p:nvPr/>
        </p:nvSpPr>
        <p:spPr>
          <a:xfrm>
            <a:off x="548640" y="4937760"/>
            <a:ext cx="11094415" cy="36576"/>
          </a:xfrm>
          <a:prstGeom prst="rect">
            <a:avLst/>
          </a:prstGeom>
          <a:solidFill>
            <a:srgbClr val="8B3A1F"/>
          </a:solidFill>
          <a:ln w="12700">
            <a:solidFill>
              <a:srgbClr val="8B3A1F"/>
            </a:solidFill>
            <a:prstDash val="solid"/>
          </a:ln>
        </p:spPr>
        <p:txBody>
          <a:bodyPr/>
          <a:lstStyle/>
          <a:p>
            <a:endParaRPr lang="en-US"/>
          </a:p>
        </p:txBody>
      </p:sp>
      <p:sp>
        <p:nvSpPr>
          <p:cNvPr id="20" name="Text 18"/>
          <p:cNvSpPr/>
          <p:nvPr/>
        </p:nvSpPr>
        <p:spPr>
          <a:xfrm>
            <a:off x="822960" y="5074920"/>
            <a:ext cx="914400" cy="822960"/>
          </a:xfrm>
          <a:prstGeom prst="rect">
            <a:avLst/>
          </a:prstGeom>
          <a:noFill/>
          <a:ln/>
        </p:spPr>
        <p:txBody>
          <a:bodyPr wrap="square" lIns="0" tIns="0" rIns="0" bIns="0" rtlCol="0" anchor="t"/>
          <a:lstStyle/>
          <a:p>
            <a:pPr marL="0" indent="0">
              <a:buNone/>
            </a:pPr>
            <a:r>
              <a:rPr lang="en-US" sz="4200" dirty="0">
                <a:solidFill>
                  <a:srgbClr val="8B3A1F"/>
                </a:solidFill>
                <a:latin typeface="Georgia" pitchFamily="34" charset="0"/>
                <a:ea typeface="Georgia" pitchFamily="34" charset="-122"/>
                <a:cs typeface="Georgia" pitchFamily="34" charset="-120"/>
              </a:rPr>
              <a:t>03</a:t>
            </a:r>
            <a:endParaRPr lang="en-US" sz="4200" dirty="0"/>
          </a:p>
        </p:txBody>
      </p:sp>
      <p:sp>
        <p:nvSpPr>
          <p:cNvPr id="21" name="Text 19"/>
          <p:cNvSpPr/>
          <p:nvPr/>
        </p:nvSpPr>
        <p:spPr>
          <a:xfrm>
            <a:off x="1737360" y="5102352"/>
            <a:ext cx="9722815" cy="365760"/>
          </a:xfrm>
          <a:prstGeom prst="rect">
            <a:avLst/>
          </a:prstGeom>
          <a:noFill/>
          <a:ln/>
        </p:spPr>
        <p:txBody>
          <a:bodyPr wrap="square" lIns="0" tIns="0" rIns="0" bIns="0" rtlCol="0" anchor="t"/>
          <a:lstStyle/>
          <a:p>
            <a:pPr marL="0" indent="0">
              <a:buNone/>
            </a:pPr>
            <a:r>
              <a:rPr lang="en-US" sz="1700" b="1" dirty="0">
                <a:solidFill>
                  <a:srgbClr val="1A1915"/>
                </a:solidFill>
                <a:latin typeface="Georgia" pitchFamily="34" charset="0"/>
                <a:ea typeface="Georgia" pitchFamily="34" charset="-122"/>
                <a:cs typeface="Georgia" pitchFamily="34" charset="-120"/>
              </a:rPr>
              <a:t>Non-deterministic scoring from the Judge agent</a:t>
            </a:r>
            <a:endParaRPr lang="en-US" sz="1700" dirty="0"/>
          </a:p>
        </p:txBody>
      </p:sp>
      <p:sp>
        <p:nvSpPr>
          <p:cNvPr id="22" name="Text 20"/>
          <p:cNvSpPr/>
          <p:nvPr/>
        </p:nvSpPr>
        <p:spPr>
          <a:xfrm>
            <a:off x="1737360" y="5486400"/>
            <a:ext cx="9722815" cy="36576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Letting the LLM compute final confidence produced different results on identical inputs.</a:t>
            </a:r>
            <a:endParaRPr lang="en-US" sz="1300" dirty="0"/>
          </a:p>
        </p:txBody>
      </p:sp>
      <p:sp>
        <p:nvSpPr>
          <p:cNvPr id="23" name="Text 21"/>
          <p:cNvSpPr/>
          <p:nvPr/>
        </p:nvSpPr>
        <p:spPr>
          <a:xfrm>
            <a:off x="1737360" y="5852160"/>
            <a:ext cx="9722815" cy="365760"/>
          </a:xfrm>
          <a:prstGeom prst="rect">
            <a:avLst/>
          </a:prstGeom>
          <a:noFill/>
          <a:ln/>
        </p:spPr>
        <p:txBody>
          <a:bodyPr wrap="square" lIns="0" tIns="0" rIns="0" bIns="0" rtlCol="0" anchor="t"/>
          <a:lstStyle/>
          <a:p>
            <a:pPr marL="0" indent="0">
              <a:buNone/>
            </a:pPr>
            <a:r>
              <a:rPr lang="en-US" sz="1300" i="1" dirty="0">
                <a:solidFill>
                  <a:srgbClr val="8B3A1F"/>
                </a:solidFill>
                <a:latin typeface="Georgia" pitchFamily="34" charset="0"/>
                <a:ea typeface="Georgia" pitchFamily="34" charset="-122"/>
                <a:cs typeface="Georgia" pitchFamily="34" charset="-120"/>
              </a:rPr>
              <a:t>Fix: extract all arithmetic to _compute_verdict in Python; the agent only narrates.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34F86-8E40-91FC-8E0C-CDA8B47A838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B5E8D53-13F7-2455-78B1-88A0F233E478}"/>
              </a:ext>
            </a:extLst>
          </p:cNvPr>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06 / 11</a:t>
            </a:r>
            <a:endParaRPr lang="en-US" sz="800" dirty="0"/>
          </a:p>
        </p:txBody>
      </p:sp>
      <p:sp>
        <p:nvSpPr>
          <p:cNvPr id="3" name="Text 1">
            <a:extLst>
              <a:ext uri="{FF2B5EF4-FFF2-40B4-BE49-F238E27FC236}">
                <a16:creationId xmlns:a16="http://schemas.microsoft.com/office/drawing/2014/main" id="{20280340-CE49-3549-DBF5-F4678AE83D06}"/>
              </a:ext>
            </a:extLst>
          </p:cNvPr>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05</a:t>
            </a:r>
            <a:endParaRPr lang="en-US" sz="900" dirty="0"/>
          </a:p>
        </p:txBody>
      </p:sp>
      <p:sp>
        <p:nvSpPr>
          <p:cNvPr id="4" name="Text 2">
            <a:extLst>
              <a:ext uri="{FF2B5EF4-FFF2-40B4-BE49-F238E27FC236}">
                <a16:creationId xmlns:a16="http://schemas.microsoft.com/office/drawing/2014/main" id="{5F5FA3B6-26E8-0029-92B1-992C12D296DF}"/>
              </a:ext>
            </a:extLst>
          </p:cNvPr>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Agent </a:t>
            </a:r>
            <a:r>
              <a:rPr lang="en-US" sz="3600" i="1" dirty="0">
                <a:solidFill>
                  <a:srgbClr val="8B3A1F"/>
                </a:solidFill>
                <a:latin typeface="Georgia" pitchFamily="34" charset="0"/>
                <a:ea typeface="Georgia" pitchFamily="34" charset="-122"/>
                <a:cs typeface="Georgia" pitchFamily="34" charset="-120"/>
              </a:rPr>
              <a:t>Interface</a:t>
            </a:r>
            <a:endParaRPr lang="en-US" sz="3600" dirty="0"/>
          </a:p>
        </p:txBody>
      </p:sp>
      <p:sp>
        <p:nvSpPr>
          <p:cNvPr id="5" name="Shape 3">
            <a:extLst>
              <a:ext uri="{FF2B5EF4-FFF2-40B4-BE49-F238E27FC236}">
                <a16:creationId xmlns:a16="http://schemas.microsoft.com/office/drawing/2014/main" id="{69F46272-04BD-07EF-DB5E-F9950F376651}"/>
              </a:ext>
            </a:extLst>
          </p:cNvPr>
          <p:cNvSpPr/>
          <p:nvPr/>
        </p:nvSpPr>
        <p:spPr>
          <a:xfrm>
            <a:off x="548640" y="1554480"/>
            <a:ext cx="11094415" cy="0"/>
          </a:xfrm>
          <a:prstGeom prst="line">
            <a:avLst/>
          </a:prstGeom>
          <a:noFill/>
          <a:ln w="19050">
            <a:solidFill>
              <a:srgbClr val="1A1915"/>
            </a:solidFill>
            <a:prstDash val="solid"/>
          </a:ln>
        </p:spPr>
        <p:txBody>
          <a:bodyPr/>
          <a:lstStyle/>
          <a:p>
            <a:endParaRPr lang="en-US"/>
          </a:p>
        </p:txBody>
      </p:sp>
      <p:pic>
        <p:nvPicPr>
          <p:cNvPr id="24" name="Picture 23">
            <a:extLst>
              <a:ext uri="{FF2B5EF4-FFF2-40B4-BE49-F238E27FC236}">
                <a16:creationId xmlns:a16="http://schemas.microsoft.com/office/drawing/2014/main" id="{0414CD27-F1C0-F713-528F-4C0D805285A6}"/>
              </a:ext>
            </a:extLst>
          </p:cNvPr>
          <p:cNvPicPr>
            <a:picLocks noChangeAspect="1"/>
          </p:cNvPicPr>
          <p:nvPr/>
        </p:nvPicPr>
        <p:blipFill>
          <a:blip r:embed="rId3"/>
          <a:stretch>
            <a:fillRect/>
          </a:stretch>
        </p:blipFill>
        <p:spPr>
          <a:xfrm>
            <a:off x="2134260" y="1645921"/>
            <a:ext cx="7931715" cy="4800598"/>
          </a:xfrm>
          <a:prstGeom prst="rect">
            <a:avLst/>
          </a:prstGeom>
          <a:ln w="6350">
            <a:solidFill>
              <a:schemeClr val="tx1"/>
            </a:solidFill>
          </a:ln>
        </p:spPr>
      </p:pic>
    </p:spTree>
    <p:extLst>
      <p:ext uri="{BB962C8B-B14F-4D97-AF65-F5344CB8AC3E}">
        <p14:creationId xmlns:p14="http://schemas.microsoft.com/office/powerpoint/2010/main" val="38446266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45C58-1DAF-4D44-870F-DBD12E6B5D5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641AC98-165C-AAAC-A58E-BECF4A2AC2EA}"/>
              </a:ext>
            </a:extLst>
          </p:cNvPr>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07 / 11</a:t>
            </a:r>
            <a:endParaRPr lang="en-US" sz="800" dirty="0"/>
          </a:p>
        </p:txBody>
      </p:sp>
      <p:sp>
        <p:nvSpPr>
          <p:cNvPr id="3" name="Text 1">
            <a:extLst>
              <a:ext uri="{FF2B5EF4-FFF2-40B4-BE49-F238E27FC236}">
                <a16:creationId xmlns:a16="http://schemas.microsoft.com/office/drawing/2014/main" id="{6FD03A27-7B58-51F2-9D1D-617E916CAD54}"/>
              </a:ext>
            </a:extLst>
          </p:cNvPr>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05</a:t>
            </a:r>
            <a:endParaRPr lang="en-US" sz="900" dirty="0"/>
          </a:p>
        </p:txBody>
      </p:sp>
      <p:sp>
        <p:nvSpPr>
          <p:cNvPr id="4" name="Text 2">
            <a:extLst>
              <a:ext uri="{FF2B5EF4-FFF2-40B4-BE49-F238E27FC236}">
                <a16:creationId xmlns:a16="http://schemas.microsoft.com/office/drawing/2014/main" id="{30F633D1-5863-6E75-0D53-76D50EC4C3E9}"/>
              </a:ext>
            </a:extLst>
          </p:cNvPr>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Agent Outputs </a:t>
            </a:r>
            <a:r>
              <a:rPr lang="en-US" sz="3600" i="1" dirty="0">
                <a:solidFill>
                  <a:srgbClr val="8B3A1F"/>
                </a:solidFill>
                <a:latin typeface="Georgia" pitchFamily="34" charset="0"/>
                <a:ea typeface="Georgia" pitchFamily="34" charset="-122"/>
                <a:cs typeface="Georgia" pitchFamily="34" charset="-120"/>
              </a:rPr>
              <a:t>Real/Fake</a:t>
            </a:r>
            <a:endParaRPr lang="en-US" sz="3600" dirty="0"/>
          </a:p>
        </p:txBody>
      </p:sp>
      <p:sp>
        <p:nvSpPr>
          <p:cNvPr id="5" name="Shape 3">
            <a:extLst>
              <a:ext uri="{FF2B5EF4-FFF2-40B4-BE49-F238E27FC236}">
                <a16:creationId xmlns:a16="http://schemas.microsoft.com/office/drawing/2014/main" id="{D1373E27-C53F-C66F-88C6-A7175055A67D}"/>
              </a:ext>
            </a:extLst>
          </p:cNvPr>
          <p:cNvSpPr/>
          <p:nvPr/>
        </p:nvSpPr>
        <p:spPr>
          <a:xfrm>
            <a:off x="548640" y="1554480"/>
            <a:ext cx="11094415" cy="0"/>
          </a:xfrm>
          <a:prstGeom prst="line">
            <a:avLst/>
          </a:prstGeom>
          <a:noFill/>
          <a:ln w="19050">
            <a:solidFill>
              <a:srgbClr val="1A1915"/>
            </a:solidFill>
            <a:prstDash val="solid"/>
          </a:ln>
        </p:spPr>
        <p:txBody>
          <a:bodyPr/>
          <a:lstStyle/>
          <a:p>
            <a:endParaRPr lang="en-US"/>
          </a:p>
        </p:txBody>
      </p:sp>
      <p:pic>
        <p:nvPicPr>
          <p:cNvPr id="9" name="Picture 8">
            <a:extLst>
              <a:ext uri="{FF2B5EF4-FFF2-40B4-BE49-F238E27FC236}">
                <a16:creationId xmlns:a16="http://schemas.microsoft.com/office/drawing/2014/main" id="{4F037A3E-43E1-519E-DA64-79D40D156A73}"/>
              </a:ext>
            </a:extLst>
          </p:cNvPr>
          <p:cNvPicPr>
            <a:picLocks noChangeAspect="1"/>
          </p:cNvPicPr>
          <p:nvPr/>
        </p:nvPicPr>
        <p:blipFill>
          <a:blip r:embed="rId3"/>
          <a:stretch>
            <a:fillRect/>
          </a:stretch>
        </p:blipFill>
        <p:spPr>
          <a:xfrm>
            <a:off x="548640" y="1645921"/>
            <a:ext cx="8598521" cy="3541516"/>
          </a:xfrm>
          <a:prstGeom prst="rect">
            <a:avLst/>
          </a:prstGeom>
          <a:ln w="6350">
            <a:solidFill>
              <a:schemeClr val="tx1"/>
            </a:solidFill>
          </a:ln>
        </p:spPr>
      </p:pic>
      <p:pic>
        <p:nvPicPr>
          <p:cNvPr id="7" name="Picture 6">
            <a:extLst>
              <a:ext uri="{FF2B5EF4-FFF2-40B4-BE49-F238E27FC236}">
                <a16:creationId xmlns:a16="http://schemas.microsoft.com/office/drawing/2014/main" id="{4202819A-F780-190F-E2D7-1C2950CA666F}"/>
              </a:ext>
            </a:extLst>
          </p:cNvPr>
          <p:cNvPicPr>
            <a:picLocks noChangeAspect="1"/>
          </p:cNvPicPr>
          <p:nvPr/>
        </p:nvPicPr>
        <p:blipFill>
          <a:blip r:embed="rId4"/>
          <a:stretch>
            <a:fillRect/>
          </a:stretch>
        </p:blipFill>
        <p:spPr>
          <a:xfrm>
            <a:off x="5728763" y="2636468"/>
            <a:ext cx="5914292" cy="3718611"/>
          </a:xfrm>
          <a:prstGeom prst="rect">
            <a:avLst/>
          </a:prstGeom>
          <a:ln w="12700">
            <a:solidFill>
              <a:schemeClr val="tx1"/>
            </a:solidFill>
          </a:ln>
        </p:spPr>
      </p:pic>
    </p:spTree>
    <p:extLst>
      <p:ext uri="{BB962C8B-B14F-4D97-AF65-F5344CB8AC3E}">
        <p14:creationId xmlns:p14="http://schemas.microsoft.com/office/powerpoint/2010/main" val="35530442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08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05</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200" dirty="0">
                <a:solidFill>
                  <a:srgbClr val="1A1915"/>
                </a:solidFill>
                <a:latin typeface="Georgia" pitchFamily="34" charset="0"/>
                <a:ea typeface="Georgia" pitchFamily="34" charset="-122"/>
                <a:cs typeface="Georgia" pitchFamily="34" charset="-120"/>
              </a:rPr>
              <a:t>Results  </a:t>
            </a:r>
            <a:r>
              <a:rPr lang="en-US" sz="3200" i="1" dirty="0">
                <a:solidFill>
                  <a:srgbClr val="8B3A1F"/>
                </a:solidFill>
                <a:latin typeface="Georgia" pitchFamily="34" charset="0"/>
                <a:ea typeface="Georgia" pitchFamily="34" charset="-122"/>
                <a:cs typeface="Georgia" pitchFamily="34" charset="-120"/>
              </a:rPr>
              <a:t>Qwen2.5:3b on 100 articles</a:t>
            </a:r>
            <a:endParaRPr lang="en-US" sz="32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828800"/>
            <a:ext cx="2636444" cy="1371600"/>
          </a:xfrm>
          <a:prstGeom prst="rect">
            <a:avLst/>
          </a:prstGeom>
          <a:solidFill>
            <a:srgbClr val="EDE6D7"/>
          </a:solidFill>
          <a:ln w="12700">
            <a:solidFill>
              <a:srgbClr val="EDE6D7"/>
            </a:solidFill>
            <a:prstDash val="solid"/>
          </a:ln>
        </p:spPr>
        <p:txBody>
          <a:bodyPr/>
          <a:lstStyle/>
          <a:p>
            <a:endParaRPr lang="en-US"/>
          </a:p>
        </p:txBody>
      </p:sp>
      <p:sp>
        <p:nvSpPr>
          <p:cNvPr id="7" name="Shape 5"/>
          <p:cNvSpPr/>
          <p:nvPr/>
        </p:nvSpPr>
        <p:spPr>
          <a:xfrm>
            <a:off x="548640" y="1828800"/>
            <a:ext cx="45720" cy="1371600"/>
          </a:xfrm>
          <a:prstGeom prst="rect">
            <a:avLst/>
          </a:prstGeom>
          <a:solidFill>
            <a:srgbClr val="8B3A1F"/>
          </a:solidFill>
          <a:ln w="12700">
            <a:solidFill>
              <a:srgbClr val="8B3A1F"/>
            </a:solidFill>
            <a:prstDash val="solid"/>
          </a:ln>
        </p:spPr>
        <p:txBody>
          <a:bodyPr/>
          <a:lstStyle/>
          <a:p>
            <a:endParaRPr lang="en-US"/>
          </a:p>
        </p:txBody>
      </p:sp>
      <p:sp>
        <p:nvSpPr>
          <p:cNvPr id="8" name="Text 6"/>
          <p:cNvSpPr/>
          <p:nvPr/>
        </p:nvSpPr>
        <p:spPr>
          <a:xfrm>
            <a:off x="640080" y="1965960"/>
            <a:ext cx="2453564" cy="777240"/>
          </a:xfrm>
          <a:prstGeom prst="rect">
            <a:avLst/>
          </a:prstGeom>
          <a:noFill/>
          <a:ln/>
        </p:spPr>
        <p:txBody>
          <a:bodyPr wrap="square" lIns="0" tIns="0" rIns="0" bIns="0" rtlCol="0" anchor="ctr"/>
          <a:lstStyle/>
          <a:p>
            <a:pPr marL="0" indent="0" algn="ctr">
              <a:buNone/>
            </a:pPr>
            <a:r>
              <a:rPr lang="en-US" sz="4400" dirty="0">
                <a:solidFill>
                  <a:srgbClr val="8B3A1F"/>
                </a:solidFill>
                <a:latin typeface="Georgia" pitchFamily="34" charset="0"/>
                <a:ea typeface="Georgia" pitchFamily="34" charset="-122"/>
                <a:cs typeface="Georgia" pitchFamily="34" charset="-120"/>
              </a:rPr>
              <a:t>90%</a:t>
            </a:r>
            <a:endParaRPr lang="en-US" sz="4400" dirty="0"/>
          </a:p>
        </p:txBody>
      </p:sp>
      <p:sp>
        <p:nvSpPr>
          <p:cNvPr id="9" name="Text 7"/>
          <p:cNvSpPr/>
          <p:nvPr/>
        </p:nvSpPr>
        <p:spPr>
          <a:xfrm>
            <a:off x="640080" y="2834640"/>
            <a:ext cx="2453564" cy="274320"/>
          </a:xfrm>
          <a:prstGeom prst="rect">
            <a:avLst/>
          </a:prstGeom>
          <a:noFill/>
          <a:ln/>
        </p:spPr>
        <p:txBody>
          <a:bodyPr wrap="square" lIns="0" tIns="0" rIns="0" bIns="0" rtlCol="0" anchor="ctr"/>
          <a:lstStyle/>
          <a:p>
            <a:pPr marL="0" indent="0" algn="ctr">
              <a:buNone/>
            </a:pPr>
            <a:r>
              <a:rPr lang="en-US" sz="900" kern="0" spc="300" dirty="0">
                <a:solidFill>
                  <a:srgbClr val="4A4742"/>
                </a:solidFill>
                <a:latin typeface="Consolas" pitchFamily="34" charset="0"/>
                <a:ea typeface="Consolas" pitchFamily="34" charset="-122"/>
                <a:cs typeface="Consolas" pitchFamily="34" charset="-120"/>
              </a:rPr>
              <a:t>ACCURACY</a:t>
            </a:r>
            <a:endParaRPr lang="en-US" sz="900" dirty="0"/>
          </a:p>
        </p:txBody>
      </p:sp>
      <p:sp>
        <p:nvSpPr>
          <p:cNvPr id="10" name="Shape 8"/>
          <p:cNvSpPr/>
          <p:nvPr/>
        </p:nvSpPr>
        <p:spPr>
          <a:xfrm>
            <a:off x="3367964" y="1828800"/>
            <a:ext cx="2636444" cy="1371600"/>
          </a:xfrm>
          <a:prstGeom prst="rect">
            <a:avLst/>
          </a:prstGeom>
          <a:solidFill>
            <a:srgbClr val="EDE6D7"/>
          </a:solidFill>
          <a:ln w="12700">
            <a:solidFill>
              <a:srgbClr val="EDE6D7"/>
            </a:solidFill>
            <a:prstDash val="solid"/>
          </a:ln>
        </p:spPr>
        <p:txBody>
          <a:bodyPr/>
          <a:lstStyle/>
          <a:p>
            <a:endParaRPr lang="en-US"/>
          </a:p>
        </p:txBody>
      </p:sp>
      <p:sp>
        <p:nvSpPr>
          <p:cNvPr id="11" name="Shape 9"/>
          <p:cNvSpPr/>
          <p:nvPr/>
        </p:nvSpPr>
        <p:spPr>
          <a:xfrm>
            <a:off x="3367964" y="1828800"/>
            <a:ext cx="45720" cy="1371600"/>
          </a:xfrm>
          <a:prstGeom prst="rect">
            <a:avLst/>
          </a:prstGeom>
          <a:solidFill>
            <a:srgbClr val="8B3A1F"/>
          </a:solidFill>
          <a:ln w="12700">
            <a:solidFill>
              <a:srgbClr val="8B3A1F"/>
            </a:solidFill>
            <a:prstDash val="solid"/>
          </a:ln>
        </p:spPr>
        <p:txBody>
          <a:bodyPr/>
          <a:lstStyle/>
          <a:p>
            <a:endParaRPr lang="en-US"/>
          </a:p>
        </p:txBody>
      </p:sp>
      <p:sp>
        <p:nvSpPr>
          <p:cNvPr id="12" name="Text 10"/>
          <p:cNvSpPr/>
          <p:nvPr/>
        </p:nvSpPr>
        <p:spPr>
          <a:xfrm>
            <a:off x="3459404" y="1965960"/>
            <a:ext cx="2453564" cy="777240"/>
          </a:xfrm>
          <a:prstGeom prst="rect">
            <a:avLst/>
          </a:prstGeom>
          <a:noFill/>
          <a:ln/>
        </p:spPr>
        <p:txBody>
          <a:bodyPr wrap="square" lIns="0" tIns="0" rIns="0" bIns="0" rtlCol="0" anchor="ctr"/>
          <a:lstStyle/>
          <a:p>
            <a:pPr marL="0" indent="0" algn="ctr">
              <a:buNone/>
            </a:pPr>
            <a:r>
              <a:rPr lang="en-US" sz="4400" dirty="0">
                <a:solidFill>
                  <a:srgbClr val="8B3A1F"/>
                </a:solidFill>
                <a:latin typeface="Georgia" pitchFamily="34" charset="0"/>
                <a:ea typeface="Georgia" pitchFamily="34" charset="-122"/>
                <a:cs typeface="Georgia" pitchFamily="34" charset="-120"/>
              </a:rPr>
              <a:t>0.90</a:t>
            </a:r>
            <a:endParaRPr lang="en-US" sz="4400" dirty="0"/>
          </a:p>
        </p:txBody>
      </p:sp>
      <p:sp>
        <p:nvSpPr>
          <p:cNvPr id="13" name="Text 11"/>
          <p:cNvSpPr/>
          <p:nvPr/>
        </p:nvSpPr>
        <p:spPr>
          <a:xfrm>
            <a:off x="3459404" y="2834640"/>
            <a:ext cx="2453564" cy="274320"/>
          </a:xfrm>
          <a:prstGeom prst="rect">
            <a:avLst/>
          </a:prstGeom>
          <a:noFill/>
          <a:ln/>
        </p:spPr>
        <p:txBody>
          <a:bodyPr wrap="square" lIns="0" tIns="0" rIns="0" bIns="0" rtlCol="0" anchor="ctr"/>
          <a:lstStyle/>
          <a:p>
            <a:pPr marL="0" indent="0" algn="ctr">
              <a:buNone/>
            </a:pPr>
            <a:r>
              <a:rPr lang="en-US" sz="900" kern="0" spc="300" dirty="0">
                <a:solidFill>
                  <a:srgbClr val="4A4742"/>
                </a:solidFill>
                <a:latin typeface="Consolas" pitchFamily="34" charset="0"/>
                <a:ea typeface="Consolas" pitchFamily="34" charset="-122"/>
                <a:cs typeface="Consolas" pitchFamily="34" charset="-120"/>
              </a:rPr>
              <a:t>F1-SCORE</a:t>
            </a:r>
            <a:endParaRPr lang="en-US" sz="900" dirty="0"/>
          </a:p>
        </p:txBody>
      </p:sp>
      <p:sp>
        <p:nvSpPr>
          <p:cNvPr id="14" name="Shape 12"/>
          <p:cNvSpPr/>
          <p:nvPr/>
        </p:nvSpPr>
        <p:spPr>
          <a:xfrm>
            <a:off x="6187288" y="1828800"/>
            <a:ext cx="2636444" cy="1371600"/>
          </a:xfrm>
          <a:prstGeom prst="rect">
            <a:avLst/>
          </a:prstGeom>
          <a:solidFill>
            <a:srgbClr val="EDE6D7"/>
          </a:solidFill>
          <a:ln w="12700">
            <a:solidFill>
              <a:srgbClr val="EDE6D7"/>
            </a:solidFill>
            <a:prstDash val="solid"/>
          </a:ln>
        </p:spPr>
        <p:txBody>
          <a:bodyPr/>
          <a:lstStyle/>
          <a:p>
            <a:endParaRPr lang="en-US"/>
          </a:p>
        </p:txBody>
      </p:sp>
      <p:sp>
        <p:nvSpPr>
          <p:cNvPr id="15" name="Shape 13"/>
          <p:cNvSpPr/>
          <p:nvPr/>
        </p:nvSpPr>
        <p:spPr>
          <a:xfrm>
            <a:off x="6187288" y="1828800"/>
            <a:ext cx="45720" cy="1371600"/>
          </a:xfrm>
          <a:prstGeom prst="rect">
            <a:avLst/>
          </a:prstGeom>
          <a:solidFill>
            <a:srgbClr val="8B3A1F"/>
          </a:solidFill>
          <a:ln w="12700">
            <a:solidFill>
              <a:srgbClr val="8B3A1F"/>
            </a:solidFill>
            <a:prstDash val="solid"/>
          </a:ln>
        </p:spPr>
        <p:txBody>
          <a:bodyPr/>
          <a:lstStyle/>
          <a:p>
            <a:endParaRPr lang="en-US"/>
          </a:p>
        </p:txBody>
      </p:sp>
      <p:sp>
        <p:nvSpPr>
          <p:cNvPr id="16" name="Text 14"/>
          <p:cNvSpPr/>
          <p:nvPr/>
        </p:nvSpPr>
        <p:spPr>
          <a:xfrm>
            <a:off x="6278728" y="1965960"/>
            <a:ext cx="2453564" cy="777240"/>
          </a:xfrm>
          <a:prstGeom prst="rect">
            <a:avLst/>
          </a:prstGeom>
          <a:noFill/>
          <a:ln/>
        </p:spPr>
        <p:txBody>
          <a:bodyPr wrap="square" lIns="0" tIns="0" rIns="0" bIns="0" rtlCol="0" anchor="ctr"/>
          <a:lstStyle/>
          <a:p>
            <a:pPr marL="0" indent="0" algn="ctr">
              <a:buNone/>
            </a:pPr>
            <a:r>
              <a:rPr lang="en-US" sz="4400" dirty="0">
                <a:solidFill>
                  <a:srgbClr val="8B3A1F"/>
                </a:solidFill>
                <a:latin typeface="Georgia" pitchFamily="34" charset="0"/>
                <a:ea typeface="Georgia" pitchFamily="34" charset="-122"/>
                <a:cs typeface="Georgia" pitchFamily="34" charset="-120"/>
              </a:rPr>
              <a:t>0.86</a:t>
            </a:r>
            <a:endParaRPr lang="en-US" sz="4400" dirty="0"/>
          </a:p>
        </p:txBody>
      </p:sp>
      <p:sp>
        <p:nvSpPr>
          <p:cNvPr id="17" name="Text 15"/>
          <p:cNvSpPr/>
          <p:nvPr/>
        </p:nvSpPr>
        <p:spPr>
          <a:xfrm>
            <a:off x="6278728" y="2834640"/>
            <a:ext cx="2453564" cy="274320"/>
          </a:xfrm>
          <a:prstGeom prst="rect">
            <a:avLst/>
          </a:prstGeom>
          <a:noFill/>
          <a:ln/>
        </p:spPr>
        <p:txBody>
          <a:bodyPr wrap="square" lIns="0" tIns="0" rIns="0" bIns="0" rtlCol="0" anchor="ctr"/>
          <a:lstStyle/>
          <a:p>
            <a:pPr marL="0" indent="0" algn="ctr">
              <a:buNone/>
            </a:pPr>
            <a:r>
              <a:rPr lang="en-US" sz="900" kern="0" spc="300" dirty="0">
                <a:solidFill>
                  <a:srgbClr val="4A4742"/>
                </a:solidFill>
                <a:latin typeface="Consolas" pitchFamily="34" charset="0"/>
                <a:ea typeface="Consolas" pitchFamily="34" charset="-122"/>
                <a:cs typeface="Consolas" pitchFamily="34" charset="-120"/>
              </a:rPr>
              <a:t>AVG. CONFIDENCE</a:t>
            </a:r>
            <a:endParaRPr lang="en-US" sz="900" dirty="0"/>
          </a:p>
        </p:txBody>
      </p:sp>
      <p:sp>
        <p:nvSpPr>
          <p:cNvPr id="18" name="Shape 16"/>
          <p:cNvSpPr/>
          <p:nvPr/>
        </p:nvSpPr>
        <p:spPr>
          <a:xfrm>
            <a:off x="9006611" y="1828800"/>
            <a:ext cx="2636444" cy="1371600"/>
          </a:xfrm>
          <a:prstGeom prst="rect">
            <a:avLst/>
          </a:prstGeom>
          <a:solidFill>
            <a:srgbClr val="EDE6D7"/>
          </a:solidFill>
          <a:ln w="12700">
            <a:solidFill>
              <a:srgbClr val="EDE6D7"/>
            </a:solidFill>
            <a:prstDash val="solid"/>
          </a:ln>
        </p:spPr>
        <p:txBody>
          <a:bodyPr/>
          <a:lstStyle/>
          <a:p>
            <a:endParaRPr lang="en-US"/>
          </a:p>
        </p:txBody>
      </p:sp>
      <p:sp>
        <p:nvSpPr>
          <p:cNvPr id="19" name="Shape 17"/>
          <p:cNvSpPr/>
          <p:nvPr/>
        </p:nvSpPr>
        <p:spPr>
          <a:xfrm>
            <a:off x="9006611" y="1828800"/>
            <a:ext cx="45720" cy="1371600"/>
          </a:xfrm>
          <a:prstGeom prst="rect">
            <a:avLst/>
          </a:prstGeom>
          <a:solidFill>
            <a:srgbClr val="8B3A1F"/>
          </a:solidFill>
          <a:ln w="12700">
            <a:solidFill>
              <a:srgbClr val="8B3A1F"/>
            </a:solidFill>
            <a:prstDash val="solid"/>
          </a:ln>
        </p:spPr>
        <p:txBody>
          <a:bodyPr/>
          <a:lstStyle/>
          <a:p>
            <a:endParaRPr lang="en-US"/>
          </a:p>
        </p:txBody>
      </p:sp>
      <p:sp>
        <p:nvSpPr>
          <p:cNvPr id="20" name="Text 18"/>
          <p:cNvSpPr/>
          <p:nvPr/>
        </p:nvSpPr>
        <p:spPr>
          <a:xfrm>
            <a:off x="9098051" y="1965960"/>
            <a:ext cx="2453564" cy="777240"/>
          </a:xfrm>
          <a:prstGeom prst="rect">
            <a:avLst/>
          </a:prstGeom>
          <a:noFill/>
          <a:ln/>
        </p:spPr>
        <p:txBody>
          <a:bodyPr wrap="square" lIns="0" tIns="0" rIns="0" bIns="0" rtlCol="0" anchor="ctr"/>
          <a:lstStyle/>
          <a:p>
            <a:pPr marL="0" indent="0" algn="ctr">
              <a:buNone/>
            </a:pPr>
            <a:r>
              <a:rPr lang="en-US" sz="4400" dirty="0">
                <a:solidFill>
                  <a:srgbClr val="8B3A1F"/>
                </a:solidFill>
                <a:latin typeface="Georgia" pitchFamily="34" charset="0"/>
                <a:ea typeface="Georgia" pitchFamily="34" charset="-122"/>
                <a:cs typeface="Georgia" pitchFamily="34" charset="-120"/>
              </a:rPr>
              <a:t>~43s</a:t>
            </a:r>
            <a:endParaRPr lang="en-US" sz="4400" dirty="0"/>
          </a:p>
        </p:txBody>
      </p:sp>
      <p:sp>
        <p:nvSpPr>
          <p:cNvPr id="21" name="Text 19"/>
          <p:cNvSpPr/>
          <p:nvPr/>
        </p:nvSpPr>
        <p:spPr>
          <a:xfrm>
            <a:off x="9098051" y="2834640"/>
            <a:ext cx="2453564" cy="274320"/>
          </a:xfrm>
          <a:prstGeom prst="rect">
            <a:avLst/>
          </a:prstGeom>
          <a:noFill/>
          <a:ln/>
        </p:spPr>
        <p:txBody>
          <a:bodyPr wrap="square" lIns="0" tIns="0" rIns="0" bIns="0" rtlCol="0" anchor="ctr"/>
          <a:lstStyle/>
          <a:p>
            <a:pPr marL="0" indent="0" algn="ctr">
              <a:buNone/>
            </a:pPr>
            <a:r>
              <a:rPr lang="en-US" sz="900" kern="0" spc="300" dirty="0">
                <a:solidFill>
                  <a:srgbClr val="4A4742"/>
                </a:solidFill>
                <a:latin typeface="Consolas" pitchFamily="34" charset="0"/>
                <a:ea typeface="Consolas" pitchFamily="34" charset="-122"/>
                <a:cs typeface="Consolas" pitchFamily="34" charset="-120"/>
              </a:rPr>
              <a:t>PER-ARTICLE LATENCY</a:t>
            </a:r>
            <a:endParaRPr lang="en-US" sz="900" dirty="0"/>
          </a:p>
        </p:txBody>
      </p:sp>
      <p:sp>
        <p:nvSpPr>
          <p:cNvPr id="22" name="Text 20"/>
          <p:cNvSpPr/>
          <p:nvPr/>
        </p:nvSpPr>
        <p:spPr>
          <a:xfrm>
            <a:off x="548640" y="3566160"/>
            <a:ext cx="5364328"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CONFUSION MATRIX</a:t>
            </a:r>
            <a:endParaRPr lang="en-US" sz="900" dirty="0"/>
          </a:p>
        </p:txBody>
      </p:sp>
      <p:sp>
        <p:nvSpPr>
          <p:cNvPr id="23" name="Shape 21"/>
          <p:cNvSpPr/>
          <p:nvPr/>
        </p:nvSpPr>
        <p:spPr>
          <a:xfrm>
            <a:off x="548640" y="3840480"/>
            <a:ext cx="5364328" cy="0"/>
          </a:xfrm>
          <a:prstGeom prst="line">
            <a:avLst/>
          </a:prstGeom>
          <a:noFill/>
          <a:ln w="6350">
            <a:solidFill>
              <a:srgbClr val="D8D3C7"/>
            </a:solidFill>
            <a:prstDash val="solid"/>
          </a:ln>
        </p:spPr>
        <p:txBody>
          <a:bodyPr/>
          <a:lstStyle/>
          <a:p>
            <a:endParaRPr lang="en-US"/>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5364328" cy="1645920"/>
        </p:xfrm>
        <a:graphic>
          <a:graphicData uri="http://schemas.openxmlformats.org/drawingml/2006/table">
            <a:tbl>
              <a:tblPr/>
              <a:tblGrid>
                <a:gridCol w="1609298">
                  <a:extLst>
                    <a:ext uri="{9D8B030D-6E8A-4147-A177-3AD203B41FA5}">
                      <a16:colId xmlns:a16="http://schemas.microsoft.com/office/drawing/2014/main" val="20000"/>
                    </a:ext>
                  </a:extLst>
                </a:gridCol>
                <a:gridCol w="1877515">
                  <a:extLst>
                    <a:ext uri="{9D8B030D-6E8A-4147-A177-3AD203B41FA5}">
                      <a16:colId xmlns:a16="http://schemas.microsoft.com/office/drawing/2014/main" val="20001"/>
                    </a:ext>
                  </a:extLst>
                </a:gridCol>
                <a:gridCol w="1877515">
                  <a:extLst>
                    <a:ext uri="{9D8B030D-6E8A-4147-A177-3AD203B41FA5}">
                      <a16:colId xmlns:a16="http://schemas.microsoft.com/office/drawing/2014/main" val="20002"/>
                    </a:ext>
                  </a:extLst>
                </a:gridCol>
              </a:tblGrid>
              <a:tr h="365760">
                <a:tc>
                  <a:txBody>
                    <a:bodyPr/>
                    <a:lstStyle/>
                    <a:p>
                      <a:pPr marL="0" indent="0">
                        <a:buNone/>
                      </a:pPr>
                      <a:endParaRPr lang="en-US" sz="1200" dirty="0"/>
                    </a:p>
                  </a:txBody>
                  <a:tcPr>
                    <a:lnL w="0" cap="flat" cmpd="sng" algn="ctr">
                      <a:noFill/>
                    </a:lnL>
                    <a:lnR w="0" cap="flat" cmpd="sng" algn="ctr">
                      <a:noFill/>
                    </a:lnR>
                    <a:lnT w="0" cap="flat" cmpd="sng" algn="ctr">
                      <a:noFill/>
                    </a:lnT>
                    <a:lnB w="0" cap="flat" cmpd="sng" algn="ctr">
                      <a:noFill/>
                    </a:lnB>
                    <a:solidFill>
                      <a:srgbClr val="FAF8F3"/>
                    </a:solidFill>
                  </a:tcPr>
                </a:tc>
                <a:tc>
                  <a:txBody>
                    <a:bodyPr/>
                    <a:lstStyle/>
                    <a:p>
                      <a:pPr marL="0" indent="0" algn="ctr">
                        <a:buNone/>
                      </a:pPr>
                      <a:r>
                        <a:rPr lang="en-US" sz="950" b="1" kern="0" spc="300" dirty="0">
                          <a:solidFill>
                            <a:srgbClr val="4A4742"/>
                          </a:solidFill>
                          <a:latin typeface="Consolas" pitchFamily="34" charset="0"/>
                          <a:ea typeface="Consolas" pitchFamily="34" charset="-122"/>
                          <a:cs typeface="Consolas" pitchFamily="34" charset="-120"/>
                        </a:rPr>
                        <a:t>PRED REAL</a:t>
                      </a:r>
                      <a:endParaRPr lang="en-US" sz="950" dirty="0">
                        <a:latin typeface="Consolas" charset="0"/>
                        <a:ea typeface="Consolas" charset="0"/>
                        <a:cs typeface="Consolas" charset="0"/>
                      </a:endParaRPr>
                    </a:p>
                  </a:txBody>
                  <a:tcPr anchor="ctr">
                    <a:lnL w="6350" cap="flat" cmpd="sng" algn="ctr">
                      <a:no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AF8F3"/>
                    </a:solidFill>
                  </a:tcPr>
                </a:tc>
                <a:tc>
                  <a:txBody>
                    <a:bodyPr/>
                    <a:lstStyle/>
                    <a:p>
                      <a:pPr marL="0" indent="0" algn="ctr">
                        <a:buNone/>
                      </a:pPr>
                      <a:r>
                        <a:rPr lang="en-US" sz="950" b="1" kern="0" spc="300" dirty="0">
                          <a:solidFill>
                            <a:srgbClr val="4A4742"/>
                          </a:solidFill>
                          <a:latin typeface="Consolas" pitchFamily="34" charset="0"/>
                          <a:ea typeface="Consolas" pitchFamily="34" charset="-122"/>
                          <a:cs typeface="Consolas" pitchFamily="34" charset="-120"/>
                        </a:rPr>
                        <a:t>PRED FAKE</a:t>
                      </a:r>
                      <a:endParaRPr lang="en-US" sz="950" dirty="0">
                        <a:latin typeface="Consolas" charset="0"/>
                        <a:ea typeface="Consolas" charset="0"/>
                        <a:cs typeface="Consolas" charset="0"/>
                      </a:endParaRPr>
                    </a:p>
                  </a:txBody>
                  <a:tcPr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AF8F3"/>
                    </a:solidFill>
                  </a:tcPr>
                </a:tc>
                <a:extLst>
                  <a:ext uri="{0D108BD9-81ED-4DB2-BD59-A6C34878D82A}">
                    <a16:rowId xmlns:a16="http://schemas.microsoft.com/office/drawing/2014/main" val="10000"/>
                  </a:ext>
                </a:extLst>
              </a:tr>
              <a:tr h="640080">
                <a:tc>
                  <a:txBody>
                    <a:bodyPr/>
                    <a:lstStyle/>
                    <a:p>
                      <a:pPr marL="0" indent="0">
                        <a:buNone/>
                      </a:pPr>
                      <a:r>
                        <a:rPr lang="en-US" sz="950" b="1" kern="0" spc="300" dirty="0">
                          <a:solidFill>
                            <a:srgbClr val="4A4742"/>
                          </a:solidFill>
                          <a:latin typeface="Consolas" pitchFamily="34" charset="0"/>
                          <a:ea typeface="Consolas" pitchFamily="34" charset="-122"/>
                          <a:cs typeface="Consolas" pitchFamily="34" charset="-120"/>
                        </a:rPr>
                        <a:t>TRUE REAL</a:t>
                      </a:r>
                      <a:endParaRPr lang="en-US" sz="950" dirty="0">
                        <a:latin typeface="Consolas" charset="0"/>
                        <a:ea typeface="Consolas" charset="0"/>
                        <a:cs typeface="Consolas" charset="0"/>
                      </a:endParaRPr>
                    </a:p>
                  </a:txBody>
                  <a:tcPr marT="91440" marB="91440"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AF8F3"/>
                    </a:solidFill>
                  </a:tcPr>
                </a:tc>
                <a:tc>
                  <a:txBody>
                    <a:bodyPr/>
                    <a:lstStyle/>
                    <a:p>
                      <a:pPr marL="0" indent="0" algn="ctr">
                        <a:buNone/>
                      </a:pPr>
                      <a:r>
                        <a:rPr lang="en-US" sz="2400" b="1" dirty="0">
                          <a:solidFill>
                            <a:srgbClr val="1A1915"/>
                          </a:solidFill>
                          <a:latin typeface="Georgia" pitchFamily="34" charset="0"/>
                          <a:ea typeface="Georgia" pitchFamily="34" charset="-122"/>
                          <a:cs typeface="Georgia" pitchFamily="34" charset="-120"/>
                        </a:rPr>
                        <a:t>48</a:t>
                      </a:r>
                      <a:endParaRPr lang="en-US" sz="2400" dirty="0">
                        <a:latin typeface="Georgia" charset="0"/>
                        <a:ea typeface="Georgia" charset="0"/>
                        <a:cs typeface="Georgia" charset="0"/>
                      </a:endParaRPr>
                    </a:p>
                  </a:txBody>
                  <a:tcPr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3EFE5"/>
                    </a:solidFill>
                  </a:tcPr>
                </a:tc>
                <a:tc>
                  <a:txBody>
                    <a:bodyPr/>
                    <a:lstStyle/>
                    <a:p>
                      <a:pPr marL="0" indent="0" algn="ctr">
                        <a:buNone/>
                      </a:pPr>
                      <a:r>
                        <a:rPr lang="en-US" sz="2400" dirty="0">
                          <a:solidFill>
                            <a:srgbClr val="8B3A1F"/>
                          </a:solidFill>
                          <a:latin typeface="Georgia" pitchFamily="34" charset="0"/>
                          <a:ea typeface="Georgia" pitchFamily="34" charset="-122"/>
                          <a:cs typeface="Georgia" pitchFamily="34" charset="-120"/>
                        </a:rPr>
                        <a:t>2</a:t>
                      </a:r>
                      <a:endParaRPr lang="en-US" sz="2400" dirty="0">
                        <a:latin typeface="Georgia" charset="0"/>
                        <a:ea typeface="Georgia" charset="0"/>
                        <a:cs typeface="Georgia" charset="0"/>
                      </a:endParaRPr>
                    </a:p>
                  </a:txBody>
                  <a:tcPr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3EFE5"/>
                    </a:solidFill>
                  </a:tcPr>
                </a:tc>
                <a:extLst>
                  <a:ext uri="{0D108BD9-81ED-4DB2-BD59-A6C34878D82A}">
                    <a16:rowId xmlns:a16="http://schemas.microsoft.com/office/drawing/2014/main" val="10001"/>
                  </a:ext>
                </a:extLst>
              </a:tr>
              <a:tr h="640080">
                <a:tc>
                  <a:txBody>
                    <a:bodyPr/>
                    <a:lstStyle/>
                    <a:p>
                      <a:pPr marL="0" indent="0">
                        <a:buNone/>
                      </a:pPr>
                      <a:r>
                        <a:rPr lang="en-US" sz="950" b="1" kern="0" spc="300" dirty="0">
                          <a:solidFill>
                            <a:srgbClr val="4A4742"/>
                          </a:solidFill>
                          <a:latin typeface="Consolas" pitchFamily="34" charset="0"/>
                          <a:ea typeface="Consolas" pitchFamily="34" charset="-122"/>
                          <a:cs typeface="Consolas" pitchFamily="34" charset="-120"/>
                        </a:rPr>
                        <a:t>TRUE FAKE</a:t>
                      </a:r>
                      <a:endParaRPr lang="en-US" sz="950" dirty="0">
                        <a:latin typeface="Consolas" charset="0"/>
                        <a:ea typeface="Consolas" charset="0"/>
                        <a:cs typeface="Consolas" charset="0"/>
                      </a:endParaRPr>
                    </a:p>
                  </a:txBody>
                  <a:tcPr marT="91440" marB="91440"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AF8F3"/>
                    </a:solidFill>
                  </a:tcPr>
                </a:tc>
                <a:tc>
                  <a:txBody>
                    <a:bodyPr/>
                    <a:lstStyle/>
                    <a:p>
                      <a:pPr marL="0" indent="0" algn="ctr">
                        <a:buNone/>
                      </a:pPr>
                      <a:r>
                        <a:rPr lang="en-US" sz="2400" dirty="0">
                          <a:solidFill>
                            <a:srgbClr val="8B3A1F"/>
                          </a:solidFill>
                          <a:latin typeface="Georgia" pitchFamily="34" charset="0"/>
                          <a:ea typeface="Georgia" pitchFamily="34" charset="-122"/>
                          <a:cs typeface="Georgia" pitchFamily="34" charset="-120"/>
                        </a:rPr>
                        <a:t>8</a:t>
                      </a:r>
                      <a:endParaRPr lang="en-US" sz="2400" dirty="0">
                        <a:latin typeface="Georgia" charset="0"/>
                        <a:ea typeface="Georgia" charset="0"/>
                        <a:cs typeface="Georgia" charset="0"/>
                      </a:endParaRPr>
                    </a:p>
                  </a:txBody>
                  <a:tcPr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3EFE5"/>
                    </a:solidFill>
                  </a:tcPr>
                </a:tc>
                <a:tc>
                  <a:txBody>
                    <a:bodyPr/>
                    <a:lstStyle/>
                    <a:p>
                      <a:pPr marL="0" indent="0" algn="ctr">
                        <a:buNone/>
                      </a:pPr>
                      <a:r>
                        <a:rPr lang="en-US" sz="2400" b="1" dirty="0">
                          <a:solidFill>
                            <a:srgbClr val="1A1915"/>
                          </a:solidFill>
                          <a:latin typeface="Georgia" pitchFamily="34" charset="0"/>
                          <a:ea typeface="Georgia" pitchFamily="34" charset="-122"/>
                          <a:cs typeface="Georgia" pitchFamily="34" charset="-120"/>
                        </a:rPr>
                        <a:t>42</a:t>
                      </a:r>
                      <a:endParaRPr lang="en-US" sz="2400" dirty="0">
                        <a:latin typeface="Georgia" charset="0"/>
                        <a:ea typeface="Georgia" charset="0"/>
                        <a:cs typeface="Georgia" charset="0"/>
                      </a:endParaRPr>
                    </a:p>
                  </a:txBody>
                  <a:tcPr anchor="ctr">
                    <a:lnL w="6350" cap="flat" cmpd="sng" algn="ctr">
                      <a:solidFill>
                        <a:srgbClr val="D8D3C7"/>
                      </a:solidFill>
                      <a:prstDash val="solid"/>
                      <a:round/>
                      <a:headEnd type="none" w="med" len="med"/>
                      <a:tailEnd type="none" w="med" len="med"/>
                    </a:lnL>
                    <a:lnR w="6350" cap="flat" cmpd="sng" algn="ctr">
                      <a:solidFill>
                        <a:srgbClr val="D8D3C7"/>
                      </a:solidFill>
                      <a:prstDash val="solid"/>
                      <a:round/>
                      <a:headEnd type="none" w="med" len="med"/>
                      <a:tailEnd type="none" w="med" len="med"/>
                    </a:lnR>
                    <a:lnT w="6350" cap="flat" cmpd="sng" algn="ctr">
                      <a:solidFill>
                        <a:srgbClr val="D8D3C7"/>
                      </a:solidFill>
                      <a:prstDash val="solid"/>
                      <a:round/>
                      <a:headEnd type="none" w="med" len="med"/>
                      <a:tailEnd type="none" w="med" len="med"/>
                    </a:lnT>
                    <a:lnB w="6350" cap="flat" cmpd="sng" algn="ctr">
                      <a:solidFill>
                        <a:srgbClr val="D8D3C7"/>
                      </a:solidFill>
                      <a:prstDash val="solid"/>
                      <a:round/>
                      <a:headEnd type="none" w="med" len="med"/>
                      <a:tailEnd type="none" w="med" len="med"/>
                    </a:lnB>
                    <a:solidFill>
                      <a:srgbClr val="F3EFE5"/>
                    </a:solidFill>
                  </a:tcPr>
                </a:tc>
                <a:extLst>
                  <a:ext uri="{0D108BD9-81ED-4DB2-BD59-A6C34878D82A}">
                    <a16:rowId xmlns:a16="http://schemas.microsoft.com/office/drawing/2014/main" val="10002"/>
                  </a:ext>
                </a:extLst>
              </a:tr>
            </a:tbl>
          </a:graphicData>
        </a:graphic>
      </p:graphicFrame>
      <p:sp>
        <p:nvSpPr>
          <p:cNvPr id="25" name="Text 22"/>
          <p:cNvSpPr/>
          <p:nvPr/>
        </p:nvSpPr>
        <p:spPr>
          <a:xfrm>
            <a:off x="548640" y="5943600"/>
            <a:ext cx="5364328" cy="274320"/>
          </a:xfrm>
          <a:prstGeom prst="rect">
            <a:avLst/>
          </a:prstGeom>
          <a:noFill/>
          <a:ln/>
        </p:spPr>
        <p:txBody>
          <a:bodyPr wrap="square" lIns="0" tIns="0" rIns="0" bIns="0" rtlCol="0" anchor="ctr"/>
          <a:lstStyle/>
          <a:p>
            <a:pPr marL="0" indent="0">
              <a:buNone/>
            </a:pPr>
            <a:r>
              <a:rPr lang="en-US" sz="800" dirty="0">
                <a:solidFill>
                  <a:srgbClr val="4A4742"/>
                </a:solidFill>
                <a:latin typeface="Consolas" pitchFamily="34" charset="0"/>
                <a:ea typeface="Consolas" pitchFamily="34" charset="-122"/>
                <a:cs typeface="Consolas" pitchFamily="34" charset="-120"/>
              </a:rPr>
              <a:t>TP = true positive · FP = false positive · FN = false negative · TN = true negative</a:t>
            </a:r>
            <a:endParaRPr lang="en-US" sz="800" dirty="0"/>
          </a:p>
        </p:txBody>
      </p:sp>
      <p:sp>
        <p:nvSpPr>
          <p:cNvPr id="26" name="Text 23"/>
          <p:cNvSpPr/>
          <p:nvPr/>
        </p:nvSpPr>
        <p:spPr>
          <a:xfrm>
            <a:off x="6278728" y="3566160"/>
            <a:ext cx="5364328"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PER-CLASS PERFORMANCE</a:t>
            </a:r>
            <a:endParaRPr lang="en-US" sz="900" dirty="0"/>
          </a:p>
        </p:txBody>
      </p:sp>
      <p:sp>
        <p:nvSpPr>
          <p:cNvPr id="27" name="Shape 24"/>
          <p:cNvSpPr/>
          <p:nvPr/>
        </p:nvSpPr>
        <p:spPr>
          <a:xfrm>
            <a:off x="6278728" y="3840480"/>
            <a:ext cx="5364328" cy="0"/>
          </a:xfrm>
          <a:prstGeom prst="line">
            <a:avLst/>
          </a:prstGeom>
          <a:noFill/>
          <a:ln w="6350">
            <a:solidFill>
              <a:srgbClr val="D8D3C7"/>
            </a:solidFill>
            <a:prstDash val="solid"/>
          </a:ln>
        </p:spPr>
        <p:txBody>
          <a:bodyPr/>
          <a:lstStyle/>
          <a:p>
            <a:endParaRPr lang="en-US"/>
          </a:p>
        </p:txBody>
      </p:sp>
      <p:sp>
        <p:nvSpPr>
          <p:cNvPr id="28" name="Text 25"/>
          <p:cNvSpPr/>
          <p:nvPr/>
        </p:nvSpPr>
        <p:spPr>
          <a:xfrm>
            <a:off x="6278728" y="4023360"/>
            <a:ext cx="1280160" cy="548640"/>
          </a:xfrm>
          <a:prstGeom prst="rect">
            <a:avLst/>
          </a:prstGeom>
          <a:noFill/>
          <a:ln/>
        </p:spPr>
        <p:txBody>
          <a:bodyPr wrap="square" lIns="0" tIns="0" rIns="0" bIns="0" rtlCol="0" anchor="ctr"/>
          <a:lstStyle/>
          <a:p>
            <a:pPr marL="0" indent="0">
              <a:buNone/>
            </a:pPr>
            <a:r>
              <a:rPr lang="en-US" sz="2200" i="1" dirty="0">
                <a:solidFill>
                  <a:srgbClr val="8B3A1F"/>
                </a:solidFill>
                <a:latin typeface="Georgia" pitchFamily="34" charset="0"/>
                <a:ea typeface="Georgia" pitchFamily="34" charset="-122"/>
                <a:cs typeface="Georgia" pitchFamily="34" charset="-120"/>
              </a:rPr>
              <a:t>REAL</a:t>
            </a:r>
            <a:endParaRPr lang="en-US" sz="2200" dirty="0"/>
          </a:p>
        </p:txBody>
      </p:sp>
      <p:sp>
        <p:nvSpPr>
          <p:cNvPr id="29" name="Text 26"/>
          <p:cNvSpPr/>
          <p:nvPr/>
        </p:nvSpPr>
        <p:spPr>
          <a:xfrm>
            <a:off x="7650328" y="4023360"/>
            <a:ext cx="1330909" cy="201168"/>
          </a:xfrm>
          <a:prstGeom prst="rect">
            <a:avLst/>
          </a:prstGeom>
          <a:noFill/>
          <a:ln/>
        </p:spPr>
        <p:txBody>
          <a:bodyPr wrap="square" lIns="0" tIns="0" rIns="0" bIns="0" rtlCol="0" anchor="ctr"/>
          <a:lstStyle/>
          <a:p>
            <a:pPr marL="0" indent="0" algn="ctr">
              <a:buNone/>
            </a:pPr>
            <a:r>
              <a:rPr lang="en-US" sz="800" kern="0" spc="300" dirty="0">
                <a:solidFill>
                  <a:srgbClr val="4A4742"/>
                </a:solidFill>
                <a:latin typeface="Consolas" pitchFamily="34" charset="0"/>
                <a:ea typeface="Consolas" pitchFamily="34" charset="-122"/>
                <a:cs typeface="Consolas" pitchFamily="34" charset="-120"/>
              </a:rPr>
              <a:t>PRECISION</a:t>
            </a:r>
            <a:endParaRPr lang="en-US" sz="800" dirty="0"/>
          </a:p>
        </p:txBody>
      </p:sp>
      <p:sp>
        <p:nvSpPr>
          <p:cNvPr id="30" name="Text 27"/>
          <p:cNvSpPr/>
          <p:nvPr/>
        </p:nvSpPr>
        <p:spPr>
          <a:xfrm>
            <a:off x="7650328" y="4224528"/>
            <a:ext cx="1330909" cy="411480"/>
          </a:xfrm>
          <a:prstGeom prst="rect">
            <a:avLst/>
          </a:prstGeom>
          <a:noFill/>
          <a:ln/>
        </p:spPr>
        <p:txBody>
          <a:bodyPr wrap="square" lIns="0" tIns="0" rIns="0" bIns="0" rtlCol="0" anchor="t"/>
          <a:lstStyle/>
          <a:p>
            <a:pPr marL="0" indent="0" algn="ctr">
              <a:buNone/>
            </a:pPr>
            <a:r>
              <a:rPr lang="en-US" sz="2200" dirty="0">
                <a:solidFill>
                  <a:srgbClr val="1A1915"/>
                </a:solidFill>
                <a:latin typeface="Georgia" pitchFamily="34" charset="0"/>
                <a:ea typeface="Georgia" pitchFamily="34" charset="-122"/>
                <a:cs typeface="Georgia" pitchFamily="34" charset="-120"/>
              </a:rPr>
              <a:t>86%</a:t>
            </a:r>
            <a:endParaRPr lang="en-US" sz="2200" dirty="0"/>
          </a:p>
        </p:txBody>
      </p:sp>
      <p:sp>
        <p:nvSpPr>
          <p:cNvPr id="31" name="Text 28"/>
          <p:cNvSpPr/>
          <p:nvPr/>
        </p:nvSpPr>
        <p:spPr>
          <a:xfrm>
            <a:off x="8981237" y="4023360"/>
            <a:ext cx="1330909" cy="201168"/>
          </a:xfrm>
          <a:prstGeom prst="rect">
            <a:avLst/>
          </a:prstGeom>
          <a:noFill/>
          <a:ln/>
        </p:spPr>
        <p:txBody>
          <a:bodyPr wrap="square" lIns="0" tIns="0" rIns="0" bIns="0" rtlCol="0" anchor="ctr"/>
          <a:lstStyle/>
          <a:p>
            <a:pPr marL="0" indent="0" algn="ctr">
              <a:buNone/>
            </a:pPr>
            <a:r>
              <a:rPr lang="en-US" sz="800" kern="0" spc="300" dirty="0">
                <a:solidFill>
                  <a:srgbClr val="4A4742"/>
                </a:solidFill>
                <a:latin typeface="Consolas" pitchFamily="34" charset="0"/>
                <a:ea typeface="Consolas" pitchFamily="34" charset="-122"/>
                <a:cs typeface="Consolas" pitchFamily="34" charset="-120"/>
              </a:rPr>
              <a:t>RECALL</a:t>
            </a:r>
            <a:endParaRPr lang="en-US" sz="800" dirty="0"/>
          </a:p>
        </p:txBody>
      </p:sp>
      <p:sp>
        <p:nvSpPr>
          <p:cNvPr id="32" name="Text 29"/>
          <p:cNvSpPr/>
          <p:nvPr/>
        </p:nvSpPr>
        <p:spPr>
          <a:xfrm>
            <a:off x="8981237" y="4224528"/>
            <a:ext cx="1330909" cy="411480"/>
          </a:xfrm>
          <a:prstGeom prst="rect">
            <a:avLst/>
          </a:prstGeom>
          <a:noFill/>
          <a:ln/>
        </p:spPr>
        <p:txBody>
          <a:bodyPr wrap="square" lIns="0" tIns="0" rIns="0" bIns="0" rtlCol="0" anchor="t"/>
          <a:lstStyle/>
          <a:p>
            <a:pPr marL="0" indent="0" algn="ctr">
              <a:buNone/>
            </a:pPr>
            <a:r>
              <a:rPr lang="en-US" sz="2200" dirty="0">
                <a:solidFill>
                  <a:srgbClr val="1A1915"/>
                </a:solidFill>
                <a:latin typeface="Georgia" pitchFamily="34" charset="0"/>
                <a:ea typeface="Georgia" pitchFamily="34" charset="-122"/>
                <a:cs typeface="Georgia" pitchFamily="34" charset="-120"/>
              </a:rPr>
              <a:t>96%</a:t>
            </a:r>
            <a:endParaRPr lang="en-US" sz="2200" dirty="0"/>
          </a:p>
        </p:txBody>
      </p:sp>
      <p:sp>
        <p:nvSpPr>
          <p:cNvPr id="33" name="Text 30"/>
          <p:cNvSpPr/>
          <p:nvPr/>
        </p:nvSpPr>
        <p:spPr>
          <a:xfrm>
            <a:off x="10312146" y="4023360"/>
            <a:ext cx="1330909" cy="201168"/>
          </a:xfrm>
          <a:prstGeom prst="rect">
            <a:avLst/>
          </a:prstGeom>
          <a:noFill/>
          <a:ln/>
        </p:spPr>
        <p:txBody>
          <a:bodyPr wrap="square" lIns="0" tIns="0" rIns="0" bIns="0" rtlCol="0" anchor="ctr"/>
          <a:lstStyle/>
          <a:p>
            <a:pPr marL="0" indent="0" algn="ctr">
              <a:buNone/>
            </a:pPr>
            <a:r>
              <a:rPr lang="en-US" sz="800" kern="0" spc="300" dirty="0">
                <a:solidFill>
                  <a:srgbClr val="4A4742"/>
                </a:solidFill>
                <a:latin typeface="Consolas" pitchFamily="34" charset="0"/>
                <a:ea typeface="Consolas" pitchFamily="34" charset="-122"/>
                <a:cs typeface="Consolas" pitchFamily="34" charset="-120"/>
              </a:rPr>
              <a:t>F1</a:t>
            </a:r>
            <a:endParaRPr lang="en-US" sz="800" dirty="0"/>
          </a:p>
        </p:txBody>
      </p:sp>
      <p:sp>
        <p:nvSpPr>
          <p:cNvPr id="34" name="Text 31"/>
          <p:cNvSpPr/>
          <p:nvPr/>
        </p:nvSpPr>
        <p:spPr>
          <a:xfrm>
            <a:off x="10312146" y="4224528"/>
            <a:ext cx="1330909" cy="411480"/>
          </a:xfrm>
          <a:prstGeom prst="rect">
            <a:avLst/>
          </a:prstGeom>
          <a:noFill/>
          <a:ln/>
        </p:spPr>
        <p:txBody>
          <a:bodyPr wrap="square" lIns="0" tIns="0" rIns="0" bIns="0" rtlCol="0" anchor="t"/>
          <a:lstStyle/>
          <a:p>
            <a:pPr marL="0" indent="0" algn="ctr">
              <a:buNone/>
            </a:pPr>
            <a:r>
              <a:rPr lang="en-US" sz="2200" dirty="0">
                <a:solidFill>
                  <a:srgbClr val="1A1915"/>
                </a:solidFill>
                <a:latin typeface="Georgia" pitchFamily="34" charset="0"/>
                <a:ea typeface="Georgia" pitchFamily="34" charset="-122"/>
                <a:cs typeface="Georgia" pitchFamily="34" charset="-120"/>
              </a:rPr>
              <a:t>0.91</a:t>
            </a:r>
            <a:endParaRPr lang="en-US" sz="2200" dirty="0"/>
          </a:p>
        </p:txBody>
      </p:sp>
      <p:sp>
        <p:nvSpPr>
          <p:cNvPr id="35" name="Shape 32"/>
          <p:cNvSpPr/>
          <p:nvPr/>
        </p:nvSpPr>
        <p:spPr>
          <a:xfrm>
            <a:off x="6278728" y="4800600"/>
            <a:ext cx="5364328" cy="0"/>
          </a:xfrm>
          <a:prstGeom prst="line">
            <a:avLst/>
          </a:prstGeom>
          <a:noFill/>
          <a:ln w="6350">
            <a:solidFill>
              <a:srgbClr val="D8D3C7"/>
            </a:solidFill>
            <a:prstDash val="solid"/>
          </a:ln>
        </p:spPr>
        <p:txBody>
          <a:bodyPr/>
          <a:lstStyle/>
          <a:p>
            <a:endParaRPr lang="en-US"/>
          </a:p>
        </p:txBody>
      </p:sp>
      <p:sp>
        <p:nvSpPr>
          <p:cNvPr id="36" name="Text 33"/>
          <p:cNvSpPr/>
          <p:nvPr/>
        </p:nvSpPr>
        <p:spPr>
          <a:xfrm>
            <a:off x="6278728" y="4937760"/>
            <a:ext cx="1280160" cy="548640"/>
          </a:xfrm>
          <a:prstGeom prst="rect">
            <a:avLst/>
          </a:prstGeom>
          <a:noFill/>
          <a:ln/>
        </p:spPr>
        <p:txBody>
          <a:bodyPr wrap="square" lIns="0" tIns="0" rIns="0" bIns="0" rtlCol="0" anchor="ctr"/>
          <a:lstStyle/>
          <a:p>
            <a:pPr marL="0" indent="0">
              <a:buNone/>
            </a:pPr>
            <a:r>
              <a:rPr lang="en-US" sz="2200" i="1" dirty="0">
                <a:solidFill>
                  <a:srgbClr val="8B3A1F"/>
                </a:solidFill>
                <a:latin typeface="Georgia" pitchFamily="34" charset="0"/>
                <a:ea typeface="Georgia" pitchFamily="34" charset="-122"/>
                <a:cs typeface="Georgia" pitchFamily="34" charset="-120"/>
              </a:rPr>
              <a:t>FAKE</a:t>
            </a:r>
            <a:endParaRPr lang="en-US" sz="2200" dirty="0"/>
          </a:p>
        </p:txBody>
      </p:sp>
      <p:sp>
        <p:nvSpPr>
          <p:cNvPr id="37" name="Text 34"/>
          <p:cNvSpPr/>
          <p:nvPr/>
        </p:nvSpPr>
        <p:spPr>
          <a:xfrm>
            <a:off x="7650328" y="4937760"/>
            <a:ext cx="1330909" cy="201168"/>
          </a:xfrm>
          <a:prstGeom prst="rect">
            <a:avLst/>
          </a:prstGeom>
          <a:noFill/>
          <a:ln/>
        </p:spPr>
        <p:txBody>
          <a:bodyPr wrap="square" lIns="0" tIns="0" rIns="0" bIns="0" rtlCol="0" anchor="ctr"/>
          <a:lstStyle/>
          <a:p>
            <a:pPr marL="0" indent="0" algn="ctr">
              <a:buNone/>
            </a:pPr>
            <a:r>
              <a:rPr lang="en-US" sz="800" kern="0" spc="300" dirty="0">
                <a:solidFill>
                  <a:srgbClr val="4A4742"/>
                </a:solidFill>
                <a:latin typeface="Consolas" pitchFamily="34" charset="0"/>
                <a:ea typeface="Consolas" pitchFamily="34" charset="-122"/>
                <a:cs typeface="Consolas" pitchFamily="34" charset="-120"/>
              </a:rPr>
              <a:t>PRECISION</a:t>
            </a:r>
            <a:endParaRPr lang="en-US" sz="800" dirty="0"/>
          </a:p>
        </p:txBody>
      </p:sp>
      <p:sp>
        <p:nvSpPr>
          <p:cNvPr id="38" name="Text 35"/>
          <p:cNvSpPr/>
          <p:nvPr/>
        </p:nvSpPr>
        <p:spPr>
          <a:xfrm>
            <a:off x="7650328" y="5138928"/>
            <a:ext cx="1330909" cy="411480"/>
          </a:xfrm>
          <a:prstGeom prst="rect">
            <a:avLst/>
          </a:prstGeom>
          <a:noFill/>
          <a:ln/>
        </p:spPr>
        <p:txBody>
          <a:bodyPr wrap="square" lIns="0" tIns="0" rIns="0" bIns="0" rtlCol="0" anchor="t"/>
          <a:lstStyle/>
          <a:p>
            <a:pPr marL="0" indent="0" algn="ctr">
              <a:buNone/>
            </a:pPr>
            <a:r>
              <a:rPr lang="en-US" sz="2200" dirty="0">
                <a:solidFill>
                  <a:srgbClr val="1A1915"/>
                </a:solidFill>
                <a:latin typeface="Georgia" pitchFamily="34" charset="0"/>
                <a:ea typeface="Georgia" pitchFamily="34" charset="-122"/>
                <a:cs typeface="Georgia" pitchFamily="34" charset="-120"/>
              </a:rPr>
              <a:t>96%</a:t>
            </a:r>
            <a:endParaRPr lang="en-US" sz="2200" dirty="0"/>
          </a:p>
        </p:txBody>
      </p:sp>
      <p:sp>
        <p:nvSpPr>
          <p:cNvPr id="39" name="Text 36"/>
          <p:cNvSpPr/>
          <p:nvPr/>
        </p:nvSpPr>
        <p:spPr>
          <a:xfrm>
            <a:off x="8981237" y="4937760"/>
            <a:ext cx="1330909" cy="201168"/>
          </a:xfrm>
          <a:prstGeom prst="rect">
            <a:avLst/>
          </a:prstGeom>
          <a:noFill/>
          <a:ln/>
        </p:spPr>
        <p:txBody>
          <a:bodyPr wrap="square" lIns="0" tIns="0" rIns="0" bIns="0" rtlCol="0" anchor="ctr"/>
          <a:lstStyle/>
          <a:p>
            <a:pPr marL="0" indent="0" algn="ctr">
              <a:buNone/>
            </a:pPr>
            <a:r>
              <a:rPr lang="en-US" sz="800" kern="0" spc="300" dirty="0">
                <a:solidFill>
                  <a:srgbClr val="4A4742"/>
                </a:solidFill>
                <a:latin typeface="Consolas" pitchFamily="34" charset="0"/>
                <a:ea typeface="Consolas" pitchFamily="34" charset="-122"/>
                <a:cs typeface="Consolas" pitchFamily="34" charset="-120"/>
              </a:rPr>
              <a:t>RECALL</a:t>
            </a:r>
            <a:endParaRPr lang="en-US" sz="800" dirty="0"/>
          </a:p>
        </p:txBody>
      </p:sp>
      <p:sp>
        <p:nvSpPr>
          <p:cNvPr id="40" name="Text 37"/>
          <p:cNvSpPr/>
          <p:nvPr/>
        </p:nvSpPr>
        <p:spPr>
          <a:xfrm>
            <a:off x="8981237" y="5138928"/>
            <a:ext cx="1330909" cy="411480"/>
          </a:xfrm>
          <a:prstGeom prst="rect">
            <a:avLst/>
          </a:prstGeom>
          <a:noFill/>
          <a:ln/>
        </p:spPr>
        <p:txBody>
          <a:bodyPr wrap="square" lIns="0" tIns="0" rIns="0" bIns="0" rtlCol="0" anchor="t"/>
          <a:lstStyle/>
          <a:p>
            <a:pPr marL="0" indent="0" algn="ctr">
              <a:buNone/>
            </a:pPr>
            <a:r>
              <a:rPr lang="en-US" sz="2200" dirty="0">
                <a:solidFill>
                  <a:srgbClr val="1A1915"/>
                </a:solidFill>
                <a:latin typeface="Georgia" pitchFamily="34" charset="0"/>
                <a:ea typeface="Georgia" pitchFamily="34" charset="-122"/>
                <a:cs typeface="Georgia" pitchFamily="34" charset="-120"/>
              </a:rPr>
              <a:t>84%</a:t>
            </a:r>
            <a:endParaRPr lang="en-US" sz="2200" dirty="0"/>
          </a:p>
        </p:txBody>
      </p:sp>
      <p:sp>
        <p:nvSpPr>
          <p:cNvPr id="41" name="Text 38"/>
          <p:cNvSpPr/>
          <p:nvPr/>
        </p:nvSpPr>
        <p:spPr>
          <a:xfrm>
            <a:off x="10312146" y="4937760"/>
            <a:ext cx="1330909" cy="201168"/>
          </a:xfrm>
          <a:prstGeom prst="rect">
            <a:avLst/>
          </a:prstGeom>
          <a:noFill/>
          <a:ln/>
        </p:spPr>
        <p:txBody>
          <a:bodyPr wrap="square" lIns="0" tIns="0" rIns="0" bIns="0" rtlCol="0" anchor="ctr"/>
          <a:lstStyle/>
          <a:p>
            <a:pPr marL="0" indent="0" algn="ctr">
              <a:buNone/>
            </a:pPr>
            <a:r>
              <a:rPr lang="en-US" sz="800" kern="0" spc="300" dirty="0">
                <a:solidFill>
                  <a:srgbClr val="4A4742"/>
                </a:solidFill>
                <a:latin typeface="Consolas" pitchFamily="34" charset="0"/>
                <a:ea typeface="Consolas" pitchFamily="34" charset="-122"/>
                <a:cs typeface="Consolas" pitchFamily="34" charset="-120"/>
              </a:rPr>
              <a:t>F1</a:t>
            </a:r>
            <a:endParaRPr lang="en-US" sz="800" dirty="0"/>
          </a:p>
        </p:txBody>
      </p:sp>
      <p:sp>
        <p:nvSpPr>
          <p:cNvPr id="42" name="Text 39"/>
          <p:cNvSpPr/>
          <p:nvPr/>
        </p:nvSpPr>
        <p:spPr>
          <a:xfrm>
            <a:off x="10312146" y="5138928"/>
            <a:ext cx="1330909" cy="411480"/>
          </a:xfrm>
          <a:prstGeom prst="rect">
            <a:avLst/>
          </a:prstGeom>
          <a:noFill/>
          <a:ln/>
        </p:spPr>
        <p:txBody>
          <a:bodyPr wrap="square" lIns="0" tIns="0" rIns="0" bIns="0" rtlCol="0" anchor="t"/>
          <a:lstStyle/>
          <a:p>
            <a:pPr marL="0" indent="0" algn="ctr">
              <a:buNone/>
            </a:pPr>
            <a:r>
              <a:rPr lang="en-US" sz="2200" dirty="0">
                <a:solidFill>
                  <a:srgbClr val="1A1915"/>
                </a:solidFill>
                <a:latin typeface="Georgia" pitchFamily="34" charset="0"/>
                <a:ea typeface="Georgia" pitchFamily="34" charset="-122"/>
                <a:cs typeface="Georgia" pitchFamily="34" charset="-120"/>
              </a:rPr>
              <a:t>0.89</a:t>
            </a:r>
            <a:endParaRPr lang="en-US" sz="2200" dirty="0"/>
          </a:p>
        </p:txBody>
      </p:sp>
      <p:sp>
        <p:nvSpPr>
          <p:cNvPr id="43" name="Text 22">
            <a:extLst>
              <a:ext uri="{FF2B5EF4-FFF2-40B4-BE49-F238E27FC236}">
                <a16:creationId xmlns:a16="http://schemas.microsoft.com/office/drawing/2014/main" id="{E6BF9E07-D3BE-FCDB-1425-1BE18139A1E7}"/>
              </a:ext>
            </a:extLst>
          </p:cNvPr>
          <p:cNvSpPr/>
          <p:nvPr/>
        </p:nvSpPr>
        <p:spPr>
          <a:xfrm>
            <a:off x="548640" y="1280159"/>
            <a:ext cx="5364328" cy="274320"/>
          </a:xfrm>
          <a:prstGeom prst="rect">
            <a:avLst/>
          </a:prstGeom>
          <a:noFill/>
          <a:ln/>
        </p:spPr>
        <p:txBody>
          <a:bodyPr wrap="square" lIns="0" tIns="0" rIns="0" bIns="0" rtlCol="0" anchor="ctr"/>
          <a:lstStyle/>
          <a:p>
            <a:r>
              <a:rPr lang="en-US" sz="800" dirty="0">
                <a:solidFill>
                  <a:srgbClr val="4A4742"/>
                </a:solidFill>
                <a:latin typeface="Consolas" pitchFamily="34" charset="0"/>
                <a:ea typeface="Consolas" pitchFamily="34" charset="-122"/>
                <a:cs typeface="Consolas" pitchFamily="34" charset="-120"/>
              </a:rPr>
              <a:t>Temperature = 0.20 · Max Claims = 3 </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09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06</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200" dirty="0">
                <a:solidFill>
                  <a:srgbClr val="1A1915"/>
                </a:solidFill>
                <a:latin typeface="Georgia" pitchFamily="34" charset="0"/>
                <a:ea typeface="Georgia" pitchFamily="34" charset="-122"/>
                <a:cs typeface="Georgia" pitchFamily="34" charset="-120"/>
              </a:rPr>
              <a:t>Why 90% doesn't tell the </a:t>
            </a:r>
            <a:r>
              <a:rPr lang="en-US" sz="3200" i="1" dirty="0">
                <a:solidFill>
                  <a:srgbClr val="8B3A1F"/>
                </a:solidFill>
                <a:latin typeface="Georgia" pitchFamily="34" charset="0"/>
                <a:ea typeface="Georgia" pitchFamily="34" charset="-122"/>
                <a:cs typeface="Georgia" pitchFamily="34" charset="-120"/>
              </a:rPr>
              <a:t>full story</a:t>
            </a:r>
            <a:endParaRPr lang="en-US" sz="32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828800"/>
            <a:ext cx="11094415" cy="1005840"/>
          </a:xfrm>
          <a:prstGeom prst="rect">
            <a:avLst/>
          </a:prstGeom>
          <a:solidFill>
            <a:srgbClr val="EDE6D7"/>
          </a:solidFill>
          <a:ln w="12700">
            <a:solidFill>
              <a:srgbClr val="EDE6D7"/>
            </a:solidFill>
            <a:prstDash val="solid"/>
          </a:ln>
        </p:spPr>
        <p:txBody>
          <a:bodyPr/>
          <a:lstStyle/>
          <a:p>
            <a:endParaRPr lang="en-US"/>
          </a:p>
        </p:txBody>
      </p:sp>
      <p:sp>
        <p:nvSpPr>
          <p:cNvPr id="7" name="Shape 5"/>
          <p:cNvSpPr/>
          <p:nvPr/>
        </p:nvSpPr>
        <p:spPr>
          <a:xfrm>
            <a:off x="548640" y="1828800"/>
            <a:ext cx="45720" cy="1005840"/>
          </a:xfrm>
          <a:prstGeom prst="rect">
            <a:avLst/>
          </a:prstGeom>
          <a:solidFill>
            <a:srgbClr val="8B3A1F"/>
          </a:solidFill>
          <a:ln w="12700">
            <a:solidFill>
              <a:srgbClr val="8B3A1F"/>
            </a:solidFill>
            <a:prstDash val="solid"/>
          </a:ln>
        </p:spPr>
        <p:txBody>
          <a:bodyPr/>
          <a:lstStyle/>
          <a:p>
            <a:endParaRPr lang="en-US"/>
          </a:p>
        </p:txBody>
      </p:sp>
      <p:sp>
        <p:nvSpPr>
          <p:cNvPr id="8" name="Text 6"/>
          <p:cNvSpPr/>
          <p:nvPr/>
        </p:nvSpPr>
        <p:spPr>
          <a:xfrm>
            <a:off x="822960" y="1828800"/>
            <a:ext cx="1188720" cy="1005840"/>
          </a:xfrm>
          <a:prstGeom prst="rect">
            <a:avLst/>
          </a:prstGeom>
          <a:noFill/>
          <a:ln/>
        </p:spPr>
        <p:txBody>
          <a:bodyPr wrap="square" lIns="0" tIns="0" rIns="0" bIns="0" rtlCol="0" anchor="ctr"/>
          <a:lstStyle/>
          <a:p>
            <a:pPr marL="0" indent="0">
              <a:buNone/>
            </a:pPr>
            <a:r>
              <a:rPr lang="en-US" sz="1400" kern="0" spc="400" dirty="0">
                <a:solidFill>
                  <a:srgbClr val="8B3A1F"/>
                </a:solidFill>
                <a:latin typeface="Consolas" pitchFamily="34" charset="0"/>
                <a:ea typeface="Consolas" pitchFamily="34" charset="-122"/>
                <a:cs typeface="Consolas" pitchFamily="34" charset="-120"/>
              </a:rPr>
              <a:t>CAUTION</a:t>
            </a:r>
            <a:endParaRPr lang="en-US" sz="1400" dirty="0"/>
          </a:p>
        </p:txBody>
      </p:sp>
      <p:sp>
        <p:nvSpPr>
          <p:cNvPr id="9" name="Text 7"/>
          <p:cNvSpPr/>
          <p:nvPr/>
        </p:nvSpPr>
        <p:spPr>
          <a:xfrm>
            <a:off x="2103120" y="1965960"/>
            <a:ext cx="9265615" cy="731520"/>
          </a:xfrm>
          <a:prstGeom prst="rect">
            <a:avLst/>
          </a:prstGeom>
          <a:noFill/>
          <a:ln/>
        </p:spPr>
        <p:txBody>
          <a:bodyPr wrap="square" lIns="0" tIns="0" rIns="0" bIns="0" rtlCol="0" anchor="ctr"/>
          <a:lstStyle/>
          <a:p>
            <a:pPr marL="0" indent="0">
              <a:buNone/>
            </a:pPr>
            <a:r>
              <a:rPr lang="en-US" sz="1400" dirty="0">
                <a:solidFill>
                  <a:srgbClr val="1A1915"/>
                </a:solidFill>
                <a:latin typeface="Georgia" pitchFamily="34" charset="0"/>
                <a:ea typeface="Georgia" pitchFamily="34" charset="-122"/>
                <a:cs typeface="Georgia" pitchFamily="34" charset="-120"/>
              </a:rPr>
              <a:t>WELFake covers US political news from 2015 to 2017, which is data the model almost certainly memorized during pretraining. </a:t>
            </a:r>
            <a:r>
              <a:rPr lang="en-US" sz="1400" b="1" i="1" dirty="0">
                <a:solidFill>
                  <a:srgbClr val="8B3A1F"/>
                </a:solidFill>
                <a:latin typeface="Georgia" pitchFamily="34" charset="0"/>
                <a:ea typeface="Georgia" pitchFamily="34" charset="-122"/>
                <a:cs typeface="Georgia" pitchFamily="34" charset="-120"/>
              </a:rPr>
              <a:t>Treat the 90% as an upper bound on contaminated data, not real-world performance.</a:t>
            </a:r>
            <a:endParaRPr lang="en-US" sz="1400" dirty="0"/>
          </a:p>
        </p:txBody>
      </p:sp>
      <p:sp>
        <p:nvSpPr>
          <p:cNvPr id="10" name="Shape 8"/>
          <p:cNvSpPr/>
          <p:nvPr/>
        </p:nvSpPr>
        <p:spPr>
          <a:xfrm>
            <a:off x="548640" y="3063240"/>
            <a:ext cx="5432908" cy="1508760"/>
          </a:xfrm>
          <a:prstGeom prst="rect">
            <a:avLst/>
          </a:prstGeom>
          <a:solidFill>
            <a:srgbClr val="F3EFE5"/>
          </a:solidFill>
          <a:ln w="12700">
            <a:solidFill>
              <a:srgbClr val="F3EFE5"/>
            </a:solidFill>
            <a:prstDash val="solid"/>
          </a:ln>
        </p:spPr>
        <p:txBody>
          <a:bodyPr/>
          <a:lstStyle/>
          <a:p>
            <a:endParaRPr lang="en-US"/>
          </a:p>
        </p:txBody>
      </p:sp>
      <p:sp>
        <p:nvSpPr>
          <p:cNvPr id="11" name="Shape 9"/>
          <p:cNvSpPr/>
          <p:nvPr/>
        </p:nvSpPr>
        <p:spPr>
          <a:xfrm>
            <a:off x="548640" y="3063240"/>
            <a:ext cx="45720" cy="1508760"/>
          </a:xfrm>
          <a:prstGeom prst="rect">
            <a:avLst/>
          </a:prstGeom>
          <a:solidFill>
            <a:srgbClr val="C47B5F"/>
          </a:solidFill>
          <a:ln w="12700">
            <a:solidFill>
              <a:srgbClr val="C47B5F"/>
            </a:solidFill>
            <a:prstDash val="solid"/>
          </a:ln>
        </p:spPr>
        <p:txBody>
          <a:bodyPr/>
          <a:lstStyle/>
          <a:p>
            <a:endParaRPr lang="en-US"/>
          </a:p>
        </p:txBody>
      </p:sp>
      <p:sp>
        <p:nvSpPr>
          <p:cNvPr id="12" name="Text 10"/>
          <p:cNvSpPr/>
          <p:nvPr/>
        </p:nvSpPr>
        <p:spPr>
          <a:xfrm>
            <a:off x="731520" y="3246120"/>
            <a:ext cx="5067148" cy="457200"/>
          </a:xfrm>
          <a:prstGeom prst="rect">
            <a:avLst/>
          </a:prstGeom>
          <a:noFill/>
          <a:ln/>
        </p:spPr>
        <p:txBody>
          <a:bodyPr wrap="square" lIns="0" tIns="0" rIns="0" bIns="0" rtlCol="0" anchor="ctr"/>
          <a:lstStyle/>
          <a:p>
            <a:pPr marL="0" indent="0">
              <a:buNone/>
            </a:pPr>
            <a:r>
              <a:rPr lang="en-US" sz="1700" b="1" dirty="0">
                <a:solidFill>
                  <a:srgbClr val="1A1915"/>
                </a:solidFill>
                <a:latin typeface="Georgia" pitchFamily="34" charset="0"/>
                <a:ea typeface="Georgia" pitchFamily="34" charset="-122"/>
                <a:cs typeface="Georgia" pitchFamily="34" charset="-120"/>
              </a:rPr>
              <a:t>Training data leakage</a:t>
            </a:r>
            <a:endParaRPr lang="en-US" sz="1700" dirty="0"/>
          </a:p>
        </p:txBody>
      </p:sp>
      <p:sp>
        <p:nvSpPr>
          <p:cNvPr id="13" name="Text 11"/>
          <p:cNvSpPr/>
          <p:nvPr/>
        </p:nvSpPr>
        <p:spPr>
          <a:xfrm>
            <a:off x="731520" y="3749040"/>
            <a:ext cx="5067148" cy="68580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WELFake's 2015 to 2017 articles were almost certainly in pretraining; the model is recognizing, not generalizing.</a:t>
            </a:r>
            <a:endParaRPr lang="en-US" sz="1300" dirty="0"/>
          </a:p>
        </p:txBody>
      </p:sp>
      <p:sp>
        <p:nvSpPr>
          <p:cNvPr id="14" name="Shape 12"/>
          <p:cNvSpPr/>
          <p:nvPr/>
        </p:nvSpPr>
        <p:spPr>
          <a:xfrm>
            <a:off x="6210148" y="3063240"/>
            <a:ext cx="5432908" cy="1508760"/>
          </a:xfrm>
          <a:prstGeom prst="rect">
            <a:avLst/>
          </a:prstGeom>
          <a:solidFill>
            <a:srgbClr val="F3EFE5"/>
          </a:solidFill>
          <a:ln w="12700">
            <a:solidFill>
              <a:srgbClr val="F3EFE5"/>
            </a:solidFill>
            <a:prstDash val="solid"/>
          </a:ln>
        </p:spPr>
        <p:txBody>
          <a:bodyPr/>
          <a:lstStyle/>
          <a:p>
            <a:endParaRPr lang="en-US"/>
          </a:p>
        </p:txBody>
      </p:sp>
      <p:sp>
        <p:nvSpPr>
          <p:cNvPr id="15" name="Shape 13"/>
          <p:cNvSpPr/>
          <p:nvPr/>
        </p:nvSpPr>
        <p:spPr>
          <a:xfrm>
            <a:off x="6210148" y="3063240"/>
            <a:ext cx="45720" cy="1508760"/>
          </a:xfrm>
          <a:prstGeom prst="rect">
            <a:avLst/>
          </a:prstGeom>
          <a:solidFill>
            <a:srgbClr val="C47B5F"/>
          </a:solidFill>
          <a:ln w="12700">
            <a:solidFill>
              <a:srgbClr val="C47B5F"/>
            </a:solidFill>
            <a:prstDash val="solid"/>
          </a:ln>
        </p:spPr>
        <p:txBody>
          <a:bodyPr/>
          <a:lstStyle/>
          <a:p>
            <a:endParaRPr lang="en-US"/>
          </a:p>
        </p:txBody>
      </p:sp>
      <p:sp>
        <p:nvSpPr>
          <p:cNvPr id="16" name="Text 14"/>
          <p:cNvSpPr/>
          <p:nvPr/>
        </p:nvSpPr>
        <p:spPr>
          <a:xfrm>
            <a:off x="6393028" y="3246120"/>
            <a:ext cx="5067148" cy="457200"/>
          </a:xfrm>
          <a:prstGeom prst="rect">
            <a:avLst/>
          </a:prstGeom>
          <a:noFill/>
          <a:ln/>
        </p:spPr>
        <p:txBody>
          <a:bodyPr wrap="square" lIns="0" tIns="0" rIns="0" bIns="0" rtlCol="0" anchor="ctr"/>
          <a:lstStyle/>
          <a:p>
            <a:pPr marL="0" indent="0">
              <a:buNone/>
            </a:pPr>
            <a:r>
              <a:rPr lang="en-US" sz="1700" b="1" dirty="0">
                <a:solidFill>
                  <a:srgbClr val="1A1915"/>
                </a:solidFill>
                <a:latin typeface="Georgia" pitchFamily="34" charset="0"/>
                <a:ea typeface="Georgia" pitchFamily="34" charset="-122"/>
                <a:cs typeface="Georgia" pitchFamily="34" charset="-120"/>
              </a:rPr>
              <a:t>Wikipedia search adds noise</a:t>
            </a:r>
            <a:endParaRPr lang="en-US" sz="1700" dirty="0"/>
          </a:p>
        </p:txBody>
      </p:sp>
      <p:sp>
        <p:nvSpPr>
          <p:cNvPr id="17" name="Text 15"/>
          <p:cNvSpPr/>
          <p:nvPr/>
        </p:nvSpPr>
        <p:spPr>
          <a:xfrm>
            <a:off x="6393028" y="3749040"/>
            <a:ext cx="5067148" cy="68580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When the answer is already memorized, retrieved context conflicts with internal knowledge and sometimes makes verdicts worse.</a:t>
            </a:r>
            <a:endParaRPr lang="en-US" sz="1300" dirty="0"/>
          </a:p>
        </p:txBody>
      </p:sp>
      <p:sp>
        <p:nvSpPr>
          <p:cNvPr id="18" name="Shape 16"/>
          <p:cNvSpPr/>
          <p:nvPr/>
        </p:nvSpPr>
        <p:spPr>
          <a:xfrm>
            <a:off x="548640" y="4800600"/>
            <a:ext cx="5432908" cy="1508760"/>
          </a:xfrm>
          <a:prstGeom prst="rect">
            <a:avLst/>
          </a:prstGeom>
          <a:solidFill>
            <a:srgbClr val="F3EFE5"/>
          </a:solidFill>
          <a:ln w="12700">
            <a:solidFill>
              <a:srgbClr val="F3EFE5"/>
            </a:solidFill>
            <a:prstDash val="solid"/>
          </a:ln>
        </p:spPr>
        <p:txBody>
          <a:bodyPr/>
          <a:lstStyle/>
          <a:p>
            <a:endParaRPr lang="en-US"/>
          </a:p>
        </p:txBody>
      </p:sp>
      <p:sp>
        <p:nvSpPr>
          <p:cNvPr id="19" name="Shape 17"/>
          <p:cNvSpPr/>
          <p:nvPr/>
        </p:nvSpPr>
        <p:spPr>
          <a:xfrm>
            <a:off x="548640" y="4800600"/>
            <a:ext cx="45720" cy="1508760"/>
          </a:xfrm>
          <a:prstGeom prst="rect">
            <a:avLst/>
          </a:prstGeom>
          <a:solidFill>
            <a:srgbClr val="C47B5F"/>
          </a:solidFill>
          <a:ln w="12700">
            <a:solidFill>
              <a:srgbClr val="C47B5F"/>
            </a:solidFill>
            <a:prstDash val="solid"/>
          </a:ln>
        </p:spPr>
        <p:txBody>
          <a:bodyPr/>
          <a:lstStyle/>
          <a:p>
            <a:endParaRPr lang="en-US"/>
          </a:p>
        </p:txBody>
      </p:sp>
      <p:sp>
        <p:nvSpPr>
          <p:cNvPr id="20" name="Text 18"/>
          <p:cNvSpPr/>
          <p:nvPr/>
        </p:nvSpPr>
        <p:spPr>
          <a:xfrm>
            <a:off x="731520" y="4983480"/>
            <a:ext cx="5067148" cy="457200"/>
          </a:xfrm>
          <a:prstGeom prst="rect">
            <a:avLst/>
          </a:prstGeom>
          <a:noFill/>
          <a:ln/>
        </p:spPr>
        <p:txBody>
          <a:bodyPr wrap="square" lIns="0" tIns="0" rIns="0" bIns="0" rtlCol="0" anchor="ctr"/>
          <a:lstStyle/>
          <a:p>
            <a:pPr marL="0" indent="0">
              <a:buNone/>
            </a:pPr>
            <a:r>
              <a:rPr lang="en-US" sz="1700" b="1" dirty="0">
                <a:solidFill>
                  <a:srgbClr val="1A1915"/>
                </a:solidFill>
                <a:latin typeface="Georgia" pitchFamily="34" charset="0"/>
                <a:ea typeface="Georgia" pitchFamily="34" charset="-122"/>
                <a:cs typeface="Georgia" pitchFamily="34" charset="-120"/>
              </a:rPr>
              <a:t>Smaller model overthinks less</a:t>
            </a:r>
            <a:endParaRPr lang="en-US" sz="1700" dirty="0"/>
          </a:p>
        </p:txBody>
      </p:sp>
      <p:sp>
        <p:nvSpPr>
          <p:cNvPr id="21" name="Text 19"/>
          <p:cNvSpPr/>
          <p:nvPr/>
        </p:nvSpPr>
        <p:spPr>
          <a:xfrm>
            <a:off x="731520" y="5486400"/>
            <a:ext cx="5067148" cy="68580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Qwen2.5:3b beat 7b not because it is smarter, but because it pattern-matches without hedging itself out of the right answer.</a:t>
            </a:r>
            <a:endParaRPr lang="en-US" sz="1300" dirty="0"/>
          </a:p>
        </p:txBody>
      </p:sp>
      <p:sp>
        <p:nvSpPr>
          <p:cNvPr id="22" name="Shape 20"/>
          <p:cNvSpPr/>
          <p:nvPr/>
        </p:nvSpPr>
        <p:spPr>
          <a:xfrm>
            <a:off x="6210148" y="4800600"/>
            <a:ext cx="5432908" cy="1508760"/>
          </a:xfrm>
          <a:prstGeom prst="rect">
            <a:avLst/>
          </a:prstGeom>
          <a:solidFill>
            <a:srgbClr val="F3EFE5"/>
          </a:solidFill>
          <a:ln w="12700">
            <a:solidFill>
              <a:srgbClr val="F3EFE5"/>
            </a:solidFill>
            <a:prstDash val="solid"/>
          </a:ln>
        </p:spPr>
        <p:txBody>
          <a:bodyPr/>
          <a:lstStyle/>
          <a:p>
            <a:endParaRPr lang="en-US"/>
          </a:p>
        </p:txBody>
      </p:sp>
      <p:sp>
        <p:nvSpPr>
          <p:cNvPr id="23" name="Shape 21"/>
          <p:cNvSpPr/>
          <p:nvPr/>
        </p:nvSpPr>
        <p:spPr>
          <a:xfrm>
            <a:off x="6210148" y="4800600"/>
            <a:ext cx="45720" cy="1508760"/>
          </a:xfrm>
          <a:prstGeom prst="rect">
            <a:avLst/>
          </a:prstGeom>
          <a:solidFill>
            <a:srgbClr val="C47B5F"/>
          </a:solidFill>
          <a:ln w="12700">
            <a:solidFill>
              <a:srgbClr val="C47B5F"/>
            </a:solidFill>
            <a:prstDash val="solid"/>
          </a:ln>
        </p:spPr>
        <p:txBody>
          <a:bodyPr/>
          <a:lstStyle/>
          <a:p>
            <a:endParaRPr lang="en-US"/>
          </a:p>
        </p:txBody>
      </p:sp>
      <p:sp>
        <p:nvSpPr>
          <p:cNvPr id="24" name="Text 22"/>
          <p:cNvSpPr/>
          <p:nvPr/>
        </p:nvSpPr>
        <p:spPr>
          <a:xfrm>
            <a:off x="6393028" y="4983480"/>
            <a:ext cx="5067148" cy="457200"/>
          </a:xfrm>
          <a:prstGeom prst="rect">
            <a:avLst/>
          </a:prstGeom>
          <a:noFill/>
          <a:ln/>
        </p:spPr>
        <p:txBody>
          <a:bodyPr wrap="square" lIns="0" tIns="0" rIns="0" bIns="0" rtlCol="0" anchor="ctr"/>
          <a:lstStyle/>
          <a:p>
            <a:pPr marL="0" indent="0">
              <a:buNone/>
            </a:pPr>
            <a:r>
              <a:rPr lang="en-US" sz="1700" b="1" dirty="0">
                <a:solidFill>
                  <a:srgbClr val="1A1915"/>
                </a:solidFill>
                <a:latin typeface="Georgia" pitchFamily="34" charset="0"/>
                <a:ea typeface="Georgia" pitchFamily="34" charset="-122"/>
                <a:cs typeface="Georgia" pitchFamily="34" charset="-120"/>
              </a:rPr>
              <a:t>No clean post-2024 dataset</a:t>
            </a:r>
            <a:endParaRPr lang="en-US" sz="1700" dirty="0"/>
          </a:p>
        </p:txBody>
      </p:sp>
      <p:sp>
        <p:nvSpPr>
          <p:cNvPr id="25" name="Text 23"/>
          <p:cNvSpPr/>
          <p:nvPr/>
        </p:nvSpPr>
        <p:spPr>
          <a:xfrm>
            <a:off x="6393028" y="5486400"/>
            <a:ext cx="5067148" cy="685800"/>
          </a:xfrm>
          <a:prstGeom prst="rect">
            <a:avLst/>
          </a:prstGeom>
          <a:noFill/>
          <a:ln/>
        </p:spPr>
        <p:txBody>
          <a:bodyPr wrap="square" lIns="0" tIns="0" rIns="0" bIns="0" rtlCol="0" anchor="t"/>
          <a:lstStyle/>
          <a:p>
            <a:pPr marL="0" indent="0">
              <a:buNone/>
            </a:pPr>
            <a:r>
              <a:rPr lang="en-US" sz="1300" dirty="0">
                <a:solidFill>
                  <a:srgbClr val="1A1915"/>
                </a:solidFill>
                <a:latin typeface="Georgia" pitchFamily="34" charset="0"/>
                <a:ea typeface="Georgia" pitchFamily="34" charset="-122"/>
                <a:cs typeface="Georgia" pitchFamily="34" charset="-120"/>
              </a:rPr>
              <a:t>The obvious Kaggle alternative turned out to be synthetic, template-generated articles. A truly held-out test set is hard to build.</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10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07</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3600" dirty="0">
                <a:solidFill>
                  <a:srgbClr val="1A1915"/>
                </a:solidFill>
                <a:latin typeface="Georgia" pitchFamily="34" charset="0"/>
                <a:ea typeface="Georgia" pitchFamily="34" charset="-122"/>
                <a:cs typeface="Georgia" pitchFamily="34" charset="-120"/>
              </a:rPr>
              <a:t>Key Lessons </a:t>
            </a:r>
            <a:r>
              <a:rPr lang="en-US" sz="3600" i="1" dirty="0">
                <a:solidFill>
                  <a:srgbClr val="8B3A1F"/>
                </a:solidFill>
                <a:latin typeface="Georgia" pitchFamily="34" charset="0"/>
                <a:ea typeface="Georgia" pitchFamily="34" charset="-122"/>
                <a:cs typeface="Georgia" pitchFamily="34" charset="-120"/>
              </a:rPr>
              <a:t>Learned</a:t>
            </a:r>
            <a:endParaRPr lang="en-US" sz="36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828800"/>
            <a:ext cx="5432908" cy="2217420"/>
          </a:xfrm>
          <a:prstGeom prst="rect">
            <a:avLst/>
          </a:prstGeom>
          <a:solidFill>
            <a:srgbClr val="F3EFE5"/>
          </a:solidFill>
          <a:ln w="12700">
            <a:solidFill>
              <a:srgbClr val="F3EFE5"/>
            </a:solidFill>
            <a:prstDash val="solid"/>
          </a:ln>
        </p:spPr>
        <p:txBody>
          <a:bodyPr/>
          <a:lstStyle/>
          <a:p>
            <a:endParaRPr lang="en-US"/>
          </a:p>
        </p:txBody>
      </p:sp>
      <p:sp>
        <p:nvSpPr>
          <p:cNvPr id="7" name="Shape 5"/>
          <p:cNvSpPr/>
          <p:nvPr/>
        </p:nvSpPr>
        <p:spPr>
          <a:xfrm>
            <a:off x="548640" y="1828800"/>
            <a:ext cx="5432908" cy="36576"/>
          </a:xfrm>
          <a:prstGeom prst="rect">
            <a:avLst/>
          </a:prstGeom>
          <a:solidFill>
            <a:srgbClr val="8B3A1F"/>
          </a:solidFill>
          <a:ln w="12700">
            <a:solidFill>
              <a:srgbClr val="8B3A1F"/>
            </a:solidFill>
            <a:prstDash val="solid"/>
          </a:ln>
        </p:spPr>
        <p:txBody>
          <a:bodyPr/>
          <a:lstStyle/>
          <a:p>
            <a:endParaRPr lang="en-US"/>
          </a:p>
        </p:txBody>
      </p:sp>
      <p:sp>
        <p:nvSpPr>
          <p:cNvPr id="8" name="Text 6"/>
          <p:cNvSpPr/>
          <p:nvPr/>
        </p:nvSpPr>
        <p:spPr>
          <a:xfrm>
            <a:off x="777240" y="2011680"/>
            <a:ext cx="914400" cy="640080"/>
          </a:xfrm>
          <a:prstGeom prst="rect">
            <a:avLst/>
          </a:prstGeom>
          <a:noFill/>
          <a:ln/>
        </p:spPr>
        <p:txBody>
          <a:bodyPr wrap="square" lIns="0" tIns="0" rIns="0" bIns="0" rtlCol="0" anchor="t"/>
          <a:lstStyle/>
          <a:p>
            <a:pPr marL="0" indent="0">
              <a:buNone/>
            </a:pPr>
            <a:r>
              <a:rPr lang="en-US" sz="3600" dirty="0">
                <a:solidFill>
                  <a:srgbClr val="8B3A1F"/>
                </a:solidFill>
                <a:latin typeface="Georgia" pitchFamily="34" charset="0"/>
                <a:ea typeface="Georgia" pitchFamily="34" charset="-122"/>
                <a:cs typeface="Georgia" pitchFamily="34" charset="-120"/>
              </a:rPr>
              <a:t>01</a:t>
            </a:r>
            <a:endParaRPr lang="en-US" sz="3600" dirty="0"/>
          </a:p>
        </p:txBody>
      </p:sp>
      <p:sp>
        <p:nvSpPr>
          <p:cNvPr id="9" name="Text 7"/>
          <p:cNvSpPr/>
          <p:nvPr/>
        </p:nvSpPr>
        <p:spPr>
          <a:xfrm>
            <a:off x="1600200" y="2057400"/>
            <a:ext cx="4198468" cy="777240"/>
          </a:xfrm>
          <a:prstGeom prst="rect">
            <a:avLst/>
          </a:prstGeom>
          <a:noFill/>
          <a:ln/>
        </p:spPr>
        <p:txBody>
          <a:bodyPr wrap="square" lIns="0" tIns="0" rIns="0" bIns="0" rtlCol="0" anchor="t"/>
          <a:lstStyle/>
          <a:p>
            <a:pPr marL="0" indent="0">
              <a:buNone/>
            </a:pPr>
            <a:r>
              <a:rPr lang="en-US" sz="1600" b="1" dirty="0">
                <a:solidFill>
                  <a:srgbClr val="1A1915"/>
                </a:solidFill>
                <a:latin typeface="Georgia" pitchFamily="34" charset="0"/>
                <a:ea typeface="Georgia" pitchFamily="34" charset="-122"/>
                <a:cs typeface="Georgia" pitchFamily="34" charset="-120"/>
              </a:rPr>
              <a:t>Use Python for arithmetic, not LLMs</a:t>
            </a:r>
            <a:endParaRPr lang="en-US" sz="1600" dirty="0"/>
          </a:p>
        </p:txBody>
      </p:sp>
      <p:sp>
        <p:nvSpPr>
          <p:cNvPr id="10" name="Text 8"/>
          <p:cNvSpPr/>
          <p:nvPr/>
        </p:nvSpPr>
        <p:spPr>
          <a:xfrm>
            <a:off x="1600200" y="2926080"/>
            <a:ext cx="4198468" cy="982980"/>
          </a:xfrm>
          <a:prstGeom prst="rect">
            <a:avLst/>
          </a:prstGeom>
          <a:noFill/>
          <a:ln/>
        </p:spPr>
        <p:txBody>
          <a:bodyPr wrap="square" lIns="0" tIns="0" rIns="0" bIns="0" rtlCol="0" anchor="t"/>
          <a:lstStyle/>
          <a:p>
            <a:pPr marL="0" indent="0">
              <a:buNone/>
            </a:pPr>
            <a:r>
              <a:rPr lang="en-US" sz="1200" dirty="0">
                <a:solidFill>
                  <a:srgbClr val="1A1915"/>
                </a:solidFill>
                <a:latin typeface="Georgia" pitchFamily="34" charset="0"/>
                <a:ea typeface="Georgia" pitchFamily="34" charset="-122"/>
                <a:cs typeface="Georgia" pitchFamily="34" charset="-120"/>
              </a:rPr>
              <a:t>Never let an agent decide a numerical score. Extract scoring to _compute_verdict() in Python for guaranteed reproducibility, and let the LLM produce only the human-readable explanation.</a:t>
            </a:r>
            <a:endParaRPr lang="en-US" sz="1200" dirty="0"/>
          </a:p>
        </p:txBody>
      </p:sp>
      <p:sp>
        <p:nvSpPr>
          <p:cNvPr id="11" name="Shape 9"/>
          <p:cNvSpPr/>
          <p:nvPr/>
        </p:nvSpPr>
        <p:spPr>
          <a:xfrm>
            <a:off x="6210148" y="1828800"/>
            <a:ext cx="5432908" cy="2217420"/>
          </a:xfrm>
          <a:prstGeom prst="rect">
            <a:avLst/>
          </a:prstGeom>
          <a:solidFill>
            <a:srgbClr val="F3EFE5"/>
          </a:solidFill>
          <a:ln w="12700">
            <a:solidFill>
              <a:srgbClr val="F3EFE5"/>
            </a:solidFill>
            <a:prstDash val="solid"/>
          </a:ln>
        </p:spPr>
        <p:txBody>
          <a:bodyPr/>
          <a:lstStyle/>
          <a:p>
            <a:endParaRPr lang="en-US"/>
          </a:p>
        </p:txBody>
      </p:sp>
      <p:sp>
        <p:nvSpPr>
          <p:cNvPr id="12" name="Shape 10"/>
          <p:cNvSpPr/>
          <p:nvPr/>
        </p:nvSpPr>
        <p:spPr>
          <a:xfrm>
            <a:off x="6210148" y="1828800"/>
            <a:ext cx="5432908" cy="36576"/>
          </a:xfrm>
          <a:prstGeom prst="rect">
            <a:avLst/>
          </a:prstGeom>
          <a:solidFill>
            <a:srgbClr val="8B3A1F"/>
          </a:solidFill>
          <a:ln w="12700">
            <a:solidFill>
              <a:srgbClr val="8B3A1F"/>
            </a:solidFill>
            <a:prstDash val="solid"/>
          </a:ln>
        </p:spPr>
        <p:txBody>
          <a:bodyPr/>
          <a:lstStyle/>
          <a:p>
            <a:endParaRPr lang="en-US"/>
          </a:p>
        </p:txBody>
      </p:sp>
      <p:sp>
        <p:nvSpPr>
          <p:cNvPr id="13" name="Text 11"/>
          <p:cNvSpPr/>
          <p:nvPr/>
        </p:nvSpPr>
        <p:spPr>
          <a:xfrm>
            <a:off x="6438748" y="2011680"/>
            <a:ext cx="914400" cy="640080"/>
          </a:xfrm>
          <a:prstGeom prst="rect">
            <a:avLst/>
          </a:prstGeom>
          <a:noFill/>
          <a:ln/>
        </p:spPr>
        <p:txBody>
          <a:bodyPr wrap="square" lIns="0" tIns="0" rIns="0" bIns="0" rtlCol="0" anchor="t"/>
          <a:lstStyle/>
          <a:p>
            <a:pPr marL="0" indent="0">
              <a:buNone/>
            </a:pPr>
            <a:r>
              <a:rPr lang="en-US" sz="3600" dirty="0">
                <a:solidFill>
                  <a:srgbClr val="8B3A1F"/>
                </a:solidFill>
                <a:latin typeface="Georgia" pitchFamily="34" charset="0"/>
                <a:ea typeface="Georgia" pitchFamily="34" charset="-122"/>
                <a:cs typeface="Georgia" pitchFamily="34" charset="-120"/>
              </a:rPr>
              <a:t>02</a:t>
            </a:r>
            <a:endParaRPr lang="en-US" sz="3600" dirty="0"/>
          </a:p>
        </p:txBody>
      </p:sp>
      <p:sp>
        <p:nvSpPr>
          <p:cNvPr id="14" name="Text 12"/>
          <p:cNvSpPr/>
          <p:nvPr/>
        </p:nvSpPr>
        <p:spPr>
          <a:xfrm>
            <a:off x="7261708" y="2057400"/>
            <a:ext cx="4198468" cy="777240"/>
          </a:xfrm>
          <a:prstGeom prst="rect">
            <a:avLst/>
          </a:prstGeom>
          <a:noFill/>
          <a:ln/>
        </p:spPr>
        <p:txBody>
          <a:bodyPr wrap="square" lIns="0" tIns="0" rIns="0" bIns="0" rtlCol="0" anchor="t"/>
          <a:lstStyle/>
          <a:p>
            <a:pPr marL="0" indent="0">
              <a:buNone/>
            </a:pPr>
            <a:r>
              <a:rPr lang="en-US" sz="1600" b="1" dirty="0">
                <a:solidFill>
                  <a:srgbClr val="1A1915"/>
                </a:solidFill>
                <a:latin typeface="Georgia" pitchFamily="34" charset="0"/>
                <a:ea typeface="Georgia" pitchFamily="34" charset="-122"/>
                <a:cs typeface="Georgia" pitchFamily="34" charset="-120"/>
              </a:rPr>
              <a:t>Split search and synthesis into two tasks</a:t>
            </a:r>
            <a:endParaRPr lang="en-US" sz="1600" dirty="0"/>
          </a:p>
        </p:txBody>
      </p:sp>
      <p:sp>
        <p:nvSpPr>
          <p:cNvPr id="15" name="Text 13"/>
          <p:cNvSpPr/>
          <p:nvPr/>
        </p:nvSpPr>
        <p:spPr>
          <a:xfrm>
            <a:off x="7261708" y="2926080"/>
            <a:ext cx="4198468" cy="982980"/>
          </a:xfrm>
          <a:prstGeom prst="rect">
            <a:avLst/>
          </a:prstGeom>
          <a:noFill/>
          <a:ln/>
        </p:spPr>
        <p:txBody>
          <a:bodyPr wrap="square" lIns="0" tIns="0" rIns="0" bIns="0" rtlCol="0" anchor="t"/>
          <a:lstStyle/>
          <a:p>
            <a:pPr marL="0" indent="0">
              <a:buNone/>
            </a:pPr>
            <a:r>
              <a:rPr lang="en-US" sz="1200" dirty="0">
                <a:solidFill>
                  <a:srgbClr val="1A1915"/>
                </a:solidFill>
                <a:latin typeface="Georgia" pitchFamily="34" charset="0"/>
                <a:ea typeface="Georgia" pitchFamily="34" charset="-122"/>
                <a:cs typeface="Georgia" pitchFamily="34" charset="-120"/>
              </a:rPr>
              <a:t>output_pydantic on a search task makes agents skip tool calls entirely. Use one task to search with plain text output, then a separate task to produce structured output from the search results.</a:t>
            </a:r>
            <a:endParaRPr lang="en-US" sz="1200" dirty="0"/>
          </a:p>
        </p:txBody>
      </p:sp>
      <p:sp>
        <p:nvSpPr>
          <p:cNvPr id="16" name="Shape 14"/>
          <p:cNvSpPr/>
          <p:nvPr/>
        </p:nvSpPr>
        <p:spPr>
          <a:xfrm>
            <a:off x="548640" y="4274820"/>
            <a:ext cx="5432908" cy="2217420"/>
          </a:xfrm>
          <a:prstGeom prst="rect">
            <a:avLst/>
          </a:prstGeom>
          <a:solidFill>
            <a:srgbClr val="F3EFE5"/>
          </a:solidFill>
          <a:ln w="12700">
            <a:solidFill>
              <a:srgbClr val="F3EFE5"/>
            </a:solidFill>
            <a:prstDash val="solid"/>
          </a:ln>
        </p:spPr>
        <p:txBody>
          <a:bodyPr/>
          <a:lstStyle/>
          <a:p>
            <a:endParaRPr lang="en-US"/>
          </a:p>
        </p:txBody>
      </p:sp>
      <p:sp>
        <p:nvSpPr>
          <p:cNvPr id="17" name="Shape 15"/>
          <p:cNvSpPr/>
          <p:nvPr/>
        </p:nvSpPr>
        <p:spPr>
          <a:xfrm>
            <a:off x="548640" y="4274820"/>
            <a:ext cx="5432908" cy="36576"/>
          </a:xfrm>
          <a:prstGeom prst="rect">
            <a:avLst/>
          </a:prstGeom>
          <a:solidFill>
            <a:srgbClr val="8B3A1F"/>
          </a:solidFill>
          <a:ln w="12700">
            <a:solidFill>
              <a:srgbClr val="8B3A1F"/>
            </a:solidFill>
            <a:prstDash val="solid"/>
          </a:ln>
        </p:spPr>
        <p:txBody>
          <a:bodyPr/>
          <a:lstStyle/>
          <a:p>
            <a:endParaRPr lang="en-US"/>
          </a:p>
        </p:txBody>
      </p:sp>
      <p:sp>
        <p:nvSpPr>
          <p:cNvPr id="18" name="Text 16"/>
          <p:cNvSpPr/>
          <p:nvPr/>
        </p:nvSpPr>
        <p:spPr>
          <a:xfrm>
            <a:off x="777240" y="4457700"/>
            <a:ext cx="914400" cy="640080"/>
          </a:xfrm>
          <a:prstGeom prst="rect">
            <a:avLst/>
          </a:prstGeom>
          <a:noFill/>
          <a:ln/>
        </p:spPr>
        <p:txBody>
          <a:bodyPr wrap="square" lIns="0" tIns="0" rIns="0" bIns="0" rtlCol="0" anchor="t"/>
          <a:lstStyle/>
          <a:p>
            <a:pPr marL="0" indent="0">
              <a:buNone/>
            </a:pPr>
            <a:r>
              <a:rPr lang="en-US" sz="3600" dirty="0">
                <a:solidFill>
                  <a:srgbClr val="8B3A1F"/>
                </a:solidFill>
                <a:latin typeface="Georgia" pitchFamily="34" charset="0"/>
                <a:ea typeface="Georgia" pitchFamily="34" charset="-122"/>
                <a:cs typeface="Georgia" pitchFamily="34" charset="-120"/>
              </a:rPr>
              <a:t>03</a:t>
            </a:r>
            <a:endParaRPr lang="en-US" sz="3600" dirty="0"/>
          </a:p>
        </p:txBody>
      </p:sp>
      <p:sp>
        <p:nvSpPr>
          <p:cNvPr id="19" name="Text 17"/>
          <p:cNvSpPr/>
          <p:nvPr/>
        </p:nvSpPr>
        <p:spPr>
          <a:xfrm>
            <a:off x="1600200" y="4503420"/>
            <a:ext cx="4198468" cy="777240"/>
          </a:xfrm>
          <a:prstGeom prst="rect">
            <a:avLst/>
          </a:prstGeom>
          <a:noFill/>
          <a:ln/>
        </p:spPr>
        <p:txBody>
          <a:bodyPr wrap="square" lIns="0" tIns="0" rIns="0" bIns="0" rtlCol="0" anchor="t"/>
          <a:lstStyle/>
          <a:p>
            <a:pPr marL="0" indent="0">
              <a:buNone/>
            </a:pPr>
            <a:r>
              <a:rPr lang="en-US" sz="1600" b="1" dirty="0">
                <a:solidFill>
                  <a:srgbClr val="1A1915"/>
                </a:solidFill>
                <a:latin typeface="Georgia" pitchFamily="34" charset="0"/>
                <a:ea typeface="Georgia" pitchFamily="34" charset="-122"/>
                <a:cs typeface="Georgia" pitchFamily="34" charset="-120"/>
              </a:rPr>
              <a:t>Bias signal is the most reliable feature</a:t>
            </a:r>
            <a:endParaRPr lang="en-US" sz="1600" dirty="0"/>
          </a:p>
        </p:txBody>
      </p:sp>
      <p:sp>
        <p:nvSpPr>
          <p:cNvPr id="20" name="Text 18"/>
          <p:cNvSpPr/>
          <p:nvPr/>
        </p:nvSpPr>
        <p:spPr>
          <a:xfrm>
            <a:off x="1600200" y="5372100"/>
            <a:ext cx="4198468" cy="982980"/>
          </a:xfrm>
          <a:prstGeom prst="rect">
            <a:avLst/>
          </a:prstGeom>
          <a:noFill/>
          <a:ln/>
        </p:spPr>
        <p:txBody>
          <a:bodyPr wrap="square" lIns="0" tIns="0" rIns="0" bIns="0" rtlCol="0" anchor="t"/>
          <a:lstStyle/>
          <a:p>
            <a:pPr marL="0" indent="0">
              <a:buNone/>
            </a:pPr>
            <a:r>
              <a:rPr lang="en-US" sz="1200" dirty="0">
                <a:solidFill>
                  <a:srgbClr val="1A1915"/>
                </a:solidFill>
                <a:latin typeface="Georgia" pitchFamily="34" charset="0"/>
                <a:ea typeface="Georgia" pitchFamily="34" charset="-122"/>
                <a:cs typeface="Georgia" pitchFamily="34" charset="-120"/>
              </a:rPr>
              <a:t>When tool calling fails on local models, the Bias Detector carries most of the weight. Fake news tends to use inflammatory language and one-sided framing that the model detects reliably without any web access.</a:t>
            </a:r>
            <a:endParaRPr lang="en-US" sz="1200" dirty="0"/>
          </a:p>
        </p:txBody>
      </p:sp>
      <p:sp>
        <p:nvSpPr>
          <p:cNvPr id="21" name="Shape 19"/>
          <p:cNvSpPr/>
          <p:nvPr/>
        </p:nvSpPr>
        <p:spPr>
          <a:xfrm>
            <a:off x="6210148" y="4274820"/>
            <a:ext cx="5432908" cy="2217420"/>
          </a:xfrm>
          <a:prstGeom prst="rect">
            <a:avLst/>
          </a:prstGeom>
          <a:solidFill>
            <a:srgbClr val="F3EFE5"/>
          </a:solidFill>
          <a:ln w="12700">
            <a:solidFill>
              <a:srgbClr val="F3EFE5"/>
            </a:solidFill>
            <a:prstDash val="solid"/>
          </a:ln>
        </p:spPr>
        <p:txBody>
          <a:bodyPr/>
          <a:lstStyle/>
          <a:p>
            <a:endParaRPr lang="en-US"/>
          </a:p>
        </p:txBody>
      </p:sp>
      <p:sp>
        <p:nvSpPr>
          <p:cNvPr id="22" name="Shape 20"/>
          <p:cNvSpPr/>
          <p:nvPr/>
        </p:nvSpPr>
        <p:spPr>
          <a:xfrm>
            <a:off x="6210148" y="4274820"/>
            <a:ext cx="5432908" cy="36576"/>
          </a:xfrm>
          <a:prstGeom prst="rect">
            <a:avLst/>
          </a:prstGeom>
          <a:solidFill>
            <a:srgbClr val="8B3A1F"/>
          </a:solidFill>
          <a:ln w="12700">
            <a:solidFill>
              <a:srgbClr val="8B3A1F"/>
            </a:solidFill>
            <a:prstDash val="solid"/>
          </a:ln>
        </p:spPr>
        <p:txBody>
          <a:bodyPr/>
          <a:lstStyle/>
          <a:p>
            <a:endParaRPr lang="en-US"/>
          </a:p>
        </p:txBody>
      </p:sp>
      <p:sp>
        <p:nvSpPr>
          <p:cNvPr id="23" name="Text 21"/>
          <p:cNvSpPr/>
          <p:nvPr/>
        </p:nvSpPr>
        <p:spPr>
          <a:xfrm>
            <a:off x="6438748" y="4457700"/>
            <a:ext cx="914400" cy="640080"/>
          </a:xfrm>
          <a:prstGeom prst="rect">
            <a:avLst/>
          </a:prstGeom>
          <a:noFill/>
          <a:ln/>
        </p:spPr>
        <p:txBody>
          <a:bodyPr wrap="square" lIns="0" tIns="0" rIns="0" bIns="0" rtlCol="0" anchor="t"/>
          <a:lstStyle/>
          <a:p>
            <a:pPr marL="0" indent="0">
              <a:buNone/>
            </a:pPr>
            <a:r>
              <a:rPr lang="en-US" sz="3600" dirty="0">
                <a:solidFill>
                  <a:srgbClr val="8B3A1F"/>
                </a:solidFill>
                <a:latin typeface="Georgia" pitchFamily="34" charset="0"/>
                <a:ea typeface="Georgia" pitchFamily="34" charset="-122"/>
                <a:cs typeface="Georgia" pitchFamily="34" charset="-120"/>
              </a:rPr>
              <a:t>04</a:t>
            </a:r>
            <a:endParaRPr lang="en-US" sz="3600" dirty="0"/>
          </a:p>
        </p:txBody>
      </p:sp>
      <p:sp>
        <p:nvSpPr>
          <p:cNvPr id="24" name="Text 22"/>
          <p:cNvSpPr/>
          <p:nvPr/>
        </p:nvSpPr>
        <p:spPr>
          <a:xfrm>
            <a:off x="7261708" y="4503420"/>
            <a:ext cx="4198468" cy="777240"/>
          </a:xfrm>
          <a:prstGeom prst="rect">
            <a:avLst/>
          </a:prstGeom>
          <a:noFill/>
          <a:ln/>
        </p:spPr>
        <p:txBody>
          <a:bodyPr wrap="square" lIns="0" tIns="0" rIns="0" bIns="0" rtlCol="0" anchor="t"/>
          <a:lstStyle/>
          <a:p>
            <a:pPr marL="0" indent="0">
              <a:buNone/>
            </a:pPr>
            <a:r>
              <a:rPr lang="en-US" sz="1600" b="1" dirty="0">
                <a:solidFill>
                  <a:srgbClr val="1A1915"/>
                </a:solidFill>
                <a:latin typeface="Georgia" pitchFamily="34" charset="0"/>
                <a:ea typeface="Georgia" pitchFamily="34" charset="-122"/>
                <a:cs typeface="Georgia" pitchFamily="34" charset="-120"/>
              </a:rPr>
              <a:t>Know when to break out of the framework</a:t>
            </a:r>
            <a:endParaRPr lang="en-US" sz="1600" dirty="0"/>
          </a:p>
        </p:txBody>
      </p:sp>
      <p:sp>
        <p:nvSpPr>
          <p:cNvPr id="25" name="Text 23"/>
          <p:cNvSpPr/>
          <p:nvPr/>
        </p:nvSpPr>
        <p:spPr>
          <a:xfrm>
            <a:off x="7261708" y="5372100"/>
            <a:ext cx="4198468" cy="982980"/>
          </a:xfrm>
          <a:prstGeom prst="rect">
            <a:avLst/>
          </a:prstGeom>
          <a:noFill/>
          <a:ln/>
        </p:spPr>
        <p:txBody>
          <a:bodyPr wrap="square" lIns="0" tIns="0" rIns="0" bIns="0" rtlCol="0" anchor="t"/>
          <a:lstStyle/>
          <a:p>
            <a:pPr marL="0" indent="0">
              <a:buNone/>
            </a:pPr>
            <a:r>
              <a:rPr lang="en-US" sz="1200" dirty="0">
                <a:solidFill>
                  <a:srgbClr val="1A1915"/>
                </a:solidFill>
                <a:latin typeface="Georgia" pitchFamily="34" charset="0"/>
                <a:ea typeface="Georgia" pitchFamily="34" charset="-122"/>
                <a:cs typeface="Georgia" pitchFamily="34" charset="-120"/>
              </a:rPr>
              <a:t>CrewAI is a good abstraction when the model's judgement is the value being captured. Extract to Python when a step is just computation. The two-crew split here is a symptom of CrewAI lacking deterministic-step nodes; LangGraph or a hand-rolled orchestration loop fits this shape more naturally.</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6446520"/>
            <a:ext cx="11094415" cy="274320"/>
          </a:xfrm>
          <a:prstGeom prst="rect">
            <a:avLst/>
          </a:prstGeom>
          <a:noFill/>
          <a:ln/>
        </p:spPr>
        <p:txBody>
          <a:bodyPr wrap="square" lIns="0" tIns="0" rIns="0" bIns="0" rtlCol="0" anchor="ctr"/>
          <a:lstStyle/>
          <a:p>
            <a:pPr marL="0" indent="0" algn="ctr">
              <a:buNone/>
            </a:pPr>
            <a:r>
              <a:rPr lang="en-US" sz="800" kern="0" spc="200" dirty="0">
                <a:solidFill>
                  <a:srgbClr val="4A4742"/>
                </a:solidFill>
                <a:latin typeface="Consolas" pitchFamily="34" charset="0"/>
                <a:ea typeface="Consolas" pitchFamily="34" charset="-122"/>
                <a:cs typeface="Consolas" pitchFamily="34" charset="-120"/>
              </a:rPr>
              <a:t>Gen AI &amp; Agents  ·  IE University  ·  2026</a:t>
            </a:r>
            <a:r>
              <a:rPr lang="en-US" sz="800" kern="0" spc="200" dirty="0">
                <a:solidFill>
                  <a:srgbClr val="000000"/>
                </a:solidFill>
                <a:latin typeface="Consolas" pitchFamily="34" charset="0"/>
                <a:ea typeface="Consolas" pitchFamily="34" charset="-122"/>
                <a:cs typeface="Consolas" pitchFamily="34" charset="-120"/>
              </a:rPr>
              <a:t>   </a:t>
            </a:r>
            <a:r>
              <a:rPr lang="en-US" sz="800" kern="0" spc="200" dirty="0">
                <a:solidFill>
                  <a:srgbClr val="8B3A1F"/>
                </a:solidFill>
                <a:latin typeface="Consolas" pitchFamily="34" charset="0"/>
                <a:ea typeface="Consolas" pitchFamily="34" charset="-122"/>
                <a:cs typeface="Consolas" pitchFamily="34" charset="-120"/>
              </a:rPr>
              <a:t>11 / 11</a:t>
            </a:r>
            <a:endParaRPr lang="en-US" sz="800" dirty="0"/>
          </a:p>
        </p:txBody>
      </p:sp>
      <p:sp>
        <p:nvSpPr>
          <p:cNvPr id="3" name="Text 1"/>
          <p:cNvSpPr/>
          <p:nvPr/>
        </p:nvSpPr>
        <p:spPr>
          <a:xfrm>
            <a:off x="548640" y="365760"/>
            <a:ext cx="3657600" cy="274320"/>
          </a:xfrm>
          <a:prstGeom prst="rect">
            <a:avLst/>
          </a:prstGeom>
          <a:noFill/>
          <a:ln/>
        </p:spPr>
        <p:txBody>
          <a:bodyPr wrap="square" lIns="0" tIns="0" rIns="0" bIns="0" rtlCol="0" anchor="b"/>
          <a:lstStyle/>
          <a:p>
            <a:pPr marL="0" indent="0">
              <a:buNone/>
            </a:pPr>
            <a:r>
              <a:rPr lang="en-US" sz="900" kern="0" spc="400" dirty="0">
                <a:solidFill>
                  <a:srgbClr val="4A4742"/>
                </a:solidFill>
                <a:latin typeface="Consolas" pitchFamily="34" charset="0"/>
                <a:ea typeface="Consolas" pitchFamily="34" charset="-122"/>
                <a:cs typeface="Consolas" pitchFamily="34" charset="-120"/>
              </a:rPr>
              <a:t>SECTION 08</a:t>
            </a:r>
            <a:endParaRPr lang="en-US" sz="900" dirty="0"/>
          </a:p>
        </p:txBody>
      </p:sp>
      <p:sp>
        <p:nvSpPr>
          <p:cNvPr id="4" name="Text 2"/>
          <p:cNvSpPr/>
          <p:nvPr/>
        </p:nvSpPr>
        <p:spPr>
          <a:xfrm>
            <a:off x="548640" y="640080"/>
            <a:ext cx="11094415" cy="822960"/>
          </a:xfrm>
          <a:prstGeom prst="rect">
            <a:avLst/>
          </a:prstGeom>
          <a:noFill/>
          <a:ln/>
        </p:spPr>
        <p:txBody>
          <a:bodyPr wrap="square" lIns="0" tIns="0" rIns="0" bIns="0" rtlCol="0" anchor="ctr"/>
          <a:lstStyle/>
          <a:p>
            <a:pPr marL="0" indent="0">
              <a:buNone/>
            </a:pPr>
            <a:r>
              <a:rPr lang="en-US" sz="4000" dirty="0">
                <a:solidFill>
                  <a:srgbClr val="1A1915"/>
                </a:solidFill>
                <a:latin typeface="Georgia" pitchFamily="34" charset="0"/>
                <a:ea typeface="Georgia" pitchFamily="34" charset="-122"/>
                <a:cs typeface="Georgia" pitchFamily="34" charset="-120"/>
              </a:rPr>
              <a:t>Conclusions</a:t>
            </a:r>
            <a:endParaRPr lang="en-US" sz="4000" dirty="0"/>
          </a:p>
        </p:txBody>
      </p:sp>
      <p:sp>
        <p:nvSpPr>
          <p:cNvPr id="5" name="Shape 3"/>
          <p:cNvSpPr/>
          <p:nvPr/>
        </p:nvSpPr>
        <p:spPr>
          <a:xfrm>
            <a:off x="548640" y="1554480"/>
            <a:ext cx="11094415" cy="0"/>
          </a:xfrm>
          <a:prstGeom prst="line">
            <a:avLst/>
          </a:prstGeom>
          <a:noFill/>
          <a:ln w="19050">
            <a:solidFill>
              <a:srgbClr val="1A1915"/>
            </a:solidFill>
            <a:prstDash val="solid"/>
          </a:ln>
        </p:spPr>
        <p:txBody>
          <a:bodyPr/>
          <a:lstStyle/>
          <a:p>
            <a:endParaRPr lang="en-US"/>
          </a:p>
        </p:txBody>
      </p:sp>
      <p:sp>
        <p:nvSpPr>
          <p:cNvPr id="6" name="Shape 4"/>
          <p:cNvSpPr/>
          <p:nvPr/>
        </p:nvSpPr>
        <p:spPr>
          <a:xfrm>
            <a:off x="548640" y="1828800"/>
            <a:ext cx="3454298" cy="27432"/>
          </a:xfrm>
          <a:prstGeom prst="rect">
            <a:avLst/>
          </a:prstGeom>
          <a:solidFill>
            <a:srgbClr val="1A1915"/>
          </a:solidFill>
          <a:ln w="12700">
            <a:solidFill>
              <a:srgbClr val="1A1915"/>
            </a:solidFill>
            <a:prstDash val="solid"/>
          </a:ln>
        </p:spPr>
        <p:txBody>
          <a:bodyPr/>
          <a:lstStyle/>
          <a:p>
            <a:endParaRPr lang="en-US"/>
          </a:p>
        </p:txBody>
      </p:sp>
      <p:sp>
        <p:nvSpPr>
          <p:cNvPr id="7" name="Text 5"/>
          <p:cNvSpPr/>
          <p:nvPr/>
        </p:nvSpPr>
        <p:spPr>
          <a:xfrm>
            <a:off x="548640" y="1965960"/>
            <a:ext cx="3454298" cy="320040"/>
          </a:xfrm>
          <a:prstGeom prst="rect">
            <a:avLst/>
          </a:prstGeom>
          <a:noFill/>
          <a:ln/>
        </p:spPr>
        <p:txBody>
          <a:bodyPr wrap="square" lIns="0" tIns="0" rIns="0" bIns="0" rtlCol="0" anchor="ctr"/>
          <a:lstStyle/>
          <a:p>
            <a:pPr marL="0" indent="0">
              <a:buNone/>
            </a:pPr>
            <a:r>
              <a:rPr lang="en-US" sz="1000" kern="0" spc="400" dirty="0">
                <a:solidFill>
                  <a:srgbClr val="8B3A1F"/>
                </a:solidFill>
                <a:latin typeface="Consolas" pitchFamily="34" charset="0"/>
                <a:ea typeface="Consolas" pitchFamily="34" charset="-122"/>
                <a:cs typeface="Consolas" pitchFamily="34" charset="-120"/>
              </a:rPr>
              <a:t>WHAT WORKED</a:t>
            </a:r>
            <a:endParaRPr lang="en-US" sz="1000" dirty="0"/>
          </a:p>
        </p:txBody>
      </p:sp>
      <p:sp>
        <p:nvSpPr>
          <p:cNvPr id="8" name="Text 6"/>
          <p:cNvSpPr/>
          <p:nvPr/>
        </p:nvSpPr>
        <p:spPr>
          <a:xfrm>
            <a:off x="548640" y="2286000"/>
            <a:ext cx="3454298" cy="457200"/>
          </a:xfrm>
          <a:prstGeom prst="rect">
            <a:avLst/>
          </a:prstGeom>
          <a:noFill/>
          <a:ln/>
        </p:spPr>
        <p:txBody>
          <a:bodyPr wrap="square" lIns="0" tIns="0" rIns="0" bIns="0" rtlCol="0" anchor="ctr"/>
          <a:lstStyle/>
          <a:p>
            <a:pPr marL="0" indent="0">
              <a:buNone/>
            </a:pPr>
            <a:r>
              <a:rPr lang="en-US" sz="2200" i="1" dirty="0">
                <a:solidFill>
                  <a:srgbClr val="1A1915"/>
                </a:solidFill>
                <a:latin typeface="Georgia" pitchFamily="34" charset="0"/>
                <a:ea typeface="Georgia" pitchFamily="34" charset="-122"/>
                <a:cs typeface="Georgia" pitchFamily="34" charset="-120"/>
              </a:rPr>
              <a:t>What Worked</a:t>
            </a:r>
            <a:endParaRPr lang="en-US" sz="2200" dirty="0"/>
          </a:p>
        </p:txBody>
      </p:sp>
      <p:sp>
        <p:nvSpPr>
          <p:cNvPr id="9" name="Shape 7"/>
          <p:cNvSpPr/>
          <p:nvPr/>
        </p:nvSpPr>
        <p:spPr>
          <a:xfrm>
            <a:off x="548640" y="2834640"/>
            <a:ext cx="3454298" cy="0"/>
          </a:xfrm>
          <a:prstGeom prst="line">
            <a:avLst/>
          </a:prstGeom>
          <a:noFill/>
          <a:ln w="6350">
            <a:solidFill>
              <a:srgbClr val="D8D3C7"/>
            </a:solidFill>
            <a:prstDash val="solid"/>
          </a:ln>
        </p:spPr>
        <p:txBody>
          <a:bodyPr/>
          <a:lstStyle/>
          <a:p>
            <a:endParaRPr lang="en-US"/>
          </a:p>
        </p:txBody>
      </p:sp>
      <p:sp>
        <p:nvSpPr>
          <p:cNvPr id="10" name="Text 8"/>
          <p:cNvSpPr/>
          <p:nvPr/>
        </p:nvSpPr>
        <p:spPr>
          <a:xfrm>
            <a:off x="548640" y="2971800"/>
            <a:ext cx="3454298" cy="3200400"/>
          </a:xfrm>
          <a:prstGeom prst="rect">
            <a:avLst/>
          </a:prstGeom>
          <a:noFill/>
          <a:ln/>
        </p:spPr>
        <p:txBody>
          <a:bodyPr wrap="square" lIns="0" tIns="0" rIns="0" bIns="0" rtlCol="0" anchor="t"/>
          <a:lstStyle/>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A four-agent pipeline with deterministic Python scoring. Bias detection as a reliable fallback. RoBERTa as a lightweight check.</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90% accuracy on WELFake from a free, local 3b model.</a:t>
            </a:r>
            <a:endParaRPr lang="en-US" sz="1300" dirty="0"/>
          </a:p>
        </p:txBody>
      </p:sp>
      <p:sp>
        <p:nvSpPr>
          <p:cNvPr id="11" name="Shape 9"/>
          <p:cNvSpPr/>
          <p:nvPr/>
        </p:nvSpPr>
        <p:spPr>
          <a:xfrm>
            <a:off x="4368698" y="1828800"/>
            <a:ext cx="3454298" cy="27432"/>
          </a:xfrm>
          <a:prstGeom prst="rect">
            <a:avLst/>
          </a:prstGeom>
          <a:solidFill>
            <a:srgbClr val="1A1915"/>
          </a:solidFill>
          <a:ln w="12700">
            <a:solidFill>
              <a:srgbClr val="1A1915"/>
            </a:solidFill>
            <a:prstDash val="solid"/>
          </a:ln>
        </p:spPr>
        <p:txBody>
          <a:bodyPr/>
          <a:lstStyle/>
          <a:p>
            <a:endParaRPr lang="en-US"/>
          </a:p>
        </p:txBody>
      </p:sp>
      <p:sp>
        <p:nvSpPr>
          <p:cNvPr id="12" name="Text 10"/>
          <p:cNvSpPr/>
          <p:nvPr/>
        </p:nvSpPr>
        <p:spPr>
          <a:xfrm>
            <a:off x="4368698" y="1965960"/>
            <a:ext cx="3454298" cy="320040"/>
          </a:xfrm>
          <a:prstGeom prst="rect">
            <a:avLst/>
          </a:prstGeom>
          <a:noFill/>
          <a:ln/>
        </p:spPr>
        <p:txBody>
          <a:bodyPr wrap="square" lIns="0" tIns="0" rIns="0" bIns="0" rtlCol="0" anchor="ctr"/>
          <a:lstStyle/>
          <a:p>
            <a:pPr marL="0" indent="0">
              <a:buNone/>
            </a:pPr>
            <a:r>
              <a:rPr lang="en-US" sz="1000" kern="0" spc="400" dirty="0">
                <a:solidFill>
                  <a:srgbClr val="8B3A1F"/>
                </a:solidFill>
                <a:latin typeface="Consolas" pitchFamily="34" charset="0"/>
                <a:ea typeface="Consolas" pitchFamily="34" charset="-122"/>
                <a:cs typeface="Consolas" pitchFamily="34" charset="-120"/>
              </a:rPr>
              <a:t>WHAT DIDN'T</a:t>
            </a:r>
            <a:endParaRPr lang="en-US" sz="1000" dirty="0"/>
          </a:p>
        </p:txBody>
      </p:sp>
      <p:sp>
        <p:nvSpPr>
          <p:cNvPr id="13" name="Text 11"/>
          <p:cNvSpPr/>
          <p:nvPr/>
        </p:nvSpPr>
        <p:spPr>
          <a:xfrm>
            <a:off x="4368698" y="2286000"/>
            <a:ext cx="3454298" cy="457200"/>
          </a:xfrm>
          <a:prstGeom prst="rect">
            <a:avLst/>
          </a:prstGeom>
          <a:noFill/>
          <a:ln/>
        </p:spPr>
        <p:txBody>
          <a:bodyPr wrap="square" lIns="0" tIns="0" rIns="0" bIns="0" rtlCol="0" anchor="ctr"/>
          <a:lstStyle/>
          <a:p>
            <a:pPr marL="0" indent="0">
              <a:buNone/>
            </a:pPr>
            <a:r>
              <a:rPr lang="en-US" sz="2200" i="1" dirty="0">
                <a:solidFill>
                  <a:srgbClr val="1A1915"/>
                </a:solidFill>
                <a:latin typeface="Georgia" pitchFamily="34" charset="0"/>
                <a:ea typeface="Georgia" pitchFamily="34" charset="-122"/>
                <a:cs typeface="Georgia" pitchFamily="34" charset="-120"/>
              </a:rPr>
              <a:t>What Didn't</a:t>
            </a:r>
            <a:endParaRPr lang="en-US" sz="2200" dirty="0"/>
          </a:p>
        </p:txBody>
      </p:sp>
      <p:sp>
        <p:nvSpPr>
          <p:cNvPr id="14" name="Shape 12"/>
          <p:cNvSpPr/>
          <p:nvPr/>
        </p:nvSpPr>
        <p:spPr>
          <a:xfrm>
            <a:off x="4368698" y="2834640"/>
            <a:ext cx="3454298" cy="0"/>
          </a:xfrm>
          <a:prstGeom prst="line">
            <a:avLst/>
          </a:prstGeom>
          <a:noFill/>
          <a:ln w="6350">
            <a:solidFill>
              <a:srgbClr val="D8D3C7"/>
            </a:solidFill>
            <a:prstDash val="solid"/>
          </a:ln>
        </p:spPr>
        <p:txBody>
          <a:bodyPr/>
          <a:lstStyle/>
          <a:p>
            <a:endParaRPr lang="en-US"/>
          </a:p>
        </p:txBody>
      </p:sp>
      <p:sp>
        <p:nvSpPr>
          <p:cNvPr id="15" name="Text 13"/>
          <p:cNvSpPr/>
          <p:nvPr/>
        </p:nvSpPr>
        <p:spPr>
          <a:xfrm>
            <a:off x="4368698" y="2971800"/>
            <a:ext cx="3454298" cy="3200400"/>
          </a:xfrm>
          <a:prstGeom prst="rect">
            <a:avLst/>
          </a:prstGeom>
          <a:noFill/>
          <a:ln/>
        </p:spPr>
        <p:txBody>
          <a:bodyPr wrap="square" lIns="0" tIns="0" rIns="0" bIns="0" rtlCol="0" anchor="t"/>
          <a:lstStyle/>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Local model tool calling is fragile.</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Dataset leakage inflates the metric.</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The 3b model wins for the wrong reasons.</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Confidence is uncalibrated: high-confidence wrong predictions appear in the test set.</a:t>
            </a:r>
            <a:endParaRPr lang="en-US" sz="1300" dirty="0"/>
          </a:p>
        </p:txBody>
      </p:sp>
      <p:sp>
        <p:nvSpPr>
          <p:cNvPr id="16" name="Shape 14"/>
          <p:cNvSpPr/>
          <p:nvPr/>
        </p:nvSpPr>
        <p:spPr>
          <a:xfrm>
            <a:off x="8188757" y="1828800"/>
            <a:ext cx="3454298" cy="27432"/>
          </a:xfrm>
          <a:prstGeom prst="rect">
            <a:avLst/>
          </a:prstGeom>
          <a:solidFill>
            <a:srgbClr val="1A1915"/>
          </a:solidFill>
          <a:ln w="12700">
            <a:solidFill>
              <a:srgbClr val="1A1915"/>
            </a:solidFill>
            <a:prstDash val="solid"/>
          </a:ln>
        </p:spPr>
        <p:txBody>
          <a:bodyPr/>
          <a:lstStyle/>
          <a:p>
            <a:endParaRPr lang="en-US"/>
          </a:p>
        </p:txBody>
      </p:sp>
      <p:sp>
        <p:nvSpPr>
          <p:cNvPr id="17" name="Text 15"/>
          <p:cNvSpPr/>
          <p:nvPr/>
        </p:nvSpPr>
        <p:spPr>
          <a:xfrm>
            <a:off x="8188757" y="1965960"/>
            <a:ext cx="3454298" cy="320040"/>
          </a:xfrm>
          <a:prstGeom prst="rect">
            <a:avLst/>
          </a:prstGeom>
          <a:noFill/>
          <a:ln/>
        </p:spPr>
        <p:txBody>
          <a:bodyPr wrap="square" lIns="0" tIns="0" rIns="0" bIns="0" rtlCol="0" anchor="ctr"/>
          <a:lstStyle/>
          <a:p>
            <a:pPr marL="0" indent="0">
              <a:buNone/>
            </a:pPr>
            <a:r>
              <a:rPr lang="en-US" sz="1000" kern="0" spc="400" dirty="0">
                <a:solidFill>
                  <a:srgbClr val="8B3A1F"/>
                </a:solidFill>
                <a:latin typeface="Consolas" pitchFamily="34" charset="0"/>
                <a:ea typeface="Consolas" pitchFamily="34" charset="-122"/>
                <a:cs typeface="Consolas" pitchFamily="34" charset="-120"/>
              </a:rPr>
              <a:t>FUTURE WORK</a:t>
            </a:r>
            <a:endParaRPr lang="en-US" sz="1000" dirty="0"/>
          </a:p>
        </p:txBody>
      </p:sp>
      <p:sp>
        <p:nvSpPr>
          <p:cNvPr id="18" name="Text 16"/>
          <p:cNvSpPr/>
          <p:nvPr/>
        </p:nvSpPr>
        <p:spPr>
          <a:xfrm>
            <a:off x="8188757" y="2286000"/>
            <a:ext cx="3454298" cy="457200"/>
          </a:xfrm>
          <a:prstGeom prst="rect">
            <a:avLst/>
          </a:prstGeom>
          <a:noFill/>
          <a:ln/>
        </p:spPr>
        <p:txBody>
          <a:bodyPr wrap="square" lIns="0" tIns="0" rIns="0" bIns="0" rtlCol="0" anchor="ctr"/>
          <a:lstStyle/>
          <a:p>
            <a:pPr marL="0" indent="0">
              <a:buNone/>
            </a:pPr>
            <a:r>
              <a:rPr lang="en-US" sz="2200" i="1" dirty="0">
                <a:solidFill>
                  <a:srgbClr val="1A1915"/>
                </a:solidFill>
                <a:latin typeface="Georgia" pitchFamily="34" charset="0"/>
                <a:ea typeface="Georgia" pitchFamily="34" charset="-122"/>
                <a:cs typeface="Georgia" pitchFamily="34" charset="-120"/>
              </a:rPr>
              <a:t>Future Work</a:t>
            </a:r>
            <a:endParaRPr lang="en-US" sz="2200" dirty="0"/>
          </a:p>
        </p:txBody>
      </p:sp>
      <p:sp>
        <p:nvSpPr>
          <p:cNvPr id="19" name="Shape 17"/>
          <p:cNvSpPr/>
          <p:nvPr/>
        </p:nvSpPr>
        <p:spPr>
          <a:xfrm>
            <a:off x="8188757" y="2834640"/>
            <a:ext cx="3454298" cy="0"/>
          </a:xfrm>
          <a:prstGeom prst="line">
            <a:avLst/>
          </a:prstGeom>
          <a:noFill/>
          <a:ln w="6350">
            <a:solidFill>
              <a:srgbClr val="D8D3C7"/>
            </a:solidFill>
            <a:prstDash val="solid"/>
          </a:ln>
        </p:spPr>
        <p:txBody>
          <a:bodyPr/>
          <a:lstStyle/>
          <a:p>
            <a:endParaRPr lang="en-US"/>
          </a:p>
        </p:txBody>
      </p:sp>
      <p:sp>
        <p:nvSpPr>
          <p:cNvPr id="20" name="Text 18"/>
          <p:cNvSpPr/>
          <p:nvPr/>
        </p:nvSpPr>
        <p:spPr>
          <a:xfrm>
            <a:off x="8188757" y="2971800"/>
            <a:ext cx="3454298" cy="3200400"/>
          </a:xfrm>
          <a:prstGeom prst="rect">
            <a:avLst/>
          </a:prstGeom>
          <a:noFill/>
          <a:ln/>
        </p:spPr>
        <p:txBody>
          <a:bodyPr wrap="square" lIns="0" tIns="0" rIns="0" bIns="0" rtlCol="0" anchor="t"/>
          <a:lstStyle/>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Build a post-cutoff evaluation set.</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Move to OpenAI for reliable tool use.</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Parallelize agents 2 and 3 to cut latency.</a:t>
            </a:r>
            <a:endParaRPr lang="en-US" sz="1300" dirty="0"/>
          </a:p>
          <a:p>
            <a:pPr marL="0" indent="0">
              <a:spcAft>
                <a:spcPts val="600"/>
              </a:spcAft>
              <a:buNone/>
            </a:pPr>
            <a:endParaRPr lang="en-US" sz="1300" dirty="0"/>
          </a:p>
          <a:p>
            <a:pPr marL="0" indent="0">
              <a:spcAft>
                <a:spcPts val="600"/>
              </a:spcAft>
              <a:buNone/>
            </a:pPr>
            <a:r>
              <a:rPr lang="en-US" sz="1300" dirty="0">
                <a:solidFill>
                  <a:srgbClr val="1A1915"/>
                </a:solidFill>
                <a:latin typeface="Georgia" pitchFamily="34" charset="0"/>
                <a:ea typeface="Georgia" pitchFamily="34" charset="-122"/>
                <a:cs typeface="Georgia" pitchFamily="34" charset="-120"/>
              </a:rPr>
              <a:t>Recalibrate confidence and revisit RoBERTa's 5% weight.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2798</Words>
  <Application>Microsoft Macintosh PowerPoint</Application>
  <PresentationFormat>Widescreen</PresentationFormat>
  <Paragraphs>216</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Arial</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Multi-Agent Fake News Detection System</dc:title>
  <dc:subject>PptxGenJS Presentation</dc:subject>
  <dc:creator>Luis Guareschi, Asier Ugarteche Perez, Alejandro Gutierrez Werner</dc:creator>
  <cp:lastModifiedBy>Alejandro Gutierrez Werner</cp:lastModifiedBy>
  <cp:revision>3</cp:revision>
  <dcterms:created xsi:type="dcterms:W3CDTF">2026-04-25T08:39:58Z</dcterms:created>
  <dcterms:modified xsi:type="dcterms:W3CDTF">2026-04-25T08:52:09Z</dcterms:modified>
</cp:coreProperties>
</file>