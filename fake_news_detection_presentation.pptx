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Shape 1"/>
          <p:cNvSpPr/>
          <p:nvPr/>
        </p:nvSpPr>
        <p:spPr>
          <a:xfrm>
            <a:off x="0" y="4480560"/>
            <a:ext cx="9144000" cy="662940"/>
          </a:xfrm>
          <a:prstGeom prst="rect">
            <a:avLst/>
          </a:prstGeom>
          <a:solidFill>
            <a:srgbClr val="334155"/>
          </a:solidFill>
          <a:ln w="12700">
            <a:solidFill>
              <a:srgbClr val="334155"/>
            </a:solidFill>
            <a:prstDash val="solid"/>
          </a:ln>
        </p:spPr>
      </p:sp>
      <p:sp>
        <p:nvSpPr>
          <p:cNvPr id="4" name="Text 2"/>
          <p:cNvSpPr/>
          <p:nvPr/>
        </p:nvSpPr>
        <p:spPr>
          <a:xfrm>
            <a:off x="365760" y="685800"/>
            <a:ext cx="8412480" cy="914400"/>
          </a:xfrm>
          <a:prstGeom prst="rect">
            <a:avLst/>
          </a:prstGeom>
          <a:noFill/>
          <a:ln/>
        </p:spPr>
        <p:txBody>
          <a:bodyPr wrap="square" lIns="0" tIns="0" rIns="0" bIns="0" rtlCol="0" anchor="ctr"/>
          <a:lstStyle/>
          <a:p>
            <a:pPr algn="ctr" indent="0" marL="0">
              <a:buNone/>
            </a:pPr>
            <a:r>
              <a:rPr lang="en-US" sz="4600" b="1" dirty="0">
                <a:solidFill>
                  <a:srgbClr val="FFFFFF"/>
                </a:solidFill>
                <a:latin typeface="Arial Black" pitchFamily="34" charset="0"/>
                <a:ea typeface="Arial Black" pitchFamily="34" charset="-122"/>
                <a:cs typeface="Arial Black" pitchFamily="34" charset="-120"/>
              </a:rPr>
              <a:t>Multi-Agent Fake News</a:t>
            </a:r>
            <a:endParaRPr lang="en-US" sz="4600" dirty="0"/>
          </a:p>
        </p:txBody>
      </p:sp>
      <p:sp>
        <p:nvSpPr>
          <p:cNvPr id="5" name="Text 3"/>
          <p:cNvSpPr/>
          <p:nvPr/>
        </p:nvSpPr>
        <p:spPr>
          <a:xfrm>
            <a:off x="365760" y="1572768"/>
            <a:ext cx="8412480" cy="914400"/>
          </a:xfrm>
          <a:prstGeom prst="rect">
            <a:avLst/>
          </a:prstGeom>
          <a:noFill/>
          <a:ln/>
        </p:spPr>
        <p:txBody>
          <a:bodyPr wrap="square" lIns="0" tIns="0" rIns="0" bIns="0" rtlCol="0" anchor="ctr"/>
          <a:lstStyle/>
          <a:p>
            <a:pPr algn="ctr" indent="0" marL="0">
              <a:buNone/>
            </a:pPr>
            <a:r>
              <a:rPr lang="en-US" sz="4600" b="1" dirty="0">
                <a:solidFill>
                  <a:srgbClr val="14B8A6"/>
                </a:solidFill>
                <a:latin typeface="Arial Black" pitchFamily="34" charset="0"/>
                <a:ea typeface="Arial Black" pitchFamily="34" charset="-122"/>
                <a:cs typeface="Arial Black" pitchFamily="34" charset="-120"/>
              </a:rPr>
              <a:t>Detection System</a:t>
            </a:r>
            <a:endParaRPr lang="en-US" sz="4600" dirty="0"/>
          </a:p>
        </p:txBody>
      </p:sp>
      <p:sp>
        <p:nvSpPr>
          <p:cNvPr id="6" name="Shape 4"/>
          <p:cNvSpPr/>
          <p:nvPr/>
        </p:nvSpPr>
        <p:spPr>
          <a:xfrm>
            <a:off x="1371600" y="2633472"/>
            <a:ext cx="6400800" cy="0"/>
          </a:xfrm>
          <a:prstGeom prst="line">
            <a:avLst/>
          </a:prstGeom>
          <a:noFill/>
          <a:ln w="25400">
            <a:solidFill>
              <a:srgbClr val="0D9488"/>
            </a:solidFill>
            <a:prstDash val="solid"/>
          </a:ln>
        </p:spPr>
      </p:sp>
      <p:sp>
        <p:nvSpPr>
          <p:cNvPr id="7" name="Text 5"/>
          <p:cNvSpPr/>
          <p:nvPr/>
        </p:nvSpPr>
        <p:spPr>
          <a:xfrm>
            <a:off x="365760" y="2788920"/>
            <a:ext cx="8412480" cy="50292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A CrewAI Multi-Agent Pipeline for Automated News Verification</a:t>
            </a:r>
            <a:endParaRPr lang="en-US" sz="1600" dirty="0"/>
          </a:p>
        </p:txBody>
      </p:sp>
      <p:sp>
        <p:nvSpPr>
          <p:cNvPr id="8" name="Shape 6"/>
          <p:cNvSpPr/>
          <p:nvPr/>
        </p:nvSpPr>
        <p:spPr>
          <a:xfrm>
            <a:off x="2194560" y="3474720"/>
            <a:ext cx="1508760" cy="384048"/>
          </a:xfrm>
          <a:prstGeom prst="rect">
            <a:avLst/>
          </a:prstGeom>
          <a:solidFill>
            <a:srgbClr val="334155"/>
          </a:solidFill>
          <a:ln w="12700">
            <a:solidFill>
              <a:srgbClr val="0D9488"/>
            </a:solidFill>
            <a:prstDash val="solid"/>
          </a:ln>
        </p:spPr>
      </p:sp>
      <p:sp>
        <p:nvSpPr>
          <p:cNvPr id="9" name="Text 7"/>
          <p:cNvSpPr/>
          <p:nvPr/>
        </p:nvSpPr>
        <p:spPr>
          <a:xfrm>
            <a:off x="2194560" y="3474720"/>
            <a:ext cx="1508760" cy="384048"/>
          </a:xfrm>
          <a:prstGeom prst="rect">
            <a:avLst/>
          </a:prstGeom>
          <a:noFill/>
          <a:ln/>
        </p:spPr>
        <p:txBody>
          <a:bodyPr wrap="square" lIns="0" tIns="0" rIns="0" bIns="0" rtlCol="0" anchor="ctr"/>
          <a:lstStyle/>
          <a:p>
            <a:pPr algn="ctr" indent="0" marL="0">
              <a:buNone/>
            </a:pPr>
            <a:r>
              <a:rPr lang="en-US" sz="1100" dirty="0">
                <a:solidFill>
                  <a:srgbClr val="14B8A6"/>
                </a:solidFill>
                <a:latin typeface="Calibri" pitchFamily="34" charset="0"/>
                <a:ea typeface="Calibri" pitchFamily="34" charset="-122"/>
                <a:cs typeface="Calibri" pitchFamily="34" charset="-120"/>
              </a:rPr>
              <a:t>CrewAI</a:t>
            </a:r>
            <a:endParaRPr lang="en-US" sz="1100" dirty="0"/>
          </a:p>
        </p:txBody>
      </p:sp>
      <p:sp>
        <p:nvSpPr>
          <p:cNvPr id="10" name="Shape 8"/>
          <p:cNvSpPr/>
          <p:nvPr/>
        </p:nvSpPr>
        <p:spPr>
          <a:xfrm>
            <a:off x="4023360" y="3474720"/>
            <a:ext cx="1508760" cy="384048"/>
          </a:xfrm>
          <a:prstGeom prst="rect">
            <a:avLst/>
          </a:prstGeom>
          <a:solidFill>
            <a:srgbClr val="334155"/>
          </a:solidFill>
          <a:ln w="12700">
            <a:solidFill>
              <a:srgbClr val="0D9488"/>
            </a:solidFill>
            <a:prstDash val="solid"/>
          </a:ln>
        </p:spPr>
      </p:sp>
      <p:sp>
        <p:nvSpPr>
          <p:cNvPr id="11" name="Text 9"/>
          <p:cNvSpPr/>
          <p:nvPr/>
        </p:nvSpPr>
        <p:spPr>
          <a:xfrm>
            <a:off x="4023360" y="3474720"/>
            <a:ext cx="1508760" cy="384048"/>
          </a:xfrm>
          <a:prstGeom prst="rect">
            <a:avLst/>
          </a:prstGeom>
          <a:noFill/>
          <a:ln/>
        </p:spPr>
        <p:txBody>
          <a:bodyPr wrap="square" lIns="0" tIns="0" rIns="0" bIns="0" rtlCol="0" anchor="ctr"/>
          <a:lstStyle/>
          <a:p>
            <a:pPr algn="ctr" indent="0" marL="0">
              <a:buNone/>
            </a:pPr>
            <a:r>
              <a:rPr lang="en-US" sz="1100" dirty="0">
                <a:solidFill>
                  <a:srgbClr val="14B8A6"/>
                </a:solidFill>
                <a:latin typeface="Calibri" pitchFamily="34" charset="0"/>
                <a:ea typeface="Calibri" pitchFamily="34" charset="-122"/>
                <a:cs typeface="Calibri" pitchFamily="34" charset="-120"/>
              </a:rPr>
              <a:t>Qwen2.5:3b</a:t>
            </a:r>
            <a:endParaRPr lang="en-US" sz="1100" dirty="0"/>
          </a:p>
        </p:txBody>
      </p:sp>
      <p:sp>
        <p:nvSpPr>
          <p:cNvPr id="12" name="Shape 10"/>
          <p:cNvSpPr/>
          <p:nvPr/>
        </p:nvSpPr>
        <p:spPr>
          <a:xfrm>
            <a:off x="5852160" y="3474720"/>
            <a:ext cx="1508760" cy="384048"/>
          </a:xfrm>
          <a:prstGeom prst="rect">
            <a:avLst/>
          </a:prstGeom>
          <a:solidFill>
            <a:srgbClr val="334155"/>
          </a:solidFill>
          <a:ln w="12700">
            <a:solidFill>
              <a:srgbClr val="0D9488"/>
            </a:solidFill>
            <a:prstDash val="solid"/>
          </a:ln>
        </p:spPr>
      </p:sp>
      <p:sp>
        <p:nvSpPr>
          <p:cNvPr id="13" name="Text 11"/>
          <p:cNvSpPr/>
          <p:nvPr/>
        </p:nvSpPr>
        <p:spPr>
          <a:xfrm>
            <a:off x="5852160" y="3474720"/>
            <a:ext cx="1508760" cy="384048"/>
          </a:xfrm>
          <a:prstGeom prst="rect">
            <a:avLst/>
          </a:prstGeom>
          <a:noFill/>
          <a:ln/>
        </p:spPr>
        <p:txBody>
          <a:bodyPr wrap="square" lIns="0" tIns="0" rIns="0" bIns="0" rtlCol="0" anchor="ctr"/>
          <a:lstStyle/>
          <a:p>
            <a:pPr algn="ctr" indent="0" marL="0">
              <a:buNone/>
            </a:pPr>
            <a:r>
              <a:rPr lang="en-US" sz="1100" dirty="0">
                <a:solidFill>
                  <a:srgbClr val="14B8A6"/>
                </a:solidFill>
                <a:latin typeface="Calibri" pitchFamily="34" charset="0"/>
                <a:ea typeface="Calibri" pitchFamily="34" charset="-122"/>
                <a:cs typeface="Calibri" pitchFamily="34" charset="-120"/>
              </a:rPr>
              <a:t>WELFake Dataset</a:t>
            </a:r>
            <a:endParaRPr lang="en-US" sz="1100" dirty="0"/>
          </a:p>
        </p:txBody>
      </p:sp>
      <p:sp>
        <p:nvSpPr>
          <p:cNvPr id="14" name="Text 12"/>
          <p:cNvSpPr/>
          <p:nvPr/>
        </p:nvSpPr>
        <p:spPr>
          <a:xfrm>
            <a:off x="320040" y="4480560"/>
            <a:ext cx="8503920" cy="66294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Gen AI &amp; Agents  -  IE University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72A"/>
          </a:solidFill>
          <a:ln w="12700">
            <a:solidFill>
              <a:srgbClr val="0F172A"/>
            </a:solidFill>
            <a:prstDash val="solid"/>
          </a:ln>
        </p:spPr>
      </p:sp>
      <p:sp>
        <p:nvSpPr>
          <p:cNvPr id="3" name="Shape 1"/>
          <p:cNvSpPr/>
          <p:nvPr/>
        </p:nvSpPr>
        <p:spPr>
          <a:xfrm>
            <a:off x="0" y="0"/>
            <a:ext cx="164592" cy="502920"/>
          </a:xfrm>
          <a:prstGeom prst="rect">
            <a:avLst/>
          </a:prstGeom>
          <a:solidFill>
            <a:srgbClr val="0D9488"/>
          </a:solidFill>
          <a:ln w="12700">
            <a:solidFill>
              <a:srgbClr val="0D9488"/>
            </a:solidFill>
            <a:prstDash val="solid"/>
          </a:ln>
        </p:spPr>
      </p:sp>
      <p:sp>
        <p:nvSpPr>
          <p:cNvPr id="4" name="Text 2"/>
          <p:cNvSpPr/>
          <p:nvPr/>
        </p:nvSpPr>
        <p:spPr>
          <a:xfrm>
            <a:off x="320040" y="0"/>
            <a:ext cx="8503920" cy="502920"/>
          </a:xfrm>
          <a:prstGeom prst="rect">
            <a:avLst/>
          </a:prstGeom>
          <a:noFill/>
          <a:ln/>
        </p:spPr>
        <p:txBody>
          <a:bodyPr wrap="square" lIns="0" tIns="0" rIns="0" bIns="0" rtlCol="0" anchor="ctr"/>
          <a:lstStyle/>
          <a:p>
            <a:pPr indent="0" marL="0">
              <a:buNone/>
            </a:pPr>
            <a:r>
              <a:rPr lang="en-US" sz="1900" b="1" dirty="0">
                <a:solidFill>
                  <a:srgbClr val="FFFFFF"/>
                </a:solidFill>
                <a:latin typeface="Arial Black" pitchFamily="34" charset="0"/>
                <a:ea typeface="Arial Black" pitchFamily="34" charset="-122"/>
                <a:cs typeface="Arial Black" pitchFamily="34" charset="-120"/>
              </a:rPr>
              <a:t>Problem &amp; Objective</a:t>
            </a:r>
            <a:endParaRPr lang="en-US" sz="1900" dirty="0"/>
          </a:p>
        </p:txBody>
      </p:sp>
      <p:sp>
        <p:nvSpPr>
          <p:cNvPr id="5" name="Shape 3"/>
          <p:cNvSpPr/>
          <p:nvPr/>
        </p:nvSpPr>
        <p:spPr>
          <a:xfrm>
            <a:off x="274320" y="658368"/>
            <a:ext cx="4069080" cy="41605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274320" y="658368"/>
            <a:ext cx="4069080" cy="420624"/>
          </a:xfrm>
          <a:prstGeom prst="rect">
            <a:avLst/>
          </a:prstGeom>
          <a:solidFill>
            <a:srgbClr val="1E293B"/>
          </a:solidFill>
          <a:ln w="12700">
            <a:solidFill>
              <a:srgbClr val="1E293B"/>
            </a:solidFill>
            <a:prstDash val="solid"/>
          </a:ln>
        </p:spPr>
      </p:sp>
      <p:sp>
        <p:nvSpPr>
          <p:cNvPr id="7" name="Text 5"/>
          <p:cNvSpPr/>
          <p:nvPr/>
        </p:nvSpPr>
        <p:spPr>
          <a:xfrm>
            <a:off x="274320" y="658368"/>
            <a:ext cx="4069080" cy="420624"/>
          </a:xfrm>
          <a:prstGeom prst="rect">
            <a:avLst/>
          </a:prstGeom>
          <a:noFill/>
          <a:ln/>
        </p:spPr>
        <p:txBody>
          <a:bodyPr wrap="square" lIns="0" tIns="0" rIns="0" bIns="0" rtlCol="0" anchor="ctr"/>
          <a:lstStyle/>
          <a:p>
            <a:pPr algn="ctr" indent="0" marL="0">
              <a:buNone/>
            </a:pPr>
            <a:r>
              <a:rPr lang="en-US" sz="1300" b="1" dirty="0">
                <a:solidFill>
                  <a:srgbClr val="14B8A6"/>
                </a:solidFill>
                <a:latin typeface="Arial Black" pitchFamily="34" charset="0"/>
                <a:ea typeface="Arial Black" pitchFamily="34" charset="-122"/>
                <a:cs typeface="Arial Black" pitchFamily="34" charset="-120"/>
              </a:rPr>
              <a:t>The Challenge</a:t>
            </a:r>
            <a:endParaRPr lang="en-US" sz="1300" dirty="0"/>
          </a:p>
        </p:txBody>
      </p:sp>
      <p:sp>
        <p:nvSpPr>
          <p:cNvPr id="8" name="Shape 6"/>
          <p:cNvSpPr/>
          <p:nvPr/>
        </p:nvSpPr>
        <p:spPr>
          <a:xfrm>
            <a:off x="457200" y="1316736"/>
            <a:ext cx="118872" cy="118872"/>
          </a:xfrm>
          <a:prstGeom prst="ellipse">
            <a:avLst/>
          </a:prstGeom>
          <a:solidFill>
            <a:srgbClr val="0D9488"/>
          </a:solidFill>
          <a:ln w="12700">
            <a:solidFill>
              <a:srgbClr val="0D9488"/>
            </a:solidFill>
            <a:prstDash val="solid"/>
          </a:ln>
        </p:spPr>
      </p:sp>
      <p:sp>
        <p:nvSpPr>
          <p:cNvPr id="9" name="Text 7"/>
          <p:cNvSpPr/>
          <p:nvPr/>
        </p:nvSpPr>
        <p:spPr>
          <a:xfrm>
            <a:off x="658368" y="1234440"/>
            <a:ext cx="3511296" cy="65836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Fake news spreads 6x faster than real news online</a:t>
            </a:r>
            <a:endParaRPr lang="en-US" sz="1250" dirty="0"/>
          </a:p>
        </p:txBody>
      </p:sp>
      <p:sp>
        <p:nvSpPr>
          <p:cNvPr id="10" name="Shape 8"/>
          <p:cNvSpPr/>
          <p:nvPr/>
        </p:nvSpPr>
        <p:spPr>
          <a:xfrm>
            <a:off x="457200" y="2194560"/>
            <a:ext cx="118872" cy="118872"/>
          </a:xfrm>
          <a:prstGeom prst="ellipse">
            <a:avLst/>
          </a:prstGeom>
          <a:solidFill>
            <a:srgbClr val="0D9488"/>
          </a:solidFill>
          <a:ln w="12700">
            <a:solidFill>
              <a:srgbClr val="0D9488"/>
            </a:solidFill>
            <a:prstDash val="solid"/>
          </a:ln>
        </p:spPr>
      </p:sp>
      <p:sp>
        <p:nvSpPr>
          <p:cNvPr id="11" name="Text 9"/>
          <p:cNvSpPr/>
          <p:nvPr/>
        </p:nvSpPr>
        <p:spPr>
          <a:xfrm>
            <a:off x="658368" y="2112264"/>
            <a:ext cx="3511296" cy="65836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Manual fact-checking cannot scale to millions of articles per day</a:t>
            </a:r>
            <a:endParaRPr lang="en-US" sz="1250" dirty="0"/>
          </a:p>
        </p:txBody>
      </p:sp>
      <p:sp>
        <p:nvSpPr>
          <p:cNvPr id="12" name="Shape 10"/>
          <p:cNvSpPr/>
          <p:nvPr/>
        </p:nvSpPr>
        <p:spPr>
          <a:xfrm>
            <a:off x="457200" y="3072384"/>
            <a:ext cx="118872" cy="118872"/>
          </a:xfrm>
          <a:prstGeom prst="ellipse">
            <a:avLst/>
          </a:prstGeom>
          <a:solidFill>
            <a:srgbClr val="0D9488"/>
          </a:solidFill>
          <a:ln w="12700">
            <a:solidFill>
              <a:srgbClr val="0D9488"/>
            </a:solidFill>
            <a:prstDash val="solid"/>
          </a:ln>
        </p:spPr>
      </p:sp>
      <p:sp>
        <p:nvSpPr>
          <p:cNvPr id="13" name="Text 11"/>
          <p:cNvSpPr/>
          <p:nvPr/>
        </p:nvSpPr>
        <p:spPr>
          <a:xfrm>
            <a:off x="658368" y="2990088"/>
            <a:ext cx="3511296" cy="65836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Single-model classifiers miss nuance, context, and writing style</a:t>
            </a:r>
            <a:endParaRPr lang="en-US" sz="1250" dirty="0"/>
          </a:p>
        </p:txBody>
      </p:sp>
      <p:sp>
        <p:nvSpPr>
          <p:cNvPr id="14" name="Shape 12"/>
          <p:cNvSpPr/>
          <p:nvPr/>
        </p:nvSpPr>
        <p:spPr>
          <a:xfrm>
            <a:off x="457200" y="3950208"/>
            <a:ext cx="118872" cy="118872"/>
          </a:xfrm>
          <a:prstGeom prst="ellipse">
            <a:avLst/>
          </a:prstGeom>
          <a:solidFill>
            <a:srgbClr val="0D9488"/>
          </a:solidFill>
          <a:ln w="12700">
            <a:solidFill>
              <a:srgbClr val="0D9488"/>
            </a:solidFill>
            <a:prstDash val="solid"/>
          </a:ln>
        </p:spPr>
      </p:sp>
      <p:sp>
        <p:nvSpPr>
          <p:cNvPr id="15" name="Text 13"/>
          <p:cNvSpPr/>
          <p:nvPr/>
        </p:nvSpPr>
        <p:spPr>
          <a:xfrm>
            <a:off x="658368" y="3867912"/>
            <a:ext cx="3511296" cy="65836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Bias and tone are as revealing as factual accuracy</a:t>
            </a:r>
            <a:endParaRPr lang="en-US" sz="1250" dirty="0"/>
          </a:p>
        </p:txBody>
      </p:sp>
      <p:sp>
        <p:nvSpPr>
          <p:cNvPr id="16" name="Shape 14"/>
          <p:cNvSpPr/>
          <p:nvPr/>
        </p:nvSpPr>
        <p:spPr>
          <a:xfrm>
            <a:off x="4572000" y="658368"/>
            <a:ext cx="4297680" cy="41605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4572000" y="658368"/>
            <a:ext cx="4297680" cy="420624"/>
          </a:xfrm>
          <a:prstGeom prst="rect">
            <a:avLst/>
          </a:prstGeom>
          <a:solidFill>
            <a:srgbClr val="0D9488"/>
          </a:solidFill>
          <a:ln w="12700">
            <a:solidFill>
              <a:srgbClr val="0D9488"/>
            </a:solidFill>
            <a:prstDash val="solid"/>
          </a:ln>
        </p:spPr>
      </p:sp>
      <p:sp>
        <p:nvSpPr>
          <p:cNvPr id="18" name="Text 16"/>
          <p:cNvSpPr/>
          <p:nvPr/>
        </p:nvSpPr>
        <p:spPr>
          <a:xfrm>
            <a:off x="4572000" y="658368"/>
            <a:ext cx="429768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Our Approach</a:t>
            </a:r>
            <a:endParaRPr lang="en-US" sz="1300" dirty="0"/>
          </a:p>
        </p:txBody>
      </p:sp>
      <p:sp>
        <p:nvSpPr>
          <p:cNvPr id="19" name="Shape 17"/>
          <p:cNvSpPr/>
          <p:nvPr/>
        </p:nvSpPr>
        <p:spPr>
          <a:xfrm>
            <a:off x="4754880" y="1316736"/>
            <a:ext cx="118872" cy="118872"/>
          </a:xfrm>
          <a:prstGeom prst="ellipse">
            <a:avLst/>
          </a:prstGeom>
          <a:solidFill>
            <a:srgbClr val="0D9488"/>
          </a:solidFill>
          <a:ln w="12700">
            <a:solidFill>
              <a:srgbClr val="0D9488"/>
            </a:solidFill>
            <a:prstDash val="solid"/>
          </a:ln>
        </p:spPr>
      </p:sp>
      <p:sp>
        <p:nvSpPr>
          <p:cNvPr id="20" name="Text 18"/>
          <p:cNvSpPr/>
          <p:nvPr/>
        </p:nvSpPr>
        <p:spPr>
          <a:xfrm>
            <a:off x="4956048" y="1234440"/>
            <a:ext cx="3749040" cy="65836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4 specialized CrewAI agents, each with a distinct role</a:t>
            </a:r>
            <a:endParaRPr lang="en-US" sz="1250" dirty="0"/>
          </a:p>
        </p:txBody>
      </p:sp>
      <p:sp>
        <p:nvSpPr>
          <p:cNvPr id="21" name="Shape 19"/>
          <p:cNvSpPr/>
          <p:nvPr/>
        </p:nvSpPr>
        <p:spPr>
          <a:xfrm>
            <a:off x="4754880" y="2194560"/>
            <a:ext cx="118872" cy="118872"/>
          </a:xfrm>
          <a:prstGeom prst="ellipse">
            <a:avLst/>
          </a:prstGeom>
          <a:solidFill>
            <a:srgbClr val="0D9488"/>
          </a:solidFill>
          <a:ln w="12700">
            <a:solidFill>
              <a:srgbClr val="0D9488"/>
            </a:solidFill>
            <a:prstDash val="solid"/>
          </a:ln>
        </p:spPr>
      </p:sp>
      <p:sp>
        <p:nvSpPr>
          <p:cNvPr id="22" name="Text 20"/>
          <p:cNvSpPr/>
          <p:nvPr/>
        </p:nvSpPr>
        <p:spPr>
          <a:xfrm>
            <a:off x="4956048" y="2112264"/>
            <a:ext cx="3749040" cy="65836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Claim extraction, fact-checking, bias detection, final verdict</a:t>
            </a:r>
            <a:endParaRPr lang="en-US" sz="1250" dirty="0"/>
          </a:p>
        </p:txBody>
      </p:sp>
      <p:sp>
        <p:nvSpPr>
          <p:cNvPr id="23" name="Shape 21"/>
          <p:cNvSpPr/>
          <p:nvPr/>
        </p:nvSpPr>
        <p:spPr>
          <a:xfrm>
            <a:off x="4754880" y="3072384"/>
            <a:ext cx="118872" cy="118872"/>
          </a:xfrm>
          <a:prstGeom prst="ellipse">
            <a:avLst/>
          </a:prstGeom>
          <a:solidFill>
            <a:srgbClr val="0D9488"/>
          </a:solidFill>
          <a:ln w="12700">
            <a:solidFill>
              <a:srgbClr val="0D9488"/>
            </a:solidFill>
            <a:prstDash val="solid"/>
          </a:ln>
        </p:spPr>
      </p:sp>
      <p:sp>
        <p:nvSpPr>
          <p:cNvPr id="24" name="Text 22"/>
          <p:cNvSpPr/>
          <p:nvPr/>
        </p:nvSpPr>
        <p:spPr>
          <a:xfrm>
            <a:off x="4956048" y="2990088"/>
            <a:ext cx="3749040" cy="65836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RoBERTa classifier as a supporting signal for the Judge agent</a:t>
            </a:r>
            <a:endParaRPr lang="en-US" sz="1250" dirty="0"/>
          </a:p>
        </p:txBody>
      </p:sp>
      <p:sp>
        <p:nvSpPr>
          <p:cNvPr id="25" name="Shape 23"/>
          <p:cNvSpPr/>
          <p:nvPr/>
        </p:nvSpPr>
        <p:spPr>
          <a:xfrm>
            <a:off x="4754880" y="3950208"/>
            <a:ext cx="118872" cy="118872"/>
          </a:xfrm>
          <a:prstGeom prst="ellipse">
            <a:avLst/>
          </a:prstGeom>
          <a:solidFill>
            <a:srgbClr val="0D9488"/>
          </a:solidFill>
          <a:ln w="12700">
            <a:solidFill>
              <a:srgbClr val="0D9488"/>
            </a:solidFill>
            <a:prstDash val="solid"/>
          </a:ln>
        </p:spPr>
      </p:sp>
      <p:sp>
        <p:nvSpPr>
          <p:cNvPr id="26" name="Text 24"/>
          <p:cNvSpPr/>
          <p:nvPr/>
        </p:nvSpPr>
        <p:spPr>
          <a:xfrm>
            <a:off x="4956048" y="3867912"/>
            <a:ext cx="3749040" cy="65836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Deterministic Python scoring — no LLM arithmetic</a:t>
            </a:r>
            <a:endParaRPr lang="en-US" sz="1250" dirty="0"/>
          </a:p>
        </p:txBody>
      </p:sp>
      <p:sp>
        <p:nvSpPr>
          <p:cNvPr id="27" name="Text 25"/>
          <p:cNvSpPr/>
          <p:nvPr/>
        </p:nvSpPr>
        <p:spPr>
          <a:xfrm>
            <a:off x="274320" y="4892040"/>
            <a:ext cx="8595360" cy="246888"/>
          </a:xfrm>
          <a:prstGeom prst="rect">
            <a:avLst/>
          </a:prstGeom>
          <a:noFill/>
          <a:ln/>
        </p:spPr>
        <p:txBody>
          <a:bodyPr wrap="square" lIns="0" tIns="0" rIns="0" bIns="0"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Dataset: WELFake  -  100 balanced articles (50 REAL / 50 FAKE)  -  US political news 2015-2017</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72A"/>
          </a:solidFill>
          <a:ln w="12700">
            <a:solidFill>
              <a:srgbClr val="0F172A"/>
            </a:solidFill>
            <a:prstDash val="solid"/>
          </a:ln>
        </p:spPr>
      </p:sp>
      <p:sp>
        <p:nvSpPr>
          <p:cNvPr id="3" name="Shape 1"/>
          <p:cNvSpPr/>
          <p:nvPr/>
        </p:nvSpPr>
        <p:spPr>
          <a:xfrm>
            <a:off x="0" y="0"/>
            <a:ext cx="164592" cy="502920"/>
          </a:xfrm>
          <a:prstGeom prst="rect">
            <a:avLst/>
          </a:prstGeom>
          <a:solidFill>
            <a:srgbClr val="0D9488"/>
          </a:solidFill>
          <a:ln w="12700">
            <a:solidFill>
              <a:srgbClr val="0D9488"/>
            </a:solidFill>
            <a:prstDash val="solid"/>
          </a:ln>
        </p:spPr>
      </p:sp>
      <p:sp>
        <p:nvSpPr>
          <p:cNvPr id="4" name="Text 2"/>
          <p:cNvSpPr/>
          <p:nvPr/>
        </p:nvSpPr>
        <p:spPr>
          <a:xfrm>
            <a:off x="320040" y="0"/>
            <a:ext cx="8503920" cy="502920"/>
          </a:xfrm>
          <a:prstGeom prst="rect">
            <a:avLst/>
          </a:prstGeom>
          <a:noFill/>
          <a:ln/>
        </p:spPr>
        <p:txBody>
          <a:bodyPr wrap="square" lIns="0" tIns="0" rIns="0" bIns="0" rtlCol="0" anchor="ctr"/>
          <a:lstStyle/>
          <a:p>
            <a:pPr indent="0" marL="0">
              <a:buNone/>
            </a:pPr>
            <a:r>
              <a:rPr lang="en-US" sz="1900" b="1" dirty="0">
                <a:solidFill>
                  <a:srgbClr val="FFFFFF"/>
                </a:solidFill>
                <a:latin typeface="Arial Black" pitchFamily="34" charset="0"/>
                <a:ea typeface="Arial Black" pitchFamily="34" charset="-122"/>
                <a:cs typeface="Arial Black" pitchFamily="34" charset="-120"/>
              </a:rPr>
              <a:t>System Architecture - Sequential Pipeline</a:t>
            </a:r>
            <a:endParaRPr lang="en-US" sz="1900" dirty="0"/>
          </a:p>
        </p:txBody>
      </p:sp>
      <p:sp>
        <p:nvSpPr>
          <p:cNvPr id="5" name="Shape 3"/>
          <p:cNvSpPr/>
          <p:nvPr/>
        </p:nvSpPr>
        <p:spPr>
          <a:xfrm>
            <a:off x="411480" y="960120"/>
            <a:ext cx="1371600" cy="1417320"/>
          </a:xfrm>
          <a:prstGeom prst="rect">
            <a:avLst/>
          </a:prstGeom>
          <a:solidFill>
            <a:srgbClr val="334155"/>
          </a:solidFill>
          <a:ln w="25400">
            <a:solidFill>
              <a:srgbClr val="0D9488"/>
            </a:solidFill>
            <a:prstDash val="solid"/>
          </a:ln>
          <a:effectLst>
            <a:outerShdw sx="100000" sy="100000" kx="0" ky="0" algn="bl" rotWithShape="0" blurRad="101600" dist="38100" dir="8100000">
              <a:srgbClr val="000000">
                <a:alpha val="10000"/>
              </a:srgbClr>
            </a:outerShdw>
          </a:effectLst>
        </p:spPr>
      </p:sp>
      <p:sp>
        <p:nvSpPr>
          <p:cNvPr id="6" name="Text 4"/>
          <p:cNvSpPr/>
          <p:nvPr/>
        </p:nvSpPr>
        <p:spPr>
          <a:xfrm>
            <a:off x="411480" y="1069848"/>
            <a:ext cx="137160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Article</a:t>
            </a:r>
            <a:endParaRPr lang="en-US" sz="1300" dirty="0"/>
          </a:p>
        </p:txBody>
      </p:sp>
      <p:sp>
        <p:nvSpPr>
          <p:cNvPr id="7" name="Text 5"/>
          <p:cNvSpPr/>
          <p:nvPr/>
        </p:nvSpPr>
        <p:spPr>
          <a:xfrm>
            <a:off x="411480" y="1399032"/>
            <a:ext cx="1371600" cy="320040"/>
          </a:xfrm>
          <a:prstGeom prst="rect">
            <a:avLst/>
          </a:prstGeom>
          <a:noFill/>
          <a:ln/>
        </p:spPr>
        <p:txBody>
          <a:bodyPr wrap="square" lIns="0" tIns="0" rIns="0" bIns="0" rtlCol="0" anchor="ctr"/>
          <a:lstStyle/>
          <a:p>
            <a:pPr algn="ctr" indent="0" marL="0">
              <a:buNone/>
            </a:pPr>
            <a:r>
              <a:rPr lang="en-US" sz="1300" dirty="0">
                <a:solidFill>
                  <a:srgbClr val="14B8A6"/>
                </a:solidFill>
                <a:latin typeface="Arial Black" pitchFamily="34" charset="0"/>
                <a:ea typeface="Arial Black" pitchFamily="34" charset="-122"/>
                <a:cs typeface="Arial Black" pitchFamily="34" charset="-120"/>
              </a:rPr>
              <a:t>Text</a:t>
            </a:r>
            <a:endParaRPr lang="en-US" sz="1300" dirty="0"/>
          </a:p>
        </p:txBody>
      </p:sp>
      <p:sp>
        <p:nvSpPr>
          <p:cNvPr id="8" name="Text 6"/>
          <p:cNvSpPr/>
          <p:nvPr/>
        </p:nvSpPr>
        <p:spPr>
          <a:xfrm>
            <a:off x="411480" y="1764792"/>
            <a:ext cx="1371600" cy="274320"/>
          </a:xfrm>
          <a:prstGeom prst="rect">
            <a:avLst/>
          </a:prstGeom>
          <a:noFill/>
          <a:ln/>
        </p:spPr>
        <p:txBody>
          <a:bodyPr wrap="square" lIns="0" tIns="0" rIns="0" bIns="0" rtlCol="0" anchor="ctr"/>
          <a:lstStyle/>
          <a:p>
            <a:pPr algn="ctr" indent="0" marL="0">
              <a:buNone/>
            </a:pPr>
            <a:r>
              <a:rPr lang="en-US" sz="900" i="1" dirty="0">
                <a:solidFill>
                  <a:srgbClr val="94A3B8"/>
                </a:solidFill>
                <a:latin typeface="Calibri" pitchFamily="34" charset="0"/>
                <a:ea typeface="Calibri" pitchFamily="34" charset="-122"/>
                <a:cs typeface="Calibri" pitchFamily="34" charset="-120"/>
              </a:rPr>
              <a:t>(from dataset)</a:t>
            </a:r>
            <a:endParaRPr lang="en-US" sz="900" dirty="0"/>
          </a:p>
        </p:txBody>
      </p:sp>
      <p:sp>
        <p:nvSpPr>
          <p:cNvPr id="9" name="Shape 7"/>
          <p:cNvSpPr/>
          <p:nvPr/>
        </p:nvSpPr>
        <p:spPr>
          <a:xfrm>
            <a:off x="1874520" y="1668780"/>
            <a:ext cx="182880" cy="0"/>
          </a:xfrm>
          <a:prstGeom prst="line">
            <a:avLst/>
          </a:prstGeom>
          <a:noFill/>
          <a:ln w="25400">
            <a:solidFill>
              <a:srgbClr val="0D9488"/>
            </a:solidFill>
            <a:prstDash val="solid"/>
          </a:ln>
        </p:spPr>
      </p:sp>
      <p:sp>
        <p:nvSpPr>
          <p:cNvPr id="10" name="Shape 8"/>
          <p:cNvSpPr/>
          <p:nvPr/>
        </p:nvSpPr>
        <p:spPr>
          <a:xfrm>
            <a:off x="2002536" y="1623060"/>
            <a:ext cx="54864" cy="91440"/>
          </a:xfrm>
          <a:prstGeom prst="rect">
            <a:avLst/>
          </a:prstGeom>
          <a:solidFill>
            <a:srgbClr val="0D9488"/>
          </a:solidFill>
          <a:ln w="12700">
            <a:solidFill>
              <a:srgbClr val="0D9488"/>
            </a:solidFill>
            <a:prstDash val="solid"/>
          </a:ln>
        </p:spPr>
      </p:sp>
      <p:sp>
        <p:nvSpPr>
          <p:cNvPr id="11" name="Shape 9"/>
          <p:cNvSpPr/>
          <p:nvPr/>
        </p:nvSpPr>
        <p:spPr>
          <a:xfrm>
            <a:off x="2057400" y="960120"/>
            <a:ext cx="1371600"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2" name="Shape 10"/>
          <p:cNvSpPr/>
          <p:nvPr/>
        </p:nvSpPr>
        <p:spPr>
          <a:xfrm>
            <a:off x="2057400" y="960120"/>
            <a:ext cx="1371600" cy="347472"/>
          </a:xfrm>
          <a:prstGeom prst="rect">
            <a:avLst/>
          </a:prstGeom>
          <a:solidFill>
            <a:srgbClr val="0D9488"/>
          </a:solidFill>
          <a:ln w="12700">
            <a:solidFill>
              <a:srgbClr val="0D9488"/>
            </a:solidFill>
            <a:prstDash val="solid"/>
          </a:ln>
        </p:spPr>
      </p:sp>
      <p:sp>
        <p:nvSpPr>
          <p:cNvPr id="13" name="Text 11"/>
          <p:cNvSpPr/>
          <p:nvPr/>
        </p:nvSpPr>
        <p:spPr>
          <a:xfrm>
            <a:off x="2057400" y="960120"/>
            <a:ext cx="137160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Agent 1</a:t>
            </a:r>
            <a:endParaRPr lang="en-US" sz="1000" dirty="0"/>
          </a:p>
        </p:txBody>
      </p:sp>
      <p:sp>
        <p:nvSpPr>
          <p:cNvPr id="14" name="Text 12"/>
          <p:cNvSpPr/>
          <p:nvPr/>
        </p:nvSpPr>
        <p:spPr>
          <a:xfrm>
            <a:off x="2130552" y="1344168"/>
            <a:ext cx="1225296" cy="658368"/>
          </a:xfrm>
          <a:prstGeom prst="rect">
            <a:avLst/>
          </a:prstGeom>
          <a:noFill/>
          <a:ln/>
        </p:spPr>
        <p:txBody>
          <a:bodyPr wrap="square" lIns="0" tIns="0" rIns="0" bIns="0" rtlCol="0" anchor="ctr"/>
          <a:lstStyle/>
          <a:p>
            <a:pPr algn="ctr" indent="0" marL="0">
              <a:buNone/>
            </a:pPr>
            <a:r>
              <a:rPr lang="en-US" sz="1300" dirty="0">
                <a:solidFill>
                  <a:srgbClr val="1E293B"/>
                </a:solidFill>
                <a:latin typeface="Arial Black" pitchFamily="34" charset="0"/>
                <a:ea typeface="Arial Black" pitchFamily="34" charset="-122"/>
                <a:cs typeface="Arial Black" pitchFamily="34" charset="-120"/>
              </a:rPr>
              <a:t>Claim</a:t>
            </a:r>
            <a:endParaRPr lang="en-US" sz="1300" dirty="0"/>
          </a:p>
          <a:p>
            <a:pPr algn="ctr" indent="0" marL="0">
              <a:buNone/>
            </a:pPr>
            <a:r>
              <a:rPr lang="en-US" sz="1300" dirty="0">
                <a:solidFill>
                  <a:srgbClr val="1E293B"/>
                </a:solidFill>
                <a:latin typeface="Arial Black" pitchFamily="34" charset="0"/>
                <a:ea typeface="Arial Black" pitchFamily="34" charset="-122"/>
                <a:cs typeface="Arial Black" pitchFamily="34" charset="-120"/>
              </a:rPr>
              <a:t>Extractor</a:t>
            </a:r>
            <a:endParaRPr lang="en-US" sz="1300" dirty="0"/>
          </a:p>
        </p:txBody>
      </p:sp>
      <p:sp>
        <p:nvSpPr>
          <p:cNvPr id="15" name="Shape 13"/>
          <p:cNvSpPr/>
          <p:nvPr/>
        </p:nvSpPr>
        <p:spPr>
          <a:xfrm>
            <a:off x="2057400" y="2514600"/>
            <a:ext cx="1371600" cy="475488"/>
          </a:xfrm>
          <a:prstGeom prst="rect">
            <a:avLst/>
          </a:prstGeom>
          <a:solidFill>
            <a:srgbClr val="EEF9F8"/>
          </a:solidFill>
          <a:ln w="12700">
            <a:solidFill>
              <a:srgbClr val="14B8A6"/>
            </a:solidFill>
            <a:prstDash val="solid"/>
          </a:ln>
        </p:spPr>
      </p:sp>
      <p:sp>
        <p:nvSpPr>
          <p:cNvPr id="16" name="Text 14"/>
          <p:cNvSpPr/>
          <p:nvPr/>
        </p:nvSpPr>
        <p:spPr>
          <a:xfrm>
            <a:off x="2112264" y="2514600"/>
            <a:ext cx="1261872" cy="475488"/>
          </a:xfrm>
          <a:prstGeom prst="rect">
            <a:avLst/>
          </a:prstGeom>
          <a:noFill/>
          <a:ln/>
        </p:spPr>
        <p:txBody>
          <a:bodyPr wrap="square" lIns="0" tIns="0" rIns="0" bIns="0" rtlCol="0" anchor="ctr"/>
          <a:lstStyle/>
          <a:p>
            <a:pPr algn="ctr" indent="0" marL="0">
              <a:buNone/>
            </a:pPr>
            <a:r>
              <a:rPr lang="en-US" sz="900" dirty="0">
                <a:solidFill>
                  <a:srgbClr val="0D9488"/>
                </a:solidFill>
                <a:latin typeface="Calibri" pitchFamily="34" charset="0"/>
                <a:ea typeface="Calibri" pitchFamily="34" charset="-122"/>
                <a:cs typeface="Calibri" pitchFamily="34" charset="-120"/>
              </a:rPr>
              <a:t>3-5 factual claims</a:t>
            </a:r>
            <a:endParaRPr lang="en-US" sz="900" dirty="0"/>
          </a:p>
        </p:txBody>
      </p:sp>
      <p:sp>
        <p:nvSpPr>
          <p:cNvPr id="17" name="Shape 15"/>
          <p:cNvSpPr/>
          <p:nvPr/>
        </p:nvSpPr>
        <p:spPr>
          <a:xfrm>
            <a:off x="3520440" y="1668780"/>
            <a:ext cx="182880" cy="0"/>
          </a:xfrm>
          <a:prstGeom prst="line">
            <a:avLst/>
          </a:prstGeom>
          <a:noFill/>
          <a:ln w="25400">
            <a:solidFill>
              <a:srgbClr val="0D9488"/>
            </a:solidFill>
            <a:prstDash val="solid"/>
          </a:ln>
        </p:spPr>
      </p:sp>
      <p:sp>
        <p:nvSpPr>
          <p:cNvPr id="18" name="Shape 16"/>
          <p:cNvSpPr/>
          <p:nvPr/>
        </p:nvSpPr>
        <p:spPr>
          <a:xfrm>
            <a:off x="3648456" y="1623060"/>
            <a:ext cx="54864" cy="91440"/>
          </a:xfrm>
          <a:prstGeom prst="rect">
            <a:avLst/>
          </a:prstGeom>
          <a:solidFill>
            <a:srgbClr val="0D9488"/>
          </a:solidFill>
          <a:ln w="12700">
            <a:solidFill>
              <a:srgbClr val="0D9488"/>
            </a:solidFill>
            <a:prstDash val="solid"/>
          </a:ln>
        </p:spPr>
      </p:sp>
      <p:sp>
        <p:nvSpPr>
          <p:cNvPr id="19" name="Shape 17"/>
          <p:cNvSpPr/>
          <p:nvPr/>
        </p:nvSpPr>
        <p:spPr>
          <a:xfrm>
            <a:off x="3703320" y="960120"/>
            <a:ext cx="1371600"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0" name="Shape 18"/>
          <p:cNvSpPr/>
          <p:nvPr/>
        </p:nvSpPr>
        <p:spPr>
          <a:xfrm>
            <a:off x="3703320" y="960120"/>
            <a:ext cx="1371600" cy="347472"/>
          </a:xfrm>
          <a:prstGeom prst="rect">
            <a:avLst/>
          </a:prstGeom>
          <a:solidFill>
            <a:srgbClr val="1E293B"/>
          </a:solidFill>
          <a:ln w="12700">
            <a:solidFill>
              <a:srgbClr val="1E293B"/>
            </a:solidFill>
            <a:prstDash val="solid"/>
          </a:ln>
        </p:spPr>
      </p:sp>
      <p:sp>
        <p:nvSpPr>
          <p:cNvPr id="21" name="Text 19"/>
          <p:cNvSpPr/>
          <p:nvPr/>
        </p:nvSpPr>
        <p:spPr>
          <a:xfrm>
            <a:off x="3703320" y="960120"/>
            <a:ext cx="137160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Agent 2</a:t>
            </a:r>
            <a:endParaRPr lang="en-US" sz="1000" dirty="0"/>
          </a:p>
        </p:txBody>
      </p:sp>
      <p:sp>
        <p:nvSpPr>
          <p:cNvPr id="22" name="Text 20"/>
          <p:cNvSpPr/>
          <p:nvPr/>
        </p:nvSpPr>
        <p:spPr>
          <a:xfrm>
            <a:off x="3776472" y="1344168"/>
            <a:ext cx="1225296" cy="658368"/>
          </a:xfrm>
          <a:prstGeom prst="rect">
            <a:avLst/>
          </a:prstGeom>
          <a:noFill/>
          <a:ln/>
        </p:spPr>
        <p:txBody>
          <a:bodyPr wrap="square" lIns="0" tIns="0" rIns="0" bIns="0" rtlCol="0" anchor="ctr"/>
          <a:lstStyle/>
          <a:p>
            <a:pPr algn="ctr" indent="0" marL="0">
              <a:buNone/>
            </a:pPr>
            <a:r>
              <a:rPr lang="en-US" sz="1300" dirty="0">
                <a:solidFill>
                  <a:srgbClr val="1E293B"/>
                </a:solidFill>
                <a:latin typeface="Arial Black" pitchFamily="34" charset="0"/>
                <a:ea typeface="Arial Black" pitchFamily="34" charset="-122"/>
                <a:cs typeface="Arial Black" pitchFamily="34" charset="-120"/>
              </a:rPr>
              <a:t>Fact</a:t>
            </a:r>
            <a:endParaRPr lang="en-US" sz="1300" dirty="0"/>
          </a:p>
          <a:p>
            <a:pPr algn="ctr" indent="0" marL="0">
              <a:buNone/>
            </a:pPr>
            <a:r>
              <a:rPr lang="en-US" sz="1300" dirty="0">
                <a:solidFill>
                  <a:srgbClr val="1E293B"/>
                </a:solidFill>
                <a:latin typeface="Arial Black" pitchFamily="34" charset="0"/>
                <a:ea typeface="Arial Black" pitchFamily="34" charset="-122"/>
                <a:cs typeface="Arial Black" pitchFamily="34" charset="-120"/>
              </a:rPr>
              <a:t>Checker</a:t>
            </a:r>
            <a:endParaRPr lang="en-US" sz="1300" dirty="0"/>
          </a:p>
        </p:txBody>
      </p:sp>
      <p:sp>
        <p:nvSpPr>
          <p:cNvPr id="23" name="Shape 21"/>
          <p:cNvSpPr/>
          <p:nvPr/>
        </p:nvSpPr>
        <p:spPr>
          <a:xfrm>
            <a:off x="3703320" y="2514600"/>
            <a:ext cx="1371600" cy="475488"/>
          </a:xfrm>
          <a:prstGeom prst="rect">
            <a:avLst/>
          </a:prstGeom>
          <a:solidFill>
            <a:srgbClr val="EEF9F8"/>
          </a:solidFill>
          <a:ln w="12700">
            <a:solidFill>
              <a:srgbClr val="14B8A6"/>
            </a:solidFill>
            <a:prstDash val="solid"/>
          </a:ln>
        </p:spPr>
      </p:sp>
      <p:sp>
        <p:nvSpPr>
          <p:cNvPr id="24" name="Text 22"/>
          <p:cNvSpPr/>
          <p:nvPr/>
        </p:nvSpPr>
        <p:spPr>
          <a:xfrm>
            <a:off x="3758184" y="2514600"/>
            <a:ext cx="1261872" cy="475488"/>
          </a:xfrm>
          <a:prstGeom prst="rect">
            <a:avLst/>
          </a:prstGeom>
          <a:noFill/>
          <a:ln/>
        </p:spPr>
        <p:txBody>
          <a:bodyPr wrap="square" lIns="0" tIns="0" rIns="0" bIns="0" rtlCol="0" anchor="ctr"/>
          <a:lstStyle/>
          <a:p>
            <a:pPr algn="ctr" indent="0" marL="0">
              <a:buNone/>
            </a:pPr>
            <a:r>
              <a:rPr lang="en-US" sz="900" dirty="0">
                <a:solidFill>
                  <a:srgbClr val="0D9488"/>
                </a:solidFill>
                <a:latin typeface="Calibri" pitchFamily="34" charset="0"/>
                <a:ea typeface="Calibri" pitchFamily="34" charset="-122"/>
                <a:cs typeface="Calibri" pitchFamily="34" charset="-120"/>
              </a:rPr>
              <a:t>SUPPORTED / CONTRADICTED</a:t>
            </a:r>
            <a:endParaRPr lang="en-US" sz="900" dirty="0"/>
          </a:p>
        </p:txBody>
      </p:sp>
      <p:sp>
        <p:nvSpPr>
          <p:cNvPr id="25" name="Shape 23"/>
          <p:cNvSpPr/>
          <p:nvPr/>
        </p:nvSpPr>
        <p:spPr>
          <a:xfrm>
            <a:off x="5166360" y="1668780"/>
            <a:ext cx="182880" cy="0"/>
          </a:xfrm>
          <a:prstGeom prst="line">
            <a:avLst/>
          </a:prstGeom>
          <a:noFill/>
          <a:ln w="25400">
            <a:solidFill>
              <a:srgbClr val="0D9488"/>
            </a:solidFill>
            <a:prstDash val="solid"/>
          </a:ln>
        </p:spPr>
      </p:sp>
      <p:sp>
        <p:nvSpPr>
          <p:cNvPr id="26" name="Shape 24"/>
          <p:cNvSpPr/>
          <p:nvPr/>
        </p:nvSpPr>
        <p:spPr>
          <a:xfrm>
            <a:off x="5294376" y="1623060"/>
            <a:ext cx="54864" cy="91440"/>
          </a:xfrm>
          <a:prstGeom prst="rect">
            <a:avLst/>
          </a:prstGeom>
          <a:solidFill>
            <a:srgbClr val="0D9488"/>
          </a:solidFill>
          <a:ln w="12700">
            <a:solidFill>
              <a:srgbClr val="0D9488"/>
            </a:solidFill>
            <a:prstDash val="solid"/>
          </a:ln>
        </p:spPr>
      </p:sp>
      <p:sp>
        <p:nvSpPr>
          <p:cNvPr id="27" name="Shape 25"/>
          <p:cNvSpPr/>
          <p:nvPr/>
        </p:nvSpPr>
        <p:spPr>
          <a:xfrm>
            <a:off x="5349240" y="960120"/>
            <a:ext cx="1371600"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8" name="Shape 26"/>
          <p:cNvSpPr/>
          <p:nvPr/>
        </p:nvSpPr>
        <p:spPr>
          <a:xfrm>
            <a:off x="5349240" y="960120"/>
            <a:ext cx="1371600" cy="347472"/>
          </a:xfrm>
          <a:prstGeom prst="rect">
            <a:avLst/>
          </a:prstGeom>
          <a:solidFill>
            <a:srgbClr val="0D9488"/>
          </a:solidFill>
          <a:ln w="12700">
            <a:solidFill>
              <a:srgbClr val="0D9488"/>
            </a:solidFill>
            <a:prstDash val="solid"/>
          </a:ln>
        </p:spPr>
      </p:sp>
      <p:sp>
        <p:nvSpPr>
          <p:cNvPr id="29" name="Text 27"/>
          <p:cNvSpPr/>
          <p:nvPr/>
        </p:nvSpPr>
        <p:spPr>
          <a:xfrm>
            <a:off x="5349240" y="960120"/>
            <a:ext cx="137160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Agent 3</a:t>
            </a:r>
            <a:endParaRPr lang="en-US" sz="1000" dirty="0"/>
          </a:p>
        </p:txBody>
      </p:sp>
      <p:sp>
        <p:nvSpPr>
          <p:cNvPr id="30" name="Text 28"/>
          <p:cNvSpPr/>
          <p:nvPr/>
        </p:nvSpPr>
        <p:spPr>
          <a:xfrm>
            <a:off x="5422392" y="1344168"/>
            <a:ext cx="1225296" cy="658368"/>
          </a:xfrm>
          <a:prstGeom prst="rect">
            <a:avLst/>
          </a:prstGeom>
          <a:noFill/>
          <a:ln/>
        </p:spPr>
        <p:txBody>
          <a:bodyPr wrap="square" lIns="0" tIns="0" rIns="0" bIns="0" rtlCol="0" anchor="ctr"/>
          <a:lstStyle/>
          <a:p>
            <a:pPr algn="ctr" indent="0" marL="0">
              <a:buNone/>
            </a:pPr>
            <a:r>
              <a:rPr lang="en-US" sz="1300" dirty="0">
                <a:solidFill>
                  <a:srgbClr val="1E293B"/>
                </a:solidFill>
                <a:latin typeface="Arial Black" pitchFamily="34" charset="0"/>
                <a:ea typeface="Arial Black" pitchFamily="34" charset="-122"/>
                <a:cs typeface="Arial Black" pitchFamily="34" charset="-120"/>
              </a:rPr>
              <a:t>Bias</a:t>
            </a:r>
            <a:endParaRPr lang="en-US" sz="1300" dirty="0"/>
          </a:p>
          <a:p>
            <a:pPr algn="ctr" indent="0" marL="0">
              <a:buNone/>
            </a:pPr>
            <a:r>
              <a:rPr lang="en-US" sz="1300" dirty="0">
                <a:solidFill>
                  <a:srgbClr val="1E293B"/>
                </a:solidFill>
                <a:latin typeface="Arial Black" pitchFamily="34" charset="0"/>
                <a:ea typeface="Arial Black" pitchFamily="34" charset="-122"/>
                <a:cs typeface="Arial Black" pitchFamily="34" charset="-120"/>
              </a:rPr>
              <a:t>Detector</a:t>
            </a:r>
            <a:endParaRPr lang="en-US" sz="1300" dirty="0"/>
          </a:p>
        </p:txBody>
      </p:sp>
      <p:sp>
        <p:nvSpPr>
          <p:cNvPr id="31" name="Shape 29"/>
          <p:cNvSpPr/>
          <p:nvPr/>
        </p:nvSpPr>
        <p:spPr>
          <a:xfrm>
            <a:off x="5349240" y="2514600"/>
            <a:ext cx="1371600" cy="475488"/>
          </a:xfrm>
          <a:prstGeom prst="rect">
            <a:avLst/>
          </a:prstGeom>
          <a:solidFill>
            <a:srgbClr val="EEF9F8"/>
          </a:solidFill>
          <a:ln w="12700">
            <a:solidFill>
              <a:srgbClr val="14B8A6"/>
            </a:solidFill>
            <a:prstDash val="solid"/>
          </a:ln>
        </p:spPr>
      </p:sp>
      <p:sp>
        <p:nvSpPr>
          <p:cNvPr id="32" name="Text 30"/>
          <p:cNvSpPr/>
          <p:nvPr/>
        </p:nvSpPr>
        <p:spPr>
          <a:xfrm>
            <a:off x="5404104" y="2514600"/>
            <a:ext cx="1261872" cy="475488"/>
          </a:xfrm>
          <a:prstGeom prst="rect">
            <a:avLst/>
          </a:prstGeom>
          <a:noFill/>
          <a:ln/>
        </p:spPr>
        <p:txBody>
          <a:bodyPr wrap="square" lIns="0" tIns="0" rIns="0" bIns="0" rtlCol="0" anchor="ctr"/>
          <a:lstStyle/>
          <a:p>
            <a:pPr algn="ctr" indent="0" marL="0">
              <a:buNone/>
            </a:pPr>
            <a:r>
              <a:rPr lang="en-US" sz="900" dirty="0">
                <a:solidFill>
                  <a:srgbClr val="0D9488"/>
                </a:solidFill>
                <a:latin typeface="Calibri" pitchFamily="34" charset="0"/>
                <a:ea typeface="Calibri" pitchFamily="34" charset="-122"/>
                <a:cs typeface="Calibri" pitchFamily="34" charset="-120"/>
              </a:rPr>
              <a:t>bias_score + tone flags</a:t>
            </a:r>
            <a:endParaRPr lang="en-US" sz="900" dirty="0"/>
          </a:p>
        </p:txBody>
      </p:sp>
      <p:sp>
        <p:nvSpPr>
          <p:cNvPr id="33" name="Shape 31"/>
          <p:cNvSpPr/>
          <p:nvPr/>
        </p:nvSpPr>
        <p:spPr>
          <a:xfrm>
            <a:off x="6812280" y="1668780"/>
            <a:ext cx="182880" cy="0"/>
          </a:xfrm>
          <a:prstGeom prst="line">
            <a:avLst/>
          </a:prstGeom>
          <a:noFill/>
          <a:ln w="25400">
            <a:solidFill>
              <a:srgbClr val="0D9488"/>
            </a:solidFill>
            <a:prstDash val="solid"/>
          </a:ln>
        </p:spPr>
      </p:sp>
      <p:sp>
        <p:nvSpPr>
          <p:cNvPr id="34" name="Shape 32"/>
          <p:cNvSpPr/>
          <p:nvPr/>
        </p:nvSpPr>
        <p:spPr>
          <a:xfrm>
            <a:off x="6940296" y="1623060"/>
            <a:ext cx="54864" cy="91440"/>
          </a:xfrm>
          <a:prstGeom prst="rect">
            <a:avLst/>
          </a:prstGeom>
          <a:solidFill>
            <a:srgbClr val="0D9488"/>
          </a:solidFill>
          <a:ln w="12700">
            <a:solidFill>
              <a:srgbClr val="0D9488"/>
            </a:solidFill>
            <a:prstDash val="solid"/>
          </a:ln>
        </p:spPr>
      </p:sp>
      <p:sp>
        <p:nvSpPr>
          <p:cNvPr id="35" name="Shape 33"/>
          <p:cNvSpPr/>
          <p:nvPr/>
        </p:nvSpPr>
        <p:spPr>
          <a:xfrm>
            <a:off x="6995160" y="960120"/>
            <a:ext cx="1371600"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6" name="Shape 34"/>
          <p:cNvSpPr/>
          <p:nvPr/>
        </p:nvSpPr>
        <p:spPr>
          <a:xfrm>
            <a:off x="6995160" y="960120"/>
            <a:ext cx="1371600" cy="347472"/>
          </a:xfrm>
          <a:prstGeom prst="rect">
            <a:avLst/>
          </a:prstGeom>
          <a:solidFill>
            <a:srgbClr val="D97706"/>
          </a:solidFill>
          <a:ln w="12700">
            <a:solidFill>
              <a:srgbClr val="D97706"/>
            </a:solidFill>
            <a:prstDash val="solid"/>
          </a:ln>
        </p:spPr>
      </p:sp>
      <p:sp>
        <p:nvSpPr>
          <p:cNvPr id="37" name="Text 35"/>
          <p:cNvSpPr/>
          <p:nvPr/>
        </p:nvSpPr>
        <p:spPr>
          <a:xfrm>
            <a:off x="6995160" y="960120"/>
            <a:ext cx="137160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Agent 4</a:t>
            </a:r>
            <a:endParaRPr lang="en-US" sz="1000" dirty="0"/>
          </a:p>
        </p:txBody>
      </p:sp>
      <p:sp>
        <p:nvSpPr>
          <p:cNvPr id="38" name="Text 36"/>
          <p:cNvSpPr/>
          <p:nvPr/>
        </p:nvSpPr>
        <p:spPr>
          <a:xfrm>
            <a:off x="7068312" y="1344168"/>
            <a:ext cx="1225296" cy="658368"/>
          </a:xfrm>
          <a:prstGeom prst="rect">
            <a:avLst/>
          </a:prstGeom>
          <a:noFill/>
          <a:ln/>
        </p:spPr>
        <p:txBody>
          <a:bodyPr wrap="square" lIns="0" tIns="0" rIns="0" bIns="0" rtlCol="0" anchor="ctr"/>
          <a:lstStyle/>
          <a:p>
            <a:pPr algn="ctr" indent="0" marL="0">
              <a:buNone/>
            </a:pPr>
            <a:r>
              <a:rPr lang="en-US" sz="1300" dirty="0">
                <a:solidFill>
                  <a:srgbClr val="1E293B"/>
                </a:solidFill>
                <a:latin typeface="Arial Black" pitchFamily="34" charset="0"/>
                <a:ea typeface="Arial Black" pitchFamily="34" charset="-122"/>
                <a:cs typeface="Arial Black" pitchFamily="34" charset="-120"/>
              </a:rPr>
              <a:t>Judge</a:t>
            </a:r>
            <a:endParaRPr lang="en-US" sz="1300" dirty="0"/>
          </a:p>
        </p:txBody>
      </p:sp>
      <p:sp>
        <p:nvSpPr>
          <p:cNvPr id="39" name="Shape 37"/>
          <p:cNvSpPr/>
          <p:nvPr/>
        </p:nvSpPr>
        <p:spPr>
          <a:xfrm>
            <a:off x="6995160" y="2514600"/>
            <a:ext cx="1371600" cy="475488"/>
          </a:xfrm>
          <a:prstGeom prst="rect">
            <a:avLst/>
          </a:prstGeom>
          <a:solidFill>
            <a:srgbClr val="EEF9F8"/>
          </a:solidFill>
          <a:ln w="12700">
            <a:solidFill>
              <a:srgbClr val="14B8A6"/>
            </a:solidFill>
            <a:prstDash val="solid"/>
          </a:ln>
        </p:spPr>
      </p:sp>
      <p:sp>
        <p:nvSpPr>
          <p:cNvPr id="40" name="Text 38"/>
          <p:cNvSpPr/>
          <p:nvPr/>
        </p:nvSpPr>
        <p:spPr>
          <a:xfrm>
            <a:off x="7050024" y="2514600"/>
            <a:ext cx="1261872" cy="475488"/>
          </a:xfrm>
          <a:prstGeom prst="rect">
            <a:avLst/>
          </a:prstGeom>
          <a:noFill/>
          <a:ln/>
        </p:spPr>
        <p:txBody>
          <a:bodyPr wrap="square" lIns="0" tIns="0" rIns="0" bIns="0" rtlCol="0" anchor="ctr"/>
          <a:lstStyle/>
          <a:p>
            <a:pPr algn="ctr" indent="0" marL="0">
              <a:buNone/>
            </a:pPr>
            <a:r>
              <a:rPr lang="en-US" sz="900" dirty="0">
                <a:solidFill>
                  <a:srgbClr val="0D9488"/>
                </a:solidFill>
                <a:latin typeface="Calibri" pitchFamily="34" charset="0"/>
                <a:ea typeface="Calibri" pitchFamily="34" charset="-122"/>
                <a:cs typeface="Calibri" pitchFamily="34" charset="-120"/>
              </a:rPr>
              <a:t>REAL / FAKE + confidence</a:t>
            </a:r>
            <a:endParaRPr lang="en-US" sz="900" dirty="0"/>
          </a:p>
        </p:txBody>
      </p:sp>
      <p:sp>
        <p:nvSpPr>
          <p:cNvPr id="41" name="Shape 39"/>
          <p:cNvSpPr/>
          <p:nvPr/>
        </p:nvSpPr>
        <p:spPr>
          <a:xfrm>
            <a:off x="274320" y="3611880"/>
            <a:ext cx="8595360" cy="1298448"/>
          </a:xfrm>
          <a:prstGeom prst="rect">
            <a:avLst/>
          </a:prstGeom>
          <a:solidFill>
            <a:srgbClr val="0F172A"/>
          </a:solidFill>
          <a:ln w="25400">
            <a:solidFill>
              <a:srgbClr val="0D9488"/>
            </a:solidFill>
            <a:prstDash val="solid"/>
          </a:ln>
          <a:effectLst>
            <a:outerShdw sx="100000" sy="100000" kx="0" ky="0" algn="bl" rotWithShape="0" blurRad="101600" dist="38100" dir="8100000">
              <a:srgbClr val="000000">
                <a:alpha val="10000"/>
              </a:srgbClr>
            </a:outerShdw>
          </a:effectLst>
        </p:spPr>
      </p:sp>
      <p:sp>
        <p:nvSpPr>
          <p:cNvPr id="42" name="Text 40"/>
          <p:cNvSpPr/>
          <p:nvPr/>
        </p:nvSpPr>
        <p:spPr>
          <a:xfrm>
            <a:off x="457200" y="3703320"/>
            <a:ext cx="2286000" cy="320040"/>
          </a:xfrm>
          <a:prstGeom prst="rect">
            <a:avLst/>
          </a:prstGeom>
          <a:noFill/>
          <a:ln/>
        </p:spPr>
        <p:txBody>
          <a:bodyPr wrap="square" lIns="0" tIns="0" rIns="0" bIns="0" rtlCol="0" anchor="ctr"/>
          <a:lstStyle/>
          <a:p>
            <a:pPr indent="0" marL="0">
              <a:buNone/>
            </a:pPr>
            <a:r>
              <a:rPr lang="en-US" sz="1100" dirty="0">
                <a:solidFill>
                  <a:srgbClr val="14B8A6"/>
                </a:solidFill>
                <a:latin typeface="Arial Black" pitchFamily="34" charset="0"/>
                <a:ea typeface="Arial Black" pitchFamily="34" charset="-122"/>
                <a:cs typeface="Arial Black" pitchFamily="34" charset="-120"/>
              </a:rPr>
              <a:t>Verdict Formula</a:t>
            </a:r>
            <a:endParaRPr lang="en-US" sz="1100" dirty="0"/>
          </a:p>
        </p:txBody>
      </p:sp>
      <p:sp>
        <p:nvSpPr>
          <p:cNvPr id="43" name="Text 41"/>
          <p:cNvSpPr/>
          <p:nvPr/>
        </p:nvSpPr>
        <p:spPr>
          <a:xfrm>
            <a:off x="457200" y="4069080"/>
            <a:ext cx="8229600" cy="59436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combined = </a:t>
            </a:r>
            <a:pPr algn="ctr" indent="0" marL="0">
              <a:buNone/>
            </a:pPr>
            <a:r>
              <a:rPr lang="en-US" sz="1500" b="1" dirty="0">
                <a:solidFill>
                  <a:srgbClr val="14B8A6"/>
                </a:solidFill>
                <a:latin typeface="Calibri" pitchFamily="34" charset="0"/>
                <a:ea typeface="Calibri" pitchFamily="34" charset="-122"/>
                <a:cs typeface="Calibri" pitchFamily="34" charset="-120"/>
              </a:rPr>
              <a:t>fact_signal x 0.60</a:t>
            </a:r>
            <a:pPr algn="ctr" indent="0" marL="0">
              <a:buNone/>
            </a:pPr>
            <a:r>
              <a:rPr lang="en-US" sz="1500" dirty="0">
                <a:solidFill>
                  <a:srgbClr val="FFFFFF"/>
                </a:solidFill>
                <a:latin typeface="Calibri" pitchFamily="34" charset="0"/>
                <a:ea typeface="Calibri" pitchFamily="34" charset="-122"/>
                <a:cs typeface="Calibri" pitchFamily="34" charset="-120"/>
              </a:rPr>
              <a:t>  +  </a:t>
            </a:r>
            <a:pPr algn="ctr" indent="0" marL="0">
              <a:buNone/>
            </a:pPr>
            <a:r>
              <a:rPr lang="en-US" sz="1500" b="1" dirty="0">
                <a:solidFill>
                  <a:srgbClr val="93C5FD"/>
                </a:solidFill>
                <a:latin typeface="Calibri" pitchFamily="34" charset="0"/>
                <a:ea typeface="Calibri" pitchFamily="34" charset="-122"/>
                <a:cs typeface="Calibri" pitchFamily="34" charset="-120"/>
              </a:rPr>
              <a:t>bias_signal x 0.35</a:t>
            </a:r>
            <a:pPr algn="ctr" indent="0" marL="0">
              <a:buNone/>
            </a:pPr>
            <a:r>
              <a:rPr lang="en-US" sz="1500" dirty="0">
                <a:solidFill>
                  <a:srgbClr val="FFFFFF"/>
                </a:solidFill>
                <a:latin typeface="Calibri" pitchFamily="34" charset="0"/>
                <a:ea typeface="Calibri" pitchFamily="34" charset="-122"/>
                <a:cs typeface="Calibri" pitchFamily="34" charset="-120"/>
              </a:rPr>
              <a:t>  +  </a:t>
            </a:r>
            <a:pPr algn="ctr" indent="0" marL="0">
              <a:buNone/>
            </a:pPr>
            <a:r>
              <a:rPr lang="en-US" sz="1500" b="1" dirty="0">
                <a:solidFill>
                  <a:srgbClr val="F59E0B"/>
                </a:solidFill>
                <a:latin typeface="Calibri" pitchFamily="34" charset="0"/>
                <a:ea typeface="Calibri" pitchFamily="34" charset="-122"/>
                <a:cs typeface="Calibri" pitchFamily="34" charset="-120"/>
              </a:rPr>
              <a:t>roberta_signal x 0.05</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72A"/>
          </a:solidFill>
          <a:ln w="12700">
            <a:solidFill>
              <a:srgbClr val="0F172A"/>
            </a:solidFill>
            <a:prstDash val="solid"/>
          </a:ln>
        </p:spPr>
      </p:sp>
      <p:sp>
        <p:nvSpPr>
          <p:cNvPr id="3" name="Shape 1"/>
          <p:cNvSpPr/>
          <p:nvPr/>
        </p:nvSpPr>
        <p:spPr>
          <a:xfrm>
            <a:off x="0" y="0"/>
            <a:ext cx="164592" cy="502920"/>
          </a:xfrm>
          <a:prstGeom prst="rect">
            <a:avLst/>
          </a:prstGeom>
          <a:solidFill>
            <a:srgbClr val="0D9488"/>
          </a:solidFill>
          <a:ln w="12700">
            <a:solidFill>
              <a:srgbClr val="0D9488"/>
            </a:solidFill>
            <a:prstDash val="solid"/>
          </a:ln>
        </p:spPr>
      </p:sp>
      <p:sp>
        <p:nvSpPr>
          <p:cNvPr id="4" name="Text 2"/>
          <p:cNvSpPr/>
          <p:nvPr/>
        </p:nvSpPr>
        <p:spPr>
          <a:xfrm>
            <a:off x="320040" y="0"/>
            <a:ext cx="8503920" cy="502920"/>
          </a:xfrm>
          <a:prstGeom prst="rect">
            <a:avLst/>
          </a:prstGeom>
          <a:noFill/>
          <a:ln/>
        </p:spPr>
        <p:txBody>
          <a:bodyPr wrap="square" lIns="0" tIns="0" rIns="0" bIns="0" rtlCol="0" anchor="ctr"/>
          <a:lstStyle/>
          <a:p>
            <a:pPr indent="0" marL="0">
              <a:buNone/>
            </a:pPr>
            <a:r>
              <a:rPr lang="en-US" sz="1900" b="1" dirty="0">
                <a:solidFill>
                  <a:srgbClr val="FFFFFF"/>
                </a:solidFill>
                <a:latin typeface="Arial Black" pitchFamily="34" charset="0"/>
                <a:ea typeface="Arial Black" pitchFamily="34" charset="-122"/>
                <a:cs typeface="Arial Black" pitchFamily="34" charset="-120"/>
              </a:rPr>
              <a:t>Tech Stack &amp; Tools</a:t>
            </a:r>
            <a:endParaRPr lang="en-US" sz="1900" dirty="0"/>
          </a:p>
        </p:txBody>
      </p:sp>
      <p:sp>
        <p:nvSpPr>
          <p:cNvPr id="5" name="Shape 3"/>
          <p:cNvSpPr/>
          <p:nvPr/>
        </p:nvSpPr>
        <p:spPr>
          <a:xfrm>
            <a:off x="274320" y="658368"/>
            <a:ext cx="4206240" cy="1335024"/>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274320" y="658368"/>
            <a:ext cx="4206240" cy="310896"/>
          </a:xfrm>
          <a:prstGeom prst="rect">
            <a:avLst/>
          </a:prstGeom>
          <a:solidFill>
            <a:srgbClr val="0D9488"/>
          </a:solidFill>
          <a:ln w="12700">
            <a:solidFill>
              <a:srgbClr val="0D9488"/>
            </a:solidFill>
            <a:prstDash val="solid"/>
          </a:ln>
        </p:spPr>
      </p:sp>
      <p:sp>
        <p:nvSpPr>
          <p:cNvPr id="7" name="Text 5"/>
          <p:cNvSpPr/>
          <p:nvPr/>
        </p:nvSpPr>
        <p:spPr>
          <a:xfrm>
            <a:off x="384048" y="658368"/>
            <a:ext cx="3986784" cy="310896"/>
          </a:xfrm>
          <a:prstGeom prst="rect">
            <a:avLst/>
          </a:prstGeom>
          <a:noFill/>
          <a:ln/>
        </p:spPr>
        <p:txBody>
          <a:bodyPr wrap="square" lIns="0" tIns="0" rIns="0" bIns="0" rtlCol="0" anchor="ctr"/>
          <a:lstStyle/>
          <a:p>
            <a:pPr indent="0" marL="0">
              <a:buNone/>
            </a:pPr>
            <a:r>
              <a:rPr lang="en-US" sz="900" spc="100" kern="0" dirty="0">
                <a:solidFill>
                  <a:srgbClr val="FFFFFF"/>
                </a:solidFill>
                <a:latin typeface="Arial Black" pitchFamily="34" charset="0"/>
                <a:ea typeface="Arial Black" pitchFamily="34" charset="-122"/>
                <a:cs typeface="Arial Black" pitchFamily="34" charset="-120"/>
              </a:rPr>
              <a:t>FRAMEWORK</a:t>
            </a:r>
            <a:endParaRPr lang="en-US" sz="900" dirty="0"/>
          </a:p>
        </p:txBody>
      </p:sp>
      <p:sp>
        <p:nvSpPr>
          <p:cNvPr id="8" name="Text 6"/>
          <p:cNvSpPr/>
          <p:nvPr/>
        </p:nvSpPr>
        <p:spPr>
          <a:xfrm>
            <a:off x="384048" y="1005840"/>
            <a:ext cx="3986784" cy="365760"/>
          </a:xfrm>
          <a:prstGeom prst="rect">
            <a:avLst/>
          </a:prstGeom>
          <a:noFill/>
          <a:ln/>
        </p:spPr>
        <p:txBody>
          <a:bodyPr wrap="square" lIns="0" tIns="0" rIns="0" bIns="0" rtlCol="0" anchor="ctr"/>
          <a:lstStyle/>
          <a:p>
            <a:pPr indent="0" marL="0">
              <a:buNone/>
            </a:pPr>
            <a:r>
              <a:rPr lang="en-US" sz="1300" b="1" dirty="0">
                <a:solidFill>
                  <a:srgbClr val="1E293B"/>
                </a:solidFill>
                <a:latin typeface="Arial Black" pitchFamily="34" charset="0"/>
                <a:ea typeface="Arial Black" pitchFamily="34" charset="-122"/>
                <a:cs typeface="Arial Black" pitchFamily="34" charset="-120"/>
              </a:rPr>
              <a:t>CrewAI</a:t>
            </a:r>
            <a:endParaRPr lang="en-US" sz="1300" dirty="0"/>
          </a:p>
        </p:txBody>
      </p:sp>
      <p:sp>
        <p:nvSpPr>
          <p:cNvPr id="9" name="Text 7"/>
          <p:cNvSpPr/>
          <p:nvPr/>
        </p:nvSpPr>
        <p:spPr>
          <a:xfrm>
            <a:off x="384048" y="1371600"/>
            <a:ext cx="3986784" cy="56692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Orchestration framework for multi-agent workflows with sequential pipeline and built-in task delegation</a:t>
            </a:r>
            <a:endParaRPr lang="en-US" sz="1050" dirty="0"/>
          </a:p>
        </p:txBody>
      </p:sp>
      <p:sp>
        <p:nvSpPr>
          <p:cNvPr id="10" name="Shape 8"/>
          <p:cNvSpPr/>
          <p:nvPr/>
        </p:nvSpPr>
        <p:spPr>
          <a:xfrm>
            <a:off x="4709160" y="658368"/>
            <a:ext cx="4206240" cy="1335024"/>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4709160" y="658368"/>
            <a:ext cx="4206240" cy="310896"/>
          </a:xfrm>
          <a:prstGeom prst="rect">
            <a:avLst/>
          </a:prstGeom>
          <a:solidFill>
            <a:srgbClr val="1E293B"/>
          </a:solidFill>
          <a:ln w="12700">
            <a:solidFill>
              <a:srgbClr val="1E293B"/>
            </a:solidFill>
            <a:prstDash val="solid"/>
          </a:ln>
        </p:spPr>
      </p:sp>
      <p:sp>
        <p:nvSpPr>
          <p:cNvPr id="12" name="Text 10"/>
          <p:cNvSpPr/>
          <p:nvPr/>
        </p:nvSpPr>
        <p:spPr>
          <a:xfrm>
            <a:off x="4818888" y="658368"/>
            <a:ext cx="3986784" cy="310896"/>
          </a:xfrm>
          <a:prstGeom prst="rect">
            <a:avLst/>
          </a:prstGeom>
          <a:noFill/>
          <a:ln/>
        </p:spPr>
        <p:txBody>
          <a:bodyPr wrap="square" lIns="0" tIns="0" rIns="0" bIns="0" rtlCol="0" anchor="ctr"/>
          <a:lstStyle/>
          <a:p>
            <a:pPr indent="0" marL="0">
              <a:buNone/>
            </a:pPr>
            <a:r>
              <a:rPr lang="en-US" sz="900" spc="100" kern="0" dirty="0">
                <a:solidFill>
                  <a:srgbClr val="FFFFFF"/>
                </a:solidFill>
                <a:latin typeface="Arial Black" pitchFamily="34" charset="0"/>
                <a:ea typeface="Arial Black" pitchFamily="34" charset="-122"/>
                <a:cs typeface="Arial Black" pitchFamily="34" charset="-120"/>
              </a:rPr>
              <a:t>LLM</a:t>
            </a:r>
            <a:endParaRPr lang="en-US" sz="900" dirty="0"/>
          </a:p>
        </p:txBody>
      </p:sp>
      <p:sp>
        <p:nvSpPr>
          <p:cNvPr id="13" name="Text 11"/>
          <p:cNvSpPr/>
          <p:nvPr/>
        </p:nvSpPr>
        <p:spPr>
          <a:xfrm>
            <a:off x="4818888" y="1005840"/>
            <a:ext cx="3986784" cy="365760"/>
          </a:xfrm>
          <a:prstGeom prst="rect">
            <a:avLst/>
          </a:prstGeom>
          <a:noFill/>
          <a:ln/>
        </p:spPr>
        <p:txBody>
          <a:bodyPr wrap="square" lIns="0" tIns="0" rIns="0" bIns="0" rtlCol="0" anchor="ctr"/>
          <a:lstStyle/>
          <a:p>
            <a:pPr indent="0" marL="0">
              <a:buNone/>
            </a:pPr>
            <a:r>
              <a:rPr lang="en-US" sz="1300" b="1" dirty="0">
                <a:solidFill>
                  <a:srgbClr val="1E293B"/>
                </a:solidFill>
                <a:latin typeface="Arial Black" pitchFamily="34" charset="0"/>
                <a:ea typeface="Arial Black" pitchFamily="34" charset="-122"/>
                <a:cs typeface="Arial Black" pitchFamily="34" charset="-120"/>
              </a:rPr>
              <a:t>Qwen2.5:3b (Ollama)</a:t>
            </a:r>
            <a:endParaRPr lang="en-US" sz="1300" dirty="0"/>
          </a:p>
        </p:txBody>
      </p:sp>
      <p:sp>
        <p:nvSpPr>
          <p:cNvPr id="14" name="Text 12"/>
          <p:cNvSpPr/>
          <p:nvPr/>
        </p:nvSpPr>
        <p:spPr>
          <a:xfrm>
            <a:off x="4818888" y="1371600"/>
            <a:ext cx="3986784" cy="56692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Local LLM via Ollama chat endpoint — best accuracy/cost tradeoff; smaller model overthinks less</a:t>
            </a:r>
            <a:endParaRPr lang="en-US" sz="1050" dirty="0"/>
          </a:p>
        </p:txBody>
      </p:sp>
      <p:sp>
        <p:nvSpPr>
          <p:cNvPr id="15" name="Shape 13"/>
          <p:cNvSpPr/>
          <p:nvPr/>
        </p:nvSpPr>
        <p:spPr>
          <a:xfrm>
            <a:off x="274320" y="2139696"/>
            <a:ext cx="4206240" cy="1335024"/>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274320" y="2139696"/>
            <a:ext cx="4206240" cy="310896"/>
          </a:xfrm>
          <a:prstGeom prst="rect">
            <a:avLst/>
          </a:prstGeom>
          <a:solidFill>
            <a:srgbClr val="0D9488"/>
          </a:solidFill>
          <a:ln w="12700">
            <a:solidFill>
              <a:srgbClr val="0D9488"/>
            </a:solidFill>
            <a:prstDash val="solid"/>
          </a:ln>
        </p:spPr>
      </p:sp>
      <p:sp>
        <p:nvSpPr>
          <p:cNvPr id="17" name="Text 15"/>
          <p:cNvSpPr/>
          <p:nvPr/>
        </p:nvSpPr>
        <p:spPr>
          <a:xfrm>
            <a:off x="384048" y="2139696"/>
            <a:ext cx="3986784" cy="310896"/>
          </a:xfrm>
          <a:prstGeom prst="rect">
            <a:avLst/>
          </a:prstGeom>
          <a:noFill/>
          <a:ln/>
        </p:spPr>
        <p:txBody>
          <a:bodyPr wrap="square" lIns="0" tIns="0" rIns="0" bIns="0" rtlCol="0" anchor="ctr"/>
          <a:lstStyle/>
          <a:p>
            <a:pPr indent="0" marL="0">
              <a:buNone/>
            </a:pPr>
            <a:r>
              <a:rPr lang="en-US" sz="900" spc="100" kern="0" dirty="0">
                <a:solidFill>
                  <a:srgbClr val="FFFFFF"/>
                </a:solidFill>
                <a:latin typeface="Arial Black" pitchFamily="34" charset="0"/>
                <a:ea typeface="Arial Black" pitchFamily="34" charset="-122"/>
                <a:cs typeface="Arial Black" pitchFamily="34" charset="-120"/>
              </a:rPr>
              <a:t>SEARCH</a:t>
            </a:r>
            <a:endParaRPr lang="en-US" sz="900" dirty="0"/>
          </a:p>
        </p:txBody>
      </p:sp>
      <p:sp>
        <p:nvSpPr>
          <p:cNvPr id="18" name="Text 16"/>
          <p:cNvSpPr/>
          <p:nvPr/>
        </p:nvSpPr>
        <p:spPr>
          <a:xfrm>
            <a:off x="384048" y="2487168"/>
            <a:ext cx="3986784" cy="365760"/>
          </a:xfrm>
          <a:prstGeom prst="rect">
            <a:avLst/>
          </a:prstGeom>
          <a:noFill/>
          <a:ln/>
        </p:spPr>
        <p:txBody>
          <a:bodyPr wrap="square" lIns="0" tIns="0" rIns="0" bIns="0" rtlCol="0" anchor="ctr"/>
          <a:lstStyle/>
          <a:p>
            <a:pPr indent="0" marL="0">
              <a:buNone/>
            </a:pPr>
            <a:r>
              <a:rPr lang="en-US" sz="1300" b="1" dirty="0">
                <a:solidFill>
                  <a:srgbClr val="1E293B"/>
                </a:solidFill>
                <a:latin typeface="Arial Black" pitchFamily="34" charset="0"/>
                <a:ea typeface="Arial Black" pitchFamily="34" charset="-122"/>
                <a:cs typeface="Arial Black" pitchFamily="34" charset="-120"/>
              </a:rPr>
              <a:t>Wikipedia + DDG</a:t>
            </a:r>
            <a:endParaRPr lang="en-US" sz="1300" dirty="0"/>
          </a:p>
        </p:txBody>
      </p:sp>
      <p:sp>
        <p:nvSpPr>
          <p:cNvPr id="19" name="Text 17"/>
          <p:cNvSpPr/>
          <p:nvPr/>
        </p:nvSpPr>
        <p:spPr>
          <a:xfrm>
            <a:off x="384048" y="2852928"/>
            <a:ext cx="3986784" cy="56692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Fact-checker retrieval tools — real-time evidence per factual claim extracted from the article</a:t>
            </a:r>
            <a:endParaRPr lang="en-US" sz="1050" dirty="0"/>
          </a:p>
        </p:txBody>
      </p:sp>
      <p:sp>
        <p:nvSpPr>
          <p:cNvPr id="20" name="Shape 18"/>
          <p:cNvSpPr/>
          <p:nvPr/>
        </p:nvSpPr>
        <p:spPr>
          <a:xfrm>
            <a:off x="4709160" y="2139696"/>
            <a:ext cx="4206240" cy="1335024"/>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4709160" y="2139696"/>
            <a:ext cx="4206240" cy="310896"/>
          </a:xfrm>
          <a:prstGeom prst="rect">
            <a:avLst/>
          </a:prstGeom>
          <a:solidFill>
            <a:srgbClr val="1E293B"/>
          </a:solidFill>
          <a:ln w="12700">
            <a:solidFill>
              <a:srgbClr val="1E293B"/>
            </a:solidFill>
            <a:prstDash val="solid"/>
          </a:ln>
        </p:spPr>
      </p:sp>
      <p:sp>
        <p:nvSpPr>
          <p:cNvPr id="22" name="Text 20"/>
          <p:cNvSpPr/>
          <p:nvPr/>
        </p:nvSpPr>
        <p:spPr>
          <a:xfrm>
            <a:off x="4818888" y="2139696"/>
            <a:ext cx="3986784" cy="310896"/>
          </a:xfrm>
          <a:prstGeom prst="rect">
            <a:avLst/>
          </a:prstGeom>
          <a:noFill/>
          <a:ln/>
        </p:spPr>
        <p:txBody>
          <a:bodyPr wrap="square" lIns="0" tIns="0" rIns="0" bIns="0" rtlCol="0" anchor="ctr"/>
          <a:lstStyle/>
          <a:p>
            <a:pPr indent="0" marL="0">
              <a:buNone/>
            </a:pPr>
            <a:r>
              <a:rPr lang="en-US" sz="900" spc="100" kern="0" dirty="0">
                <a:solidFill>
                  <a:srgbClr val="FFFFFF"/>
                </a:solidFill>
                <a:latin typeface="Arial Black" pitchFamily="34" charset="0"/>
                <a:ea typeface="Arial Black" pitchFamily="34" charset="-122"/>
                <a:cs typeface="Arial Black" pitchFamily="34" charset="-120"/>
              </a:rPr>
              <a:t>CLASSIFIER</a:t>
            </a:r>
            <a:endParaRPr lang="en-US" sz="900" dirty="0"/>
          </a:p>
        </p:txBody>
      </p:sp>
      <p:sp>
        <p:nvSpPr>
          <p:cNvPr id="23" name="Text 21"/>
          <p:cNvSpPr/>
          <p:nvPr/>
        </p:nvSpPr>
        <p:spPr>
          <a:xfrm>
            <a:off x="4818888" y="2487168"/>
            <a:ext cx="3986784" cy="365760"/>
          </a:xfrm>
          <a:prstGeom prst="rect">
            <a:avLst/>
          </a:prstGeom>
          <a:noFill/>
          <a:ln/>
        </p:spPr>
        <p:txBody>
          <a:bodyPr wrap="square" lIns="0" tIns="0" rIns="0" bIns="0" rtlCol="0" anchor="ctr"/>
          <a:lstStyle/>
          <a:p>
            <a:pPr indent="0" marL="0">
              <a:buNone/>
            </a:pPr>
            <a:r>
              <a:rPr lang="en-US" sz="1300" b="1" dirty="0">
                <a:solidFill>
                  <a:srgbClr val="1E293B"/>
                </a:solidFill>
                <a:latin typeface="Arial Black" pitchFamily="34" charset="0"/>
                <a:ea typeface="Arial Black" pitchFamily="34" charset="-122"/>
                <a:cs typeface="Arial Black" pitchFamily="34" charset="-120"/>
              </a:rPr>
              <a:t>RoBERTa</a:t>
            </a:r>
            <a:endParaRPr lang="en-US" sz="1300" dirty="0"/>
          </a:p>
        </p:txBody>
      </p:sp>
      <p:sp>
        <p:nvSpPr>
          <p:cNvPr id="24" name="Text 22"/>
          <p:cNvSpPr/>
          <p:nvPr/>
        </p:nvSpPr>
        <p:spPr>
          <a:xfrm>
            <a:off x="4818888" y="2852928"/>
            <a:ext cx="3986784" cy="56692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hamzab/roberta-fake-news-classification via HuggingFace API — supporting signal, 5% weight in verdict</a:t>
            </a:r>
            <a:endParaRPr lang="en-US" sz="1050" dirty="0"/>
          </a:p>
        </p:txBody>
      </p:sp>
      <p:sp>
        <p:nvSpPr>
          <p:cNvPr id="25" name="Shape 23"/>
          <p:cNvSpPr/>
          <p:nvPr/>
        </p:nvSpPr>
        <p:spPr>
          <a:xfrm>
            <a:off x="274320" y="3621024"/>
            <a:ext cx="4206240" cy="1335024"/>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6" name="Shape 24"/>
          <p:cNvSpPr/>
          <p:nvPr/>
        </p:nvSpPr>
        <p:spPr>
          <a:xfrm>
            <a:off x="274320" y="3621024"/>
            <a:ext cx="4206240" cy="310896"/>
          </a:xfrm>
          <a:prstGeom prst="rect">
            <a:avLst/>
          </a:prstGeom>
          <a:solidFill>
            <a:srgbClr val="0D9488"/>
          </a:solidFill>
          <a:ln w="12700">
            <a:solidFill>
              <a:srgbClr val="0D9488"/>
            </a:solidFill>
            <a:prstDash val="solid"/>
          </a:ln>
        </p:spPr>
      </p:sp>
      <p:sp>
        <p:nvSpPr>
          <p:cNvPr id="27" name="Text 25"/>
          <p:cNvSpPr/>
          <p:nvPr/>
        </p:nvSpPr>
        <p:spPr>
          <a:xfrm>
            <a:off x="384048" y="3621024"/>
            <a:ext cx="3986784" cy="310896"/>
          </a:xfrm>
          <a:prstGeom prst="rect">
            <a:avLst/>
          </a:prstGeom>
          <a:noFill/>
          <a:ln/>
        </p:spPr>
        <p:txBody>
          <a:bodyPr wrap="square" lIns="0" tIns="0" rIns="0" bIns="0" rtlCol="0" anchor="ctr"/>
          <a:lstStyle/>
          <a:p>
            <a:pPr indent="0" marL="0">
              <a:buNone/>
            </a:pPr>
            <a:r>
              <a:rPr lang="en-US" sz="900" spc="100" kern="0" dirty="0">
                <a:solidFill>
                  <a:srgbClr val="FFFFFF"/>
                </a:solidFill>
                <a:latin typeface="Arial Black" pitchFamily="34" charset="0"/>
                <a:ea typeface="Arial Black" pitchFamily="34" charset="-122"/>
                <a:cs typeface="Arial Black" pitchFamily="34" charset="-120"/>
              </a:rPr>
              <a:t>SCORING</a:t>
            </a:r>
            <a:endParaRPr lang="en-US" sz="900" dirty="0"/>
          </a:p>
        </p:txBody>
      </p:sp>
      <p:sp>
        <p:nvSpPr>
          <p:cNvPr id="28" name="Text 26"/>
          <p:cNvSpPr/>
          <p:nvPr/>
        </p:nvSpPr>
        <p:spPr>
          <a:xfrm>
            <a:off x="384048" y="3968496"/>
            <a:ext cx="3986784" cy="365760"/>
          </a:xfrm>
          <a:prstGeom prst="rect">
            <a:avLst/>
          </a:prstGeom>
          <a:noFill/>
          <a:ln/>
        </p:spPr>
        <p:txBody>
          <a:bodyPr wrap="square" lIns="0" tIns="0" rIns="0" bIns="0" rtlCol="0" anchor="ctr"/>
          <a:lstStyle/>
          <a:p>
            <a:pPr indent="0" marL="0">
              <a:buNone/>
            </a:pPr>
            <a:r>
              <a:rPr lang="en-US" sz="1300" b="1" dirty="0">
                <a:solidFill>
                  <a:srgbClr val="1E293B"/>
                </a:solidFill>
                <a:latin typeface="Arial Black" pitchFamily="34" charset="0"/>
                <a:ea typeface="Arial Black" pitchFamily="34" charset="-122"/>
                <a:cs typeface="Arial Black" pitchFamily="34" charset="-120"/>
              </a:rPr>
              <a:t>Python _compute_verdict()</a:t>
            </a:r>
            <a:endParaRPr lang="en-US" sz="1300" dirty="0"/>
          </a:p>
        </p:txBody>
      </p:sp>
      <p:sp>
        <p:nvSpPr>
          <p:cNvPr id="29" name="Text 27"/>
          <p:cNvSpPr/>
          <p:nvPr/>
        </p:nvSpPr>
        <p:spPr>
          <a:xfrm>
            <a:off x="384048" y="4334256"/>
            <a:ext cx="3986784" cy="56692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All arithmetic extracted from the LLM into a deterministic Python function for guaranteed reproducibility</a:t>
            </a:r>
            <a:endParaRPr lang="en-US" sz="1050" dirty="0"/>
          </a:p>
        </p:txBody>
      </p:sp>
      <p:sp>
        <p:nvSpPr>
          <p:cNvPr id="30" name="Shape 28"/>
          <p:cNvSpPr/>
          <p:nvPr/>
        </p:nvSpPr>
        <p:spPr>
          <a:xfrm>
            <a:off x="4709160" y="3621024"/>
            <a:ext cx="4206240" cy="1335024"/>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1" name="Shape 29"/>
          <p:cNvSpPr/>
          <p:nvPr/>
        </p:nvSpPr>
        <p:spPr>
          <a:xfrm>
            <a:off x="4709160" y="3621024"/>
            <a:ext cx="4206240" cy="310896"/>
          </a:xfrm>
          <a:prstGeom prst="rect">
            <a:avLst/>
          </a:prstGeom>
          <a:solidFill>
            <a:srgbClr val="D97706"/>
          </a:solidFill>
          <a:ln w="12700">
            <a:solidFill>
              <a:srgbClr val="D97706"/>
            </a:solidFill>
            <a:prstDash val="solid"/>
          </a:ln>
        </p:spPr>
      </p:sp>
      <p:sp>
        <p:nvSpPr>
          <p:cNvPr id="32" name="Text 30"/>
          <p:cNvSpPr/>
          <p:nvPr/>
        </p:nvSpPr>
        <p:spPr>
          <a:xfrm>
            <a:off x="4818888" y="3621024"/>
            <a:ext cx="3986784" cy="310896"/>
          </a:xfrm>
          <a:prstGeom prst="rect">
            <a:avLst/>
          </a:prstGeom>
          <a:noFill/>
          <a:ln/>
        </p:spPr>
        <p:txBody>
          <a:bodyPr wrap="square" lIns="0" tIns="0" rIns="0" bIns="0" rtlCol="0" anchor="ctr"/>
          <a:lstStyle/>
          <a:p>
            <a:pPr indent="0" marL="0">
              <a:buNone/>
            </a:pPr>
            <a:r>
              <a:rPr lang="en-US" sz="900" spc="100" kern="0" dirty="0">
                <a:solidFill>
                  <a:srgbClr val="FFFFFF"/>
                </a:solidFill>
                <a:latin typeface="Arial Black" pitchFamily="34" charset="0"/>
                <a:ea typeface="Arial Black" pitchFamily="34" charset="-122"/>
                <a:cs typeface="Arial Black" pitchFamily="34" charset="-120"/>
              </a:rPr>
              <a:t>DATASET</a:t>
            </a:r>
            <a:endParaRPr lang="en-US" sz="900" dirty="0"/>
          </a:p>
        </p:txBody>
      </p:sp>
      <p:sp>
        <p:nvSpPr>
          <p:cNvPr id="33" name="Text 31"/>
          <p:cNvSpPr/>
          <p:nvPr/>
        </p:nvSpPr>
        <p:spPr>
          <a:xfrm>
            <a:off x="4818888" y="3968496"/>
            <a:ext cx="3986784" cy="365760"/>
          </a:xfrm>
          <a:prstGeom prst="rect">
            <a:avLst/>
          </a:prstGeom>
          <a:noFill/>
          <a:ln/>
        </p:spPr>
        <p:txBody>
          <a:bodyPr wrap="square" lIns="0" tIns="0" rIns="0" bIns="0" rtlCol="0" anchor="ctr"/>
          <a:lstStyle/>
          <a:p>
            <a:pPr indent="0" marL="0">
              <a:buNone/>
            </a:pPr>
            <a:r>
              <a:rPr lang="en-US" sz="1300" b="1" dirty="0">
                <a:solidFill>
                  <a:srgbClr val="1E293B"/>
                </a:solidFill>
                <a:latin typeface="Arial Black" pitchFamily="34" charset="0"/>
                <a:ea typeface="Arial Black" pitchFamily="34" charset="-122"/>
                <a:cs typeface="Arial Black" pitchFamily="34" charset="-120"/>
              </a:rPr>
              <a:t>WELFake</a:t>
            </a:r>
            <a:endParaRPr lang="en-US" sz="1300" dirty="0"/>
          </a:p>
        </p:txBody>
      </p:sp>
      <p:sp>
        <p:nvSpPr>
          <p:cNvPr id="34" name="Text 32"/>
          <p:cNvSpPr/>
          <p:nvPr/>
        </p:nvSpPr>
        <p:spPr>
          <a:xfrm>
            <a:off x="4818888" y="4334256"/>
            <a:ext cx="3986784" cy="56692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100 balanced articles (50 REAL / 50 FAKE) — US political news 2015-2017, sampled for evaluation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72A"/>
          </a:solidFill>
          <a:ln w="12700">
            <a:solidFill>
              <a:srgbClr val="0F172A"/>
            </a:solidFill>
            <a:prstDash val="solid"/>
          </a:ln>
        </p:spPr>
      </p:sp>
      <p:sp>
        <p:nvSpPr>
          <p:cNvPr id="3" name="Shape 1"/>
          <p:cNvSpPr/>
          <p:nvPr/>
        </p:nvSpPr>
        <p:spPr>
          <a:xfrm>
            <a:off x="0" y="0"/>
            <a:ext cx="164592" cy="502920"/>
          </a:xfrm>
          <a:prstGeom prst="rect">
            <a:avLst/>
          </a:prstGeom>
          <a:solidFill>
            <a:srgbClr val="0D9488"/>
          </a:solidFill>
          <a:ln w="12700">
            <a:solidFill>
              <a:srgbClr val="0D9488"/>
            </a:solidFill>
            <a:prstDash val="solid"/>
          </a:ln>
        </p:spPr>
      </p:sp>
      <p:sp>
        <p:nvSpPr>
          <p:cNvPr id="4" name="Text 2"/>
          <p:cNvSpPr/>
          <p:nvPr/>
        </p:nvSpPr>
        <p:spPr>
          <a:xfrm>
            <a:off x="320040" y="0"/>
            <a:ext cx="8503920" cy="502920"/>
          </a:xfrm>
          <a:prstGeom prst="rect">
            <a:avLst/>
          </a:prstGeom>
          <a:noFill/>
          <a:ln/>
        </p:spPr>
        <p:txBody>
          <a:bodyPr wrap="square" lIns="0" tIns="0" rIns="0" bIns="0" rtlCol="0" anchor="ctr"/>
          <a:lstStyle/>
          <a:p>
            <a:pPr indent="0" marL="0">
              <a:buNone/>
            </a:pPr>
            <a:r>
              <a:rPr lang="en-US" sz="1900" b="1" dirty="0">
                <a:solidFill>
                  <a:srgbClr val="FFFFFF"/>
                </a:solidFill>
                <a:latin typeface="Arial Black" pitchFamily="34" charset="0"/>
                <a:ea typeface="Arial Black" pitchFamily="34" charset="-122"/>
                <a:cs typeface="Arial Black" pitchFamily="34" charset="-120"/>
              </a:rPr>
              <a:t>Key Engineering Challenges</a:t>
            </a:r>
            <a:endParaRPr lang="en-US" sz="1900" dirty="0"/>
          </a:p>
        </p:txBody>
      </p:sp>
      <p:sp>
        <p:nvSpPr>
          <p:cNvPr id="5" name="Shape 3"/>
          <p:cNvSpPr/>
          <p:nvPr/>
        </p:nvSpPr>
        <p:spPr>
          <a:xfrm>
            <a:off x="274320" y="658368"/>
            <a:ext cx="8595360" cy="1335024"/>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274320" y="658368"/>
            <a:ext cx="841248" cy="1335024"/>
          </a:xfrm>
          <a:prstGeom prst="rect">
            <a:avLst/>
          </a:prstGeom>
          <a:solidFill>
            <a:srgbClr val="0D9488"/>
          </a:solidFill>
          <a:ln w="12700">
            <a:solidFill>
              <a:srgbClr val="0D9488"/>
            </a:solidFill>
            <a:prstDash val="solid"/>
          </a:ln>
        </p:spPr>
      </p:sp>
      <p:sp>
        <p:nvSpPr>
          <p:cNvPr id="7" name="Text 5"/>
          <p:cNvSpPr/>
          <p:nvPr/>
        </p:nvSpPr>
        <p:spPr>
          <a:xfrm>
            <a:off x="274320" y="658368"/>
            <a:ext cx="841248" cy="1335024"/>
          </a:xfrm>
          <a:prstGeom prst="rect">
            <a:avLst/>
          </a:prstGeom>
          <a:noFill/>
          <a:ln/>
        </p:spPr>
        <p:txBody>
          <a:bodyPr wrap="square" lIns="0" tIns="0" rIns="0" bIns="0" rtlCol="0" anchor="ctr"/>
          <a:lstStyle/>
          <a:p>
            <a:pPr algn="ctr" indent="0" marL="0">
              <a:buNone/>
            </a:pPr>
            <a:r>
              <a:rPr lang="en-US" sz="2400" b="1" dirty="0">
                <a:solidFill>
                  <a:srgbClr val="FFFFFF"/>
                </a:solidFill>
                <a:latin typeface="Arial Black" pitchFamily="34" charset="0"/>
                <a:ea typeface="Arial Black" pitchFamily="34" charset="-122"/>
                <a:cs typeface="Arial Black" pitchFamily="34" charset="-120"/>
              </a:rPr>
              <a:t>01</a:t>
            </a:r>
            <a:endParaRPr lang="en-US" sz="2400" dirty="0"/>
          </a:p>
        </p:txBody>
      </p:sp>
      <p:sp>
        <p:nvSpPr>
          <p:cNvPr id="8" name="Text 6"/>
          <p:cNvSpPr/>
          <p:nvPr/>
        </p:nvSpPr>
        <p:spPr>
          <a:xfrm>
            <a:off x="1234440" y="749808"/>
            <a:ext cx="7498080" cy="384048"/>
          </a:xfrm>
          <a:prstGeom prst="rect">
            <a:avLst/>
          </a:prstGeom>
          <a:noFill/>
          <a:ln/>
        </p:spPr>
        <p:txBody>
          <a:bodyPr wrap="square" lIns="0" tIns="0" rIns="0" bIns="0" rtlCol="0" anchor="ctr"/>
          <a:lstStyle/>
          <a:p>
            <a:pPr indent="0" marL="0">
              <a:buNone/>
            </a:pPr>
            <a:r>
              <a:rPr lang="en-US" sz="1300" b="1" dirty="0">
                <a:solidFill>
                  <a:srgbClr val="1E293B"/>
                </a:solidFill>
                <a:latin typeface="Arial Black" pitchFamily="34" charset="0"/>
                <a:ea typeface="Arial Black" pitchFamily="34" charset="-122"/>
                <a:cs typeface="Arial Black" pitchFamily="34" charset="-120"/>
              </a:rPr>
              <a:t>output_pydantic causes agents to skip tool calls</a:t>
            </a:r>
            <a:endParaRPr lang="en-US" sz="1300" dirty="0"/>
          </a:p>
        </p:txBody>
      </p:sp>
      <p:sp>
        <p:nvSpPr>
          <p:cNvPr id="9" name="Text 7"/>
          <p:cNvSpPr/>
          <p:nvPr/>
        </p:nvSpPr>
        <p:spPr>
          <a:xfrm>
            <a:off x="1234440" y="1170432"/>
            <a:ext cx="7498080" cy="768096"/>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Setting output_pydantic on a CrewAI task makes the agent jump straight to producing structured JSON output, skipping any Wikipedia or DuckDuckGo searches it was supposed to run first. Fix: split into two tasks - a search-only task (no schema), then a verdict task (with schema, using the search result as context).</a:t>
            </a:r>
            <a:endParaRPr lang="en-US" sz="1100" dirty="0"/>
          </a:p>
        </p:txBody>
      </p:sp>
      <p:sp>
        <p:nvSpPr>
          <p:cNvPr id="10" name="Shape 8"/>
          <p:cNvSpPr/>
          <p:nvPr/>
        </p:nvSpPr>
        <p:spPr>
          <a:xfrm>
            <a:off x="274320" y="2139696"/>
            <a:ext cx="8595360" cy="1335024"/>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274320" y="2139696"/>
            <a:ext cx="841248" cy="1335024"/>
          </a:xfrm>
          <a:prstGeom prst="rect">
            <a:avLst/>
          </a:prstGeom>
          <a:solidFill>
            <a:srgbClr val="1E293B"/>
          </a:solidFill>
          <a:ln w="12700">
            <a:solidFill>
              <a:srgbClr val="1E293B"/>
            </a:solidFill>
            <a:prstDash val="solid"/>
          </a:ln>
        </p:spPr>
      </p:sp>
      <p:sp>
        <p:nvSpPr>
          <p:cNvPr id="12" name="Text 10"/>
          <p:cNvSpPr/>
          <p:nvPr/>
        </p:nvSpPr>
        <p:spPr>
          <a:xfrm>
            <a:off x="274320" y="2139696"/>
            <a:ext cx="841248" cy="1335024"/>
          </a:xfrm>
          <a:prstGeom prst="rect">
            <a:avLst/>
          </a:prstGeom>
          <a:noFill/>
          <a:ln/>
        </p:spPr>
        <p:txBody>
          <a:bodyPr wrap="square" lIns="0" tIns="0" rIns="0" bIns="0" rtlCol="0" anchor="ctr"/>
          <a:lstStyle/>
          <a:p>
            <a:pPr algn="ctr" indent="0" marL="0">
              <a:buNone/>
            </a:pPr>
            <a:r>
              <a:rPr lang="en-US" sz="2400" b="1" dirty="0">
                <a:solidFill>
                  <a:srgbClr val="FFFFFF"/>
                </a:solidFill>
                <a:latin typeface="Arial Black" pitchFamily="34" charset="0"/>
                <a:ea typeface="Arial Black" pitchFamily="34" charset="-122"/>
                <a:cs typeface="Arial Black" pitchFamily="34" charset="-120"/>
              </a:rPr>
              <a:t>02</a:t>
            </a:r>
            <a:endParaRPr lang="en-US" sz="2400" dirty="0"/>
          </a:p>
        </p:txBody>
      </p:sp>
      <p:sp>
        <p:nvSpPr>
          <p:cNvPr id="13" name="Text 11"/>
          <p:cNvSpPr/>
          <p:nvPr/>
        </p:nvSpPr>
        <p:spPr>
          <a:xfrm>
            <a:off x="1234440" y="2231136"/>
            <a:ext cx="7498080" cy="384048"/>
          </a:xfrm>
          <a:prstGeom prst="rect">
            <a:avLst/>
          </a:prstGeom>
          <a:noFill/>
          <a:ln/>
        </p:spPr>
        <p:txBody>
          <a:bodyPr wrap="square" lIns="0" tIns="0" rIns="0" bIns="0" rtlCol="0" anchor="ctr"/>
          <a:lstStyle/>
          <a:p>
            <a:pPr indent="0" marL="0">
              <a:buNone/>
            </a:pPr>
            <a:r>
              <a:rPr lang="en-US" sz="1300" b="1" dirty="0">
                <a:solidFill>
                  <a:srgbClr val="1E293B"/>
                </a:solidFill>
                <a:latin typeface="Arial Black" pitchFamily="34" charset="0"/>
                <a:ea typeface="Arial Black" pitchFamily="34" charset="-122"/>
                <a:cs typeface="Arial Black" pitchFamily="34" charset="-120"/>
              </a:rPr>
              <a:t>Local models are unreliable at tool calling</a:t>
            </a:r>
            <a:endParaRPr lang="en-US" sz="1300" dirty="0"/>
          </a:p>
        </p:txBody>
      </p:sp>
      <p:sp>
        <p:nvSpPr>
          <p:cNvPr id="14" name="Text 12"/>
          <p:cNvSpPr/>
          <p:nvPr/>
        </p:nvSpPr>
        <p:spPr>
          <a:xfrm>
            <a:off x="1234440" y="2651760"/>
            <a:ext cx="7498080" cy="768096"/>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Qwen2.5:3b outputs tool parameters as plain text rather than structured function calls, which CrewAI cannot parse or execute. The framework requires OpenAI-style function calling. For pipelines that depend on real-time web searches, use the OpenAI API or call tools directly in Python.</a:t>
            </a:r>
            <a:endParaRPr lang="en-US" sz="1100" dirty="0"/>
          </a:p>
        </p:txBody>
      </p:sp>
      <p:sp>
        <p:nvSpPr>
          <p:cNvPr id="15" name="Shape 13"/>
          <p:cNvSpPr/>
          <p:nvPr/>
        </p:nvSpPr>
        <p:spPr>
          <a:xfrm>
            <a:off x="274320" y="3621024"/>
            <a:ext cx="8595360" cy="1335024"/>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274320" y="3621024"/>
            <a:ext cx="841248" cy="1335024"/>
          </a:xfrm>
          <a:prstGeom prst="rect">
            <a:avLst/>
          </a:prstGeom>
          <a:solidFill>
            <a:srgbClr val="D97706"/>
          </a:solidFill>
          <a:ln w="12700">
            <a:solidFill>
              <a:srgbClr val="D97706"/>
            </a:solidFill>
            <a:prstDash val="solid"/>
          </a:ln>
        </p:spPr>
      </p:sp>
      <p:sp>
        <p:nvSpPr>
          <p:cNvPr id="17" name="Text 15"/>
          <p:cNvSpPr/>
          <p:nvPr/>
        </p:nvSpPr>
        <p:spPr>
          <a:xfrm>
            <a:off x="274320" y="3621024"/>
            <a:ext cx="841248" cy="1335024"/>
          </a:xfrm>
          <a:prstGeom prst="rect">
            <a:avLst/>
          </a:prstGeom>
          <a:noFill/>
          <a:ln/>
        </p:spPr>
        <p:txBody>
          <a:bodyPr wrap="square" lIns="0" tIns="0" rIns="0" bIns="0" rtlCol="0" anchor="ctr"/>
          <a:lstStyle/>
          <a:p>
            <a:pPr algn="ctr" indent="0" marL="0">
              <a:buNone/>
            </a:pPr>
            <a:r>
              <a:rPr lang="en-US" sz="2400" b="1" dirty="0">
                <a:solidFill>
                  <a:srgbClr val="FFFFFF"/>
                </a:solidFill>
                <a:latin typeface="Arial Black" pitchFamily="34" charset="0"/>
                <a:ea typeface="Arial Black" pitchFamily="34" charset="-122"/>
                <a:cs typeface="Arial Black" pitchFamily="34" charset="-120"/>
              </a:rPr>
              <a:t>03</a:t>
            </a:r>
            <a:endParaRPr lang="en-US" sz="2400" dirty="0"/>
          </a:p>
        </p:txBody>
      </p:sp>
      <p:sp>
        <p:nvSpPr>
          <p:cNvPr id="18" name="Text 16"/>
          <p:cNvSpPr/>
          <p:nvPr/>
        </p:nvSpPr>
        <p:spPr>
          <a:xfrm>
            <a:off x="1234440" y="3712464"/>
            <a:ext cx="7498080" cy="384048"/>
          </a:xfrm>
          <a:prstGeom prst="rect">
            <a:avLst/>
          </a:prstGeom>
          <a:noFill/>
          <a:ln/>
        </p:spPr>
        <p:txBody>
          <a:bodyPr wrap="square" lIns="0" tIns="0" rIns="0" bIns="0" rtlCol="0" anchor="ctr"/>
          <a:lstStyle/>
          <a:p>
            <a:pPr indent="0" marL="0">
              <a:buNone/>
            </a:pPr>
            <a:r>
              <a:rPr lang="en-US" sz="1300" b="1" dirty="0">
                <a:solidFill>
                  <a:srgbClr val="1E293B"/>
                </a:solidFill>
                <a:latin typeface="Arial Black" pitchFamily="34" charset="0"/>
                <a:ea typeface="Arial Black" pitchFamily="34" charset="-122"/>
                <a:cs typeface="Arial Black" pitchFamily="34" charset="-120"/>
              </a:rPr>
              <a:t>Non-deterministic scoring from the Judge agent</a:t>
            </a:r>
            <a:endParaRPr lang="en-US" sz="1300" dirty="0"/>
          </a:p>
        </p:txBody>
      </p:sp>
      <p:sp>
        <p:nvSpPr>
          <p:cNvPr id="19" name="Text 17"/>
          <p:cNvSpPr/>
          <p:nvPr/>
        </p:nvSpPr>
        <p:spPr>
          <a:xfrm>
            <a:off x="1234440" y="4133088"/>
            <a:ext cx="7498080" cy="768096"/>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Letting the Judge LLM compute the final confidence score produced inconsistent results on identical inputs. Solution: extract all arithmetic to a Python function (_compute_verdict). The agent receives pre-computed values and only writes the human-readable explanation.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Shape 1"/>
          <p:cNvSpPr/>
          <p:nvPr/>
        </p:nvSpPr>
        <p:spPr>
          <a:xfrm>
            <a:off x="0" y="0"/>
            <a:ext cx="9144000" cy="502920"/>
          </a:xfrm>
          <a:prstGeom prst="rect">
            <a:avLst/>
          </a:prstGeom>
          <a:solidFill>
            <a:srgbClr val="0F172A"/>
          </a:solidFill>
          <a:ln w="12700">
            <a:solidFill>
              <a:srgbClr val="0F172A"/>
            </a:solidFill>
            <a:prstDash val="solid"/>
          </a:ln>
        </p:spPr>
      </p:sp>
      <p:sp>
        <p:nvSpPr>
          <p:cNvPr id="4" name="Shape 2"/>
          <p:cNvSpPr/>
          <p:nvPr/>
        </p:nvSpPr>
        <p:spPr>
          <a:xfrm>
            <a:off x="0" y="0"/>
            <a:ext cx="164592" cy="502920"/>
          </a:xfrm>
          <a:prstGeom prst="rect">
            <a:avLst/>
          </a:prstGeom>
          <a:solidFill>
            <a:srgbClr val="0D9488"/>
          </a:solidFill>
          <a:ln w="12700">
            <a:solidFill>
              <a:srgbClr val="0D9488"/>
            </a:solidFill>
            <a:prstDash val="solid"/>
          </a:ln>
        </p:spPr>
      </p:sp>
      <p:sp>
        <p:nvSpPr>
          <p:cNvPr id="5" name="Text 3"/>
          <p:cNvSpPr/>
          <p:nvPr/>
        </p:nvSpPr>
        <p:spPr>
          <a:xfrm>
            <a:off x="320040" y="0"/>
            <a:ext cx="8503920" cy="502920"/>
          </a:xfrm>
          <a:prstGeom prst="rect">
            <a:avLst/>
          </a:prstGeom>
          <a:noFill/>
          <a:ln/>
        </p:spPr>
        <p:txBody>
          <a:bodyPr wrap="square" lIns="0" tIns="0" rIns="0" bIns="0" rtlCol="0" anchor="ctr"/>
          <a:lstStyle/>
          <a:p>
            <a:pPr indent="0" marL="0">
              <a:buNone/>
            </a:pPr>
            <a:r>
              <a:rPr lang="en-US" sz="1900" b="1" dirty="0">
                <a:solidFill>
                  <a:srgbClr val="FFFFFF"/>
                </a:solidFill>
                <a:latin typeface="Arial Black" pitchFamily="34" charset="0"/>
                <a:ea typeface="Arial Black" pitchFamily="34" charset="-122"/>
                <a:cs typeface="Arial Black" pitchFamily="34" charset="-120"/>
              </a:rPr>
              <a:t>Results  -  Qwen2.5:3b  -  100 Articles</a:t>
            </a:r>
            <a:endParaRPr lang="en-US" sz="1900" dirty="0"/>
          </a:p>
        </p:txBody>
      </p:sp>
      <p:sp>
        <p:nvSpPr>
          <p:cNvPr id="6" name="Shape 4"/>
          <p:cNvSpPr/>
          <p:nvPr/>
        </p:nvSpPr>
        <p:spPr>
          <a:xfrm>
            <a:off x="320040" y="621792"/>
            <a:ext cx="1965960" cy="1325880"/>
          </a:xfrm>
          <a:prstGeom prst="rect">
            <a:avLst/>
          </a:prstGeom>
          <a:solidFill>
            <a:srgbClr val="334155"/>
          </a:solidFill>
          <a:ln w="12700">
            <a:solidFill>
              <a:srgbClr val="475569"/>
            </a:solidFill>
            <a:prstDash val="solid"/>
          </a:ln>
          <a:effectLst>
            <a:outerShdw sx="100000" sy="100000" kx="0" ky="0" algn="bl" rotWithShape="0" blurRad="101600" dist="38100" dir="8100000">
              <a:srgbClr val="000000">
                <a:alpha val="10000"/>
              </a:srgbClr>
            </a:outerShdw>
          </a:effectLst>
        </p:spPr>
      </p:sp>
      <p:sp>
        <p:nvSpPr>
          <p:cNvPr id="7" name="Text 5"/>
          <p:cNvSpPr/>
          <p:nvPr/>
        </p:nvSpPr>
        <p:spPr>
          <a:xfrm>
            <a:off x="320040" y="658368"/>
            <a:ext cx="1965960" cy="822960"/>
          </a:xfrm>
          <a:prstGeom prst="rect">
            <a:avLst/>
          </a:prstGeom>
          <a:noFill/>
          <a:ln/>
        </p:spPr>
        <p:txBody>
          <a:bodyPr wrap="square" lIns="0" tIns="0" rIns="0" bIns="0" rtlCol="0" anchor="ctr"/>
          <a:lstStyle/>
          <a:p>
            <a:pPr algn="ctr" indent="0" marL="0">
              <a:buNone/>
            </a:pPr>
            <a:r>
              <a:rPr lang="en-US" sz="3800" b="1" dirty="0">
                <a:solidFill>
                  <a:srgbClr val="14B8A6"/>
                </a:solidFill>
                <a:latin typeface="Arial Black" pitchFamily="34" charset="0"/>
                <a:ea typeface="Arial Black" pitchFamily="34" charset="-122"/>
                <a:cs typeface="Arial Black" pitchFamily="34" charset="-120"/>
              </a:rPr>
              <a:t>89%</a:t>
            </a:r>
            <a:endParaRPr lang="en-US" sz="3800" dirty="0"/>
          </a:p>
        </p:txBody>
      </p:sp>
      <p:sp>
        <p:nvSpPr>
          <p:cNvPr id="8" name="Text 6"/>
          <p:cNvSpPr/>
          <p:nvPr/>
        </p:nvSpPr>
        <p:spPr>
          <a:xfrm>
            <a:off x="320040" y="1417320"/>
            <a:ext cx="196596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Accuracy</a:t>
            </a:r>
            <a:endParaRPr lang="en-US" sz="1100" dirty="0"/>
          </a:p>
        </p:txBody>
      </p:sp>
      <p:sp>
        <p:nvSpPr>
          <p:cNvPr id="9" name="Shape 7"/>
          <p:cNvSpPr/>
          <p:nvPr/>
        </p:nvSpPr>
        <p:spPr>
          <a:xfrm>
            <a:off x="2468880" y="621792"/>
            <a:ext cx="1965960" cy="1325880"/>
          </a:xfrm>
          <a:prstGeom prst="rect">
            <a:avLst/>
          </a:prstGeom>
          <a:solidFill>
            <a:srgbClr val="334155"/>
          </a:solidFill>
          <a:ln w="12700">
            <a:solidFill>
              <a:srgbClr val="475569"/>
            </a:solidFill>
            <a:prstDash val="solid"/>
          </a:ln>
          <a:effectLst>
            <a:outerShdw sx="100000" sy="100000" kx="0" ky="0" algn="bl" rotWithShape="0" blurRad="101600" dist="38100" dir="8100000">
              <a:srgbClr val="000000">
                <a:alpha val="10000"/>
              </a:srgbClr>
            </a:outerShdw>
          </a:effectLst>
        </p:spPr>
      </p:sp>
      <p:sp>
        <p:nvSpPr>
          <p:cNvPr id="10" name="Text 8"/>
          <p:cNvSpPr/>
          <p:nvPr/>
        </p:nvSpPr>
        <p:spPr>
          <a:xfrm>
            <a:off x="2468880" y="658368"/>
            <a:ext cx="1965960" cy="822960"/>
          </a:xfrm>
          <a:prstGeom prst="rect">
            <a:avLst/>
          </a:prstGeom>
          <a:noFill/>
          <a:ln/>
        </p:spPr>
        <p:txBody>
          <a:bodyPr wrap="square" lIns="0" tIns="0" rIns="0" bIns="0" rtlCol="0" anchor="ctr"/>
          <a:lstStyle/>
          <a:p>
            <a:pPr algn="ctr" indent="0" marL="0">
              <a:buNone/>
            </a:pPr>
            <a:r>
              <a:rPr lang="en-US" sz="3800" b="1" dirty="0">
                <a:solidFill>
                  <a:srgbClr val="14B8A6"/>
                </a:solidFill>
                <a:latin typeface="Arial Black" pitchFamily="34" charset="0"/>
                <a:ea typeface="Arial Black" pitchFamily="34" charset="-122"/>
                <a:cs typeface="Arial Black" pitchFamily="34" charset="-120"/>
              </a:rPr>
              <a:t>0.89</a:t>
            </a:r>
            <a:endParaRPr lang="en-US" sz="3800" dirty="0"/>
          </a:p>
        </p:txBody>
      </p:sp>
      <p:sp>
        <p:nvSpPr>
          <p:cNvPr id="11" name="Text 9"/>
          <p:cNvSpPr/>
          <p:nvPr/>
        </p:nvSpPr>
        <p:spPr>
          <a:xfrm>
            <a:off x="2468880" y="1417320"/>
            <a:ext cx="196596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F1-Score</a:t>
            </a:r>
            <a:endParaRPr lang="en-US" sz="1100" dirty="0"/>
          </a:p>
        </p:txBody>
      </p:sp>
      <p:sp>
        <p:nvSpPr>
          <p:cNvPr id="12" name="Shape 10"/>
          <p:cNvSpPr/>
          <p:nvPr/>
        </p:nvSpPr>
        <p:spPr>
          <a:xfrm>
            <a:off x="4617720" y="621792"/>
            <a:ext cx="1965960" cy="1325880"/>
          </a:xfrm>
          <a:prstGeom prst="rect">
            <a:avLst/>
          </a:prstGeom>
          <a:solidFill>
            <a:srgbClr val="334155"/>
          </a:solidFill>
          <a:ln w="12700">
            <a:solidFill>
              <a:srgbClr val="475569"/>
            </a:solidFill>
            <a:prstDash val="solid"/>
          </a:ln>
          <a:effectLst>
            <a:outerShdw sx="100000" sy="100000" kx="0" ky="0" algn="bl" rotWithShape="0" blurRad="101600" dist="38100" dir="8100000">
              <a:srgbClr val="000000">
                <a:alpha val="10000"/>
              </a:srgbClr>
            </a:outerShdw>
          </a:effectLst>
        </p:spPr>
      </p:sp>
      <p:sp>
        <p:nvSpPr>
          <p:cNvPr id="13" name="Text 11"/>
          <p:cNvSpPr/>
          <p:nvPr/>
        </p:nvSpPr>
        <p:spPr>
          <a:xfrm>
            <a:off x="4617720" y="658368"/>
            <a:ext cx="1965960" cy="822960"/>
          </a:xfrm>
          <a:prstGeom prst="rect">
            <a:avLst/>
          </a:prstGeom>
          <a:noFill/>
          <a:ln/>
        </p:spPr>
        <p:txBody>
          <a:bodyPr wrap="square" lIns="0" tIns="0" rIns="0" bIns="0" rtlCol="0" anchor="ctr"/>
          <a:lstStyle/>
          <a:p>
            <a:pPr algn="ctr" indent="0" marL="0">
              <a:buNone/>
            </a:pPr>
            <a:r>
              <a:rPr lang="en-US" sz="3800" b="1" dirty="0">
                <a:solidFill>
                  <a:srgbClr val="93C5FD"/>
                </a:solidFill>
                <a:latin typeface="Arial Black" pitchFamily="34" charset="0"/>
                <a:ea typeface="Arial Black" pitchFamily="34" charset="-122"/>
                <a:cs typeface="Arial Black" pitchFamily="34" charset="-120"/>
              </a:rPr>
              <a:t>0.875</a:t>
            </a:r>
            <a:endParaRPr lang="en-US" sz="3800" dirty="0"/>
          </a:p>
        </p:txBody>
      </p:sp>
      <p:sp>
        <p:nvSpPr>
          <p:cNvPr id="14" name="Text 12"/>
          <p:cNvSpPr/>
          <p:nvPr/>
        </p:nvSpPr>
        <p:spPr>
          <a:xfrm>
            <a:off x="4617720" y="1417320"/>
            <a:ext cx="196596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Avg Confidence</a:t>
            </a:r>
            <a:endParaRPr lang="en-US" sz="1100" dirty="0"/>
          </a:p>
        </p:txBody>
      </p:sp>
      <p:sp>
        <p:nvSpPr>
          <p:cNvPr id="15" name="Shape 13"/>
          <p:cNvSpPr/>
          <p:nvPr/>
        </p:nvSpPr>
        <p:spPr>
          <a:xfrm>
            <a:off x="6766560" y="621792"/>
            <a:ext cx="1965960" cy="1325880"/>
          </a:xfrm>
          <a:prstGeom prst="rect">
            <a:avLst/>
          </a:prstGeom>
          <a:solidFill>
            <a:srgbClr val="334155"/>
          </a:solidFill>
          <a:ln w="12700">
            <a:solidFill>
              <a:srgbClr val="475569"/>
            </a:solidFill>
            <a:prstDash val="solid"/>
          </a:ln>
          <a:effectLst>
            <a:outerShdw sx="100000" sy="100000" kx="0" ky="0" algn="bl" rotWithShape="0" blurRad="101600" dist="38100" dir="8100000">
              <a:srgbClr val="000000">
                <a:alpha val="10000"/>
              </a:srgbClr>
            </a:outerShdw>
          </a:effectLst>
        </p:spPr>
      </p:sp>
      <p:sp>
        <p:nvSpPr>
          <p:cNvPr id="16" name="Text 14"/>
          <p:cNvSpPr/>
          <p:nvPr/>
        </p:nvSpPr>
        <p:spPr>
          <a:xfrm>
            <a:off x="6766560" y="658368"/>
            <a:ext cx="1965960" cy="822960"/>
          </a:xfrm>
          <a:prstGeom prst="rect">
            <a:avLst/>
          </a:prstGeom>
          <a:noFill/>
          <a:ln/>
        </p:spPr>
        <p:txBody>
          <a:bodyPr wrap="square" lIns="0" tIns="0" rIns="0" bIns="0" rtlCol="0" anchor="ctr"/>
          <a:lstStyle/>
          <a:p>
            <a:pPr algn="ctr" indent="0" marL="0">
              <a:buNone/>
            </a:pPr>
            <a:r>
              <a:rPr lang="en-US" sz="3800" b="1" dirty="0">
                <a:solidFill>
                  <a:srgbClr val="93C5FD"/>
                </a:solidFill>
                <a:latin typeface="Arial Black" pitchFamily="34" charset="0"/>
                <a:ea typeface="Arial Black" pitchFamily="34" charset="-122"/>
                <a:cs typeface="Arial Black" pitchFamily="34" charset="-120"/>
              </a:rPr>
              <a:t>~30s</a:t>
            </a:r>
            <a:endParaRPr lang="en-US" sz="3800" dirty="0"/>
          </a:p>
        </p:txBody>
      </p:sp>
      <p:sp>
        <p:nvSpPr>
          <p:cNvPr id="17" name="Text 15"/>
          <p:cNvSpPr/>
          <p:nvPr/>
        </p:nvSpPr>
        <p:spPr>
          <a:xfrm>
            <a:off x="6766560" y="1417320"/>
            <a:ext cx="196596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Avg Per Article</a:t>
            </a:r>
            <a:endParaRPr lang="en-US" sz="1100" dirty="0"/>
          </a:p>
        </p:txBody>
      </p:sp>
      <p:sp>
        <p:nvSpPr>
          <p:cNvPr id="18" name="Text 16"/>
          <p:cNvSpPr/>
          <p:nvPr/>
        </p:nvSpPr>
        <p:spPr>
          <a:xfrm>
            <a:off x="320040" y="2084832"/>
            <a:ext cx="4114800" cy="347472"/>
          </a:xfrm>
          <a:prstGeom prst="rect">
            <a:avLst/>
          </a:prstGeom>
          <a:noFill/>
          <a:ln/>
        </p:spPr>
        <p:txBody>
          <a:bodyPr wrap="square" lIns="0" tIns="0" rIns="0" bIns="0" rtlCol="0" anchor="ctr"/>
          <a:lstStyle/>
          <a:p>
            <a:pPr indent="0" marL="0">
              <a:buNone/>
            </a:pPr>
            <a:r>
              <a:rPr lang="en-US" sz="1300" dirty="0">
                <a:solidFill>
                  <a:srgbClr val="14B8A6"/>
                </a:solidFill>
                <a:latin typeface="Arial Black" pitchFamily="34" charset="0"/>
                <a:ea typeface="Arial Black" pitchFamily="34" charset="-122"/>
                <a:cs typeface="Arial Black" pitchFamily="34" charset="-120"/>
              </a:rPr>
              <a:t>Confusion Matrix</a:t>
            </a:r>
            <a:endParaRPr lang="en-US" sz="1300" dirty="0"/>
          </a:p>
        </p:txBody>
      </p:sp>
      <p:sp>
        <p:nvSpPr>
          <p:cNvPr id="19" name="Shape 17"/>
          <p:cNvSpPr/>
          <p:nvPr/>
        </p:nvSpPr>
        <p:spPr>
          <a:xfrm>
            <a:off x="320040" y="2468880"/>
            <a:ext cx="1298448" cy="658368"/>
          </a:xfrm>
          <a:prstGeom prst="rect">
            <a:avLst/>
          </a:prstGeom>
          <a:solidFill>
            <a:srgbClr val="1E293B"/>
          </a:solidFill>
          <a:ln w="12700">
            <a:solidFill>
              <a:srgbClr val="0F172A"/>
            </a:solidFill>
            <a:prstDash val="solid"/>
          </a:ln>
        </p:spPr>
      </p:sp>
      <p:sp>
        <p:nvSpPr>
          <p:cNvPr id="20" name="Text 18"/>
          <p:cNvSpPr/>
          <p:nvPr/>
        </p:nvSpPr>
        <p:spPr>
          <a:xfrm>
            <a:off x="320040" y="2468880"/>
            <a:ext cx="1298448" cy="658368"/>
          </a:xfrm>
          <a:prstGeom prst="rect">
            <a:avLst/>
          </a:prstGeom>
          <a:noFill/>
          <a:ln/>
        </p:spPr>
        <p:txBody>
          <a:bodyPr wrap="square" lIns="0" tIns="0" rIns="0" bIns="0" rtlCol="0" anchor="ctr"/>
          <a:lstStyle/>
          <a:p>
            <a:pPr algn="ctr" indent="0" marL="0">
              <a:buNone/>
            </a:pPr>
            <a:endParaRPr lang="en-US" sz="900" dirty="0"/>
          </a:p>
        </p:txBody>
      </p:sp>
      <p:sp>
        <p:nvSpPr>
          <p:cNvPr id="21" name="Shape 19"/>
          <p:cNvSpPr/>
          <p:nvPr/>
        </p:nvSpPr>
        <p:spPr>
          <a:xfrm>
            <a:off x="1618488" y="2468880"/>
            <a:ext cx="1298448" cy="658368"/>
          </a:xfrm>
          <a:prstGeom prst="rect">
            <a:avLst/>
          </a:prstGeom>
          <a:solidFill>
            <a:srgbClr val="1E293B"/>
          </a:solidFill>
          <a:ln w="12700">
            <a:solidFill>
              <a:srgbClr val="0F172A"/>
            </a:solidFill>
            <a:prstDash val="solid"/>
          </a:ln>
        </p:spPr>
      </p:sp>
      <p:sp>
        <p:nvSpPr>
          <p:cNvPr id="22" name="Text 20"/>
          <p:cNvSpPr/>
          <p:nvPr/>
        </p:nvSpPr>
        <p:spPr>
          <a:xfrm>
            <a:off x="1618488" y="2468880"/>
            <a:ext cx="1298448" cy="658368"/>
          </a:xfrm>
          <a:prstGeom prst="rect">
            <a:avLst/>
          </a:prstGeom>
          <a:noFill/>
          <a:ln/>
        </p:spPr>
        <p:txBody>
          <a:bodyPr wrap="square" lIns="0" tIns="0" rIns="0" bIns="0" rtlCol="0" anchor="ctr"/>
          <a:lstStyle/>
          <a:p>
            <a:pPr algn="ctr" indent="0" marL="0">
              <a:buNone/>
            </a:pPr>
            <a:r>
              <a:rPr lang="en-US" sz="900" dirty="0">
                <a:solidFill>
                  <a:srgbClr val="14B8A6"/>
                </a:solidFill>
                <a:latin typeface="Calibri" pitchFamily="34" charset="0"/>
                <a:ea typeface="Calibri" pitchFamily="34" charset="-122"/>
                <a:cs typeface="Calibri" pitchFamily="34" charset="-120"/>
              </a:rPr>
              <a:t>Pred REAL</a:t>
            </a:r>
            <a:endParaRPr lang="en-US" sz="900" dirty="0"/>
          </a:p>
        </p:txBody>
      </p:sp>
      <p:sp>
        <p:nvSpPr>
          <p:cNvPr id="23" name="Shape 21"/>
          <p:cNvSpPr/>
          <p:nvPr/>
        </p:nvSpPr>
        <p:spPr>
          <a:xfrm>
            <a:off x="2916936" y="2468880"/>
            <a:ext cx="1298448" cy="658368"/>
          </a:xfrm>
          <a:prstGeom prst="rect">
            <a:avLst/>
          </a:prstGeom>
          <a:solidFill>
            <a:srgbClr val="1E293B"/>
          </a:solidFill>
          <a:ln w="12700">
            <a:solidFill>
              <a:srgbClr val="0F172A"/>
            </a:solidFill>
            <a:prstDash val="solid"/>
          </a:ln>
        </p:spPr>
      </p:sp>
      <p:sp>
        <p:nvSpPr>
          <p:cNvPr id="24" name="Text 22"/>
          <p:cNvSpPr/>
          <p:nvPr/>
        </p:nvSpPr>
        <p:spPr>
          <a:xfrm>
            <a:off x="2916936" y="2468880"/>
            <a:ext cx="1298448" cy="658368"/>
          </a:xfrm>
          <a:prstGeom prst="rect">
            <a:avLst/>
          </a:prstGeom>
          <a:noFill/>
          <a:ln/>
        </p:spPr>
        <p:txBody>
          <a:bodyPr wrap="square" lIns="0" tIns="0" rIns="0" bIns="0" rtlCol="0" anchor="ctr"/>
          <a:lstStyle/>
          <a:p>
            <a:pPr algn="ctr" indent="0" marL="0">
              <a:buNone/>
            </a:pPr>
            <a:r>
              <a:rPr lang="en-US" sz="900" dirty="0">
                <a:solidFill>
                  <a:srgbClr val="14B8A6"/>
                </a:solidFill>
                <a:latin typeface="Calibri" pitchFamily="34" charset="0"/>
                <a:ea typeface="Calibri" pitchFamily="34" charset="-122"/>
                <a:cs typeface="Calibri" pitchFamily="34" charset="-120"/>
              </a:rPr>
              <a:t>Pred FAKE</a:t>
            </a:r>
            <a:endParaRPr lang="en-US" sz="900" dirty="0"/>
          </a:p>
        </p:txBody>
      </p:sp>
      <p:sp>
        <p:nvSpPr>
          <p:cNvPr id="25" name="Shape 23"/>
          <p:cNvSpPr/>
          <p:nvPr/>
        </p:nvSpPr>
        <p:spPr>
          <a:xfrm>
            <a:off x="320040" y="3127248"/>
            <a:ext cx="1298448" cy="658368"/>
          </a:xfrm>
          <a:prstGeom prst="rect">
            <a:avLst/>
          </a:prstGeom>
          <a:solidFill>
            <a:srgbClr val="1E293B"/>
          </a:solidFill>
          <a:ln w="12700">
            <a:solidFill>
              <a:srgbClr val="0F172A"/>
            </a:solidFill>
            <a:prstDash val="solid"/>
          </a:ln>
        </p:spPr>
      </p:sp>
      <p:sp>
        <p:nvSpPr>
          <p:cNvPr id="26" name="Text 24"/>
          <p:cNvSpPr/>
          <p:nvPr/>
        </p:nvSpPr>
        <p:spPr>
          <a:xfrm>
            <a:off x="320040" y="3127248"/>
            <a:ext cx="1298448" cy="65836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True REAL</a:t>
            </a:r>
            <a:endParaRPr lang="en-US" sz="900" dirty="0"/>
          </a:p>
        </p:txBody>
      </p:sp>
      <p:sp>
        <p:nvSpPr>
          <p:cNvPr id="27" name="Shape 25"/>
          <p:cNvSpPr/>
          <p:nvPr/>
        </p:nvSpPr>
        <p:spPr>
          <a:xfrm>
            <a:off x="1618488" y="3127248"/>
            <a:ext cx="1298448" cy="658368"/>
          </a:xfrm>
          <a:prstGeom prst="rect">
            <a:avLst/>
          </a:prstGeom>
          <a:solidFill>
            <a:srgbClr val="065F46"/>
          </a:solidFill>
          <a:ln w="12700">
            <a:solidFill>
              <a:srgbClr val="0F172A"/>
            </a:solidFill>
            <a:prstDash val="solid"/>
          </a:ln>
        </p:spPr>
      </p:sp>
      <p:sp>
        <p:nvSpPr>
          <p:cNvPr id="28" name="Text 26"/>
          <p:cNvSpPr/>
          <p:nvPr/>
        </p:nvSpPr>
        <p:spPr>
          <a:xfrm>
            <a:off x="1618488" y="3127248"/>
            <a:ext cx="1298448" cy="658368"/>
          </a:xfrm>
          <a:prstGeom prst="rect">
            <a:avLst/>
          </a:prstGeom>
          <a:noFill/>
          <a:ln/>
        </p:spPr>
        <p:txBody>
          <a:bodyPr wrap="square" lIns="0" tIns="0" rIns="0" bIns="0" rtlCol="0" anchor="ctr"/>
          <a:lstStyle/>
          <a:p>
            <a:pPr algn="ctr" indent="0" marL="0">
              <a:buNone/>
            </a:pPr>
            <a:r>
              <a:rPr lang="en-US" sz="1800" b="1" dirty="0">
                <a:solidFill>
                  <a:srgbClr val="10B981"/>
                </a:solidFill>
                <a:latin typeface="Arial Black" pitchFamily="34" charset="0"/>
                <a:ea typeface="Arial Black" pitchFamily="34" charset="-122"/>
                <a:cs typeface="Arial Black" pitchFamily="34" charset="-120"/>
              </a:rPr>
              <a:t>45  (TP)</a:t>
            </a:r>
            <a:endParaRPr lang="en-US" sz="1800" dirty="0"/>
          </a:p>
        </p:txBody>
      </p:sp>
      <p:sp>
        <p:nvSpPr>
          <p:cNvPr id="29" name="Shape 27"/>
          <p:cNvSpPr/>
          <p:nvPr/>
        </p:nvSpPr>
        <p:spPr>
          <a:xfrm>
            <a:off x="2916936" y="3127248"/>
            <a:ext cx="1298448" cy="658368"/>
          </a:xfrm>
          <a:prstGeom prst="rect">
            <a:avLst/>
          </a:prstGeom>
          <a:solidFill>
            <a:srgbClr val="7F1D1D"/>
          </a:solidFill>
          <a:ln w="12700">
            <a:solidFill>
              <a:srgbClr val="0F172A"/>
            </a:solidFill>
            <a:prstDash val="solid"/>
          </a:ln>
        </p:spPr>
      </p:sp>
      <p:sp>
        <p:nvSpPr>
          <p:cNvPr id="30" name="Text 28"/>
          <p:cNvSpPr/>
          <p:nvPr/>
        </p:nvSpPr>
        <p:spPr>
          <a:xfrm>
            <a:off x="2916936" y="3127248"/>
            <a:ext cx="1298448" cy="658368"/>
          </a:xfrm>
          <a:prstGeom prst="rect">
            <a:avLst/>
          </a:prstGeom>
          <a:noFill/>
          <a:ln/>
        </p:spPr>
        <p:txBody>
          <a:bodyPr wrap="square" lIns="0" tIns="0" rIns="0" bIns="0" rtlCol="0" anchor="ctr"/>
          <a:lstStyle/>
          <a:p>
            <a:pPr algn="ctr" indent="0" marL="0">
              <a:buNone/>
            </a:pPr>
            <a:r>
              <a:rPr lang="en-US" sz="1800" b="1" dirty="0">
                <a:solidFill>
                  <a:srgbClr val="EF4444"/>
                </a:solidFill>
                <a:latin typeface="Arial Black" pitchFamily="34" charset="0"/>
                <a:ea typeface="Arial Black" pitchFamily="34" charset="-122"/>
                <a:cs typeface="Arial Black" pitchFamily="34" charset="-120"/>
              </a:rPr>
              <a:t>5  (FP)</a:t>
            </a:r>
            <a:endParaRPr lang="en-US" sz="1800" dirty="0"/>
          </a:p>
        </p:txBody>
      </p:sp>
      <p:sp>
        <p:nvSpPr>
          <p:cNvPr id="31" name="Shape 29"/>
          <p:cNvSpPr/>
          <p:nvPr/>
        </p:nvSpPr>
        <p:spPr>
          <a:xfrm>
            <a:off x="320040" y="3785616"/>
            <a:ext cx="1298448" cy="658368"/>
          </a:xfrm>
          <a:prstGeom prst="rect">
            <a:avLst/>
          </a:prstGeom>
          <a:solidFill>
            <a:srgbClr val="1E293B"/>
          </a:solidFill>
          <a:ln w="12700">
            <a:solidFill>
              <a:srgbClr val="0F172A"/>
            </a:solidFill>
            <a:prstDash val="solid"/>
          </a:ln>
        </p:spPr>
      </p:sp>
      <p:sp>
        <p:nvSpPr>
          <p:cNvPr id="32" name="Text 30"/>
          <p:cNvSpPr/>
          <p:nvPr/>
        </p:nvSpPr>
        <p:spPr>
          <a:xfrm>
            <a:off x="320040" y="3785616"/>
            <a:ext cx="1298448" cy="65836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True FAKE</a:t>
            </a:r>
            <a:endParaRPr lang="en-US" sz="900" dirty="0"/>
          </a:p>
        </p:txBody>
      </p:sp>
      <p:sp>
        <p:nvSpPr>
          <p:cNvPr id="33" name="Shape 31"/>
          <p:cNvSpPr/>
          <p:nvPr/>
        </p:nvSpPr>
        <p:spPr>
          <a:xfrm>
            <a:off x="1618488" y="3785616"/>
            <a:ext cx="1298448" cy="658368"/>
          </a:xfrm>
          <a:prstGeom prst="rect">
            <a:avLst/>
          </a:prstGeom>
          <a:solidFill>
            <a:srgbClr val="7F1D1D"/>
          </a:solidFill>
          <a:ln w="12700">
            <a:solidFill>
              <a:srgbClr val="0F172A"/>
            </a:solidFill>
            <a:prstDash val="solid"/>
          </a:ln>
        </p:spPr>
      </p:sp>
      <p:sp>
        <p:nvSpPr>
          <p:cNvPr id="34" name="Text 32"/>
          <p:cNvSpPr/>
          <p:nvPr/>
        </p:nvSpPr>
        <p:spPr>
          <a:xfrm>
            <a:off x="1618488" y="3785616"/>
            <a:ext cx="1298448" cy="658368"/>
          </a:xfrm>
          <a:prstGeom prst="rect">
            <a:avLst/>
          </a:prstGeom>
          <a:noFill/>
          <a:ln/>
        </p:spPr>
        <p:txBody>
          <a:bodyPr wrap="square" lIns="0" tIns="0" rIns="0" bIns="0" rtlCol="0" anchor="ctr"/>
          <a:lstStyle/>
          <a:p>
            <a:pPr algn="ctr" indent="0" marL="0">
              <a:buNone/>
            </a:pPr>
            <a:r>
              <a:rPr lang="en-US" sz="1800" b="1" dirty="0">
                <a:solidFill>
                  <a:srgbClr val="EF4444"/>
                </a:solidFill>
                <a:latin typeface="Arial Black" pitchFamily="34" charset="0"/>
                <a:ea typeface="Arial Black" pitchFamily="34" charset="-122"/>
                <a:cs typeface="Arial Black" pitchFamily="34" charset="-120"/>
              </a:rPr>
              <a:t>6  (FN)</a:t>
            </a:r>
            <a:endParaRPr lang="en-US" sz="1800" dirty="0"/>
          </a:p>
        </p:txBody>
      </p:sp>
      <p:sp>
        <p:nvSpPr>
          <p:cNvPr id="35" name="Shape 33"/>
          <p:cNvSpPr/>
          <p:nvPr/>
        </p:nvSpPr>
        <p:spPr>
          <a:xfrm>
            <a:off x="2916936" y="3785616"/>
            <a:ext cx="1298448" cy="658368"/>
          </a:xfrm>
          <a:prstGeom prst="rect">
            <a:avLst/>
          </a:prstGeom>
          <a:solidFill>
            <a:srgbClr val="065F46"/>
          </a:solidFill>
          <a:ln w="12700">
            <a:solidFill>
              <a:srgbClr val="0F172A"/>
            </a:solidFill>
            <a:prstDash val="solid"/>
          </a:ln>
        </p:spPr>
      </p:sp>
      <p:sp>
        <p:nvSpPr>
          <p:cNvPr id="36" name="Text 34"/>
          <p:cNvSpPr/>
          <p:nvPr/>
        </p:nvSpPr>
        <p:spPr>
          <a:xfrm>
            <a:off x="2916936" y="3785616"/>
            <a:ext cx="1298448" cy="658368"/>
          </a:xfrm>
          <a:prstGeom prst="rect">
            <a:avLst/>
          </a:prstGeom>
          <a:noFill/>
          <a:ln/>
        </p:spPr>
        <p:txBody>
          <a:bodyPr wrap="square" lIns="0" tIns="0" rIns="0" bIns="0" rtlCol="0" anchor="ctr"/>
          <a:lstStyle/>
          <a:p>
            <a:pPr algn="ctr" indent="0" marL="0">
              <a:buNone/>
            </a:pPr>
            <a:r>
              <a:rPr lang="en-US" sz="1800" b="1" dirty="0">
                <a:solidFill>
                  <a:srgbClr val="10B981"/>
                </a:solidFill>
                <a:latin typeface="Arial Black" pitchFamily="34" charset="0"/>
                <a:ea typeface="Arial Black" pitchFamily="34" charset="-122"/>
                <a:cs typeface="Arial Black" pitchFamily="34" charset="-120"/>
              </a:rPr>
              <a:t>44  (TN)</a:t>
            </a:r>
            <a:endParaRPr lang="en-US" sz="1800" dirty="0"/>
          </a:p>
        </p:txBody>
      </p:sp>
      <p:sp>
        <p:nvSpPr>
          <p:cNvPr id="37" name="Text 35"/>
          <p:cNvSpPr/>
          <p:nvPr/>
        </p:nvSpPr>
        <p:spPr>
          <a:xfrm>
            <a:off x="4663440" y="2084832"/>
            <a:ext cx="4114800" cy="347472"/>
          </a:xfrm>
          <a:prstGeom prst="rect">
            <a:avLst/>
          </a:prstGeom>
          <a:noFill/>
          <a:ln/>
        </p:spPr>
        <p:txBody>
          <a:bodyPr wrap="square" lIns="0" tIns="0" rIns="0" bIns="0" rtlCol="0" anchor="ctr"/>
          <a:lstStyle/>
          <a:p>
            <a:pPr indent="0" marL="0">
              <a:buNone/>
            </a:pPr>
            <a:r>
              <a:rPr lang="en-US" sz="1300" dirty="0">
                <a:solidFill>
                  <a:srgbClr val="14B8A6"/>
                </a:solidFill>
                <a:latin typeface="Arial Black" pitchFamily="34" charset="0"/>
                <a:ea typeface="Arial Black" pitchFamily="34" charset="-122"/>
                <a:cs typeface="Arial Black" pitchFamily="34" charset="-120"/>
              </a:rPr>
              <a:t>Per-Class Performance</a:t>
            </a:r>
            <a:endParaRPr lang="en-US" sz="1300" dirty="0"/>
          </a:p>
        </p:txBody>
      </p:sp>
      <p:sp>
        <p:nvSpPr>
          <p:cNvPr id="38" name="Shape 36"/>
          <p:cNvSpPr/>
          <p:nvPr/>
        </p:nvSpPr>
        <p:spPr>
          <a:xfrm>
            <a:off x="4663440" y="2468880"/>
            <a:ext cx="4206240" cy="1097280"/>
          </a:xfrm>
          <a:prstGeom prst="rect">
            <a:avLst/>
          </a:prstGeom>
          <a:solidFill>
            <a:srgbClr val="334155"/>
          </a:solidFill>
          <a:ln w="12700">
            <a:solidFill>
              <a:srgbClr val="475569"/>
            </a:solidFill>
            <a:prstDash val="solid"/>
          </a:ln>
        </p:spPr>
      </p:sp>
      <p:sp>
        <p:nvSpPr>
          <p:cNvPr id="39" name="Shape 37"/>
          <p:cNvSpPr/>
          <p:nvPr/>
        </p:nvSpPr>
        <p:spPr>
          <a:xfrm>
            <a:off x="4663440" y="2468880"/>
            <a:ext cx="73152" cy="1097280"/>
          </a:xfrm>
          <a:prstGeom prst="rect">
            <a:avLst/>
          </a:prstGeom>
          <a:solidFill>
            <a:srgbClr val="14B8A6"/>
          </a:solidFill>
          <a:ln w="12700">
            <a:solidFill>
              <a:srgbClr val="14B8A6"/>
            </a:solidFill>
            <a:prstDash val="solid"/>
          </a:ln>
        </p:spPr>
      </p:sp>
      <p:sp>
        <p:nvSpPr>
          <p:cNvPr id="40" name="Text 38"/>
          <p:cNvSpPr/>
          <p:nvPr/>
        </p:nvSpPr>
        <p:spPr>
          <a:xfrm>
            <a:off x="4828032" y="2542032"/>
            <a:ext cx="1097280" cy="347472"/>
          </a:xfrm>
          <a:prstGeom prst="rect">
            <a:avLst/>
          </a:prstGeom>
          <a:noFill/>
          <a:ln/>
        </p:spPr>
        <p:txBody>
          <a:bodyPr wrap="square" lIns="0" tIns="0" rIns="0" bIns="0" rtlCol="0" anchor="ctr"/>
          <a:lstStyle/>
          <a:p>
            <a:pPr indent="0" marL="0">
              <a:buNone/>
            </a:pPr>
            <a:r>
              <a:rPr lang="en-US" sz="1800" b="1" dirty="0">
                <a:solidFill>
                  <a:srgbClr val="14B8A6"/>
                </a:solidFill>
                <a:latin typeface="Arial Black" pitchFamily="34" charset="0"/>
                <a:ea typeface="Arial Black" pitchFamily="34" charset="-122"/>
                <a:cs typeface="Arial Black" pitchFamily="34" charset="-120"/>
              </a:rPr>
              <a:t>REAL</a:t>
            </a:r>
            <a:endParaRPr lang="en-US" sz="1800" dirty="0"/>
          </a:p>
        </p:txBody>
      </p:sp>
      <p:sp>
        <p:nvSpPr>
          <p:cNvPr id="41" name="Text 39"/>
          <p:cNvSpPr/>
          <p:nvPr/>
        </p:nvSpPr>
        <p:spPr>
          <a:xfrm>
            <a:off x="4828032" y="2944368"/>
            <a:ext cx="118872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Precision</a:t>
            </a:r>
            <a:endParaRPr lang="en-US" sz="900" dirty="0"/>
          </a:p>
        </p:txBody>
      </p:sp>
      <p:sp>
        <p:nvSpPr>
          <p:cNvPr id="42" name="Text 40"/>
          <p:cNvSpPr/>
          <p:nvPr/>
        </p:nvSpPr>
        <p:spPr>
          <a:xfrm>
            <a:off x="4828032" y="3163824"/>
            <a:ext cx="1188720" cy="347472"/>
          </a:xfrm>
          <a:prstGeom prst="rect">
            <a:avLst/>
          </a:prstGeom>
          <a:noFill/>
          <a:ln/>
        </p:spPr>
        <p:txBody>
          <a:bodyPr wrap="square" lIns="0" tIns="0" rIns="0" bIns="0"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88%</a:t>
            </a:r>
            <a:endParaRPr lang="en-US" sz="1800" dirty="0"/>
          </a:p>
        </p:txBody>
      </p:sp>
      <p:sp>
        <p:nvSpPr>
          <p:cNvPr id="43" name="Text 41"/>
          <p:cNvSpPr/>
          <p:nvPr/>
        </p:nvSpPr>
        <p:spPr>
          <a:xfrm>
            <a:off x="6126480" y="2944368"/>
            <a:ext cx="118872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Recall</a:t>
            </a:r>
            <a:endParaRPr lang="en-US" sz="900" dirty="0"/>
          </a:p>
        </p:txBody>
      </p:sp>
      <p:sp>
        <p:nvSpPr>
          <p:cNvPr id="44" name="Text 42"/>
          <p:cNvSpPr/>
          <p:nvPr/>
        </p:nvSpPr>
        <p:spPr>
          <a:xfrm>
            <a:off x="6126480" y="3163824"/>
            <a:ext cx="1188720" cy="347472"/>
          </a:xfrm>
          <a:prstGeom prst="rect">
            <a:avLst/>
          </a:prstGeom>
          <a:noFill/>
          <a:ln/>
        </p:spPr>
        <p:txBody>
          <a:bodyPr wrap="square" lIns="0" tIns="0" rIns="0" bIns="0"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90%</a:t>
            </a:r>
            <a:endParaRPr lang="en-US" sz="1800" dirty="0"/>
          </a:p>
        </p:txBody>
      </p:sp>
      <p:sp>
        <p:nvSpPr>
          <p:cNvPr id="45" name="Text 43"/>
          <p:cNvSpPr/>
          <p:nvPr/>
        </p:nvSpPr>
        <p:spPr>
          <a:xfrm>
            <a:off x="7424928" y="2944368"/>
            <a:ext cx="118872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F1</a:t>
            </a:r>
            <a:endParaRPr lang="en-US" sz="900" dirty="0"/>
          </a:p>
        </p:txBody>
      </p:sp>
      <p:sp>
        <p:nvSpPr>
          <p:cNvPr id="46" name="Text 44"/>
          <p:cNvSpPr/>
          <p:nvPr/>
        </p:nvSpPr>
        <p:spPr>
          <a:xfrm>
            <a:off x="7424928" y="3163824"/>
            <a:ext cx="1188720" cy="347472"/>
          </a:xfrm>
          <a:prstGeom prst="rect">
            <a:avLst/>
          </a:prstGeom>
          <a:noFill/>
          <a:ln/>
        </p:spPr>
        <p:txBody>
          <a:bodyPr wrap="square" lIns="0" tIns="0" rIns="0" bIns="0"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0.89</a:t>
            </a:r>
            <a:endParaRPr lang="en-US" sz="1800" dirty="0"/>
          </a:p>
        </p:txBody>
      </p:sp>
      <p:sp>
        <p:nvSpPr>
          <p:cNvPr id="47" name="Shape 45"/>
          <p:cNvSpPr/>
          <p:nvPr/>
        </p:nvSpPr>
        <p:spPr>
          <a:xfrm>
            <a:off x="4663440" y="3703320"/>
            <a:ext cx="4206240" cy="1097280"/>
          </a:xfrm>
          <a:prstGeom prst="rect">
            <a:avLst/>
          </a:prstGeom>
          <a:solidFill>
            <a:srgbClr val="334155"/>
          </a:solidFill>
          <a:ln w="12700">
            <a:solidFill>
              <a:srgbClr val="475569"/>
            </a:solidFill>
            <a:prstDash val="solid"/>
          </a:ln>
        </p:spPr>
      </p:sp>
      <p:sp>
        <p:nvSpPr>
          <p:cNvPr id="48" name="Shape 46"/>
          <p:cNvSpPr/>
          <p:nvPr/>
        </p:nvSpPr>
        <p:spPr>
          <a:xfrm>
            <a:off x="4663440" y="3703320"/>
            <a:ext cx="73152" cy="1097280"/>
          </a:xfrm>
          <a:prstGeom prst="rect">
            <a:avLst/>
          </a:prstGeom>
          <a:solidFill>
            <a:srgbClr val="F59E0B"/>
          </a:solidFill>
          <a:ln w="12700">
            <a:solidFill>
              <a:srgbClr val="F59E0B"/>
            </a:solidFill>
            <a:prstDash val="solid"/>
          </a:ln>
        </p:spPr>
      </p:sp>
      <p:sp>
        <p:nvSpPr>
          <p:cNvPr id="49" name="Text 47"/>
          <p:cNvSpPr/>
          <p:nvPr/>
        </p:nvSpPr>
        <p:spPr>
          <a:xfrm>
            <a:off x="4828032" y="3776472"/>
            <a:ext cx="1097280" cy="347472"/>
          </a:xfrm>
          <a:prstGeom prst="rect">
            <a:avLst/>
          </a:prstGeom>
          <a:noFill/>
          <a:ln/>
        </p:spPr>
        <p:txBody>
          <a:bodyPr wrap="square" lIns="0" tIns="0" rIns="0" bIns="0" rtlCol="0" anchor="ctr"/>
          <a:lstStyle/>
          <a:p>
            <a:pPr indent="0" marL="0">
              <a:buNone/>
            </a:pPr>
            <a:r>
              <a:rPr lang="en-US" sz="1800" b="1" dirty="0">
                <a:solidFill>
                  <a:srgbClr val="F59E0B"/>
                </a:solidFill>
                <a:latin typeface="Arial Black" pitchFamily="34" charset="0"/>
                <a:ea typeface="Arial Black" pitchFamily="34" charset="-122"/>
                <a:cs typeface="Arial Black" pitchFamily="34" charset="-120"/>
              </a:rPr>
              <a:t>FAKE</a:t>
            </a:r>
            <a:endParaRPr lang="en-US" sz="1800" dirty="0"/>
          </a:p>
        </p:txBody>
      </p:sp>
      <p:sp>
        <p:nvSpPr>
          <p:cNvPr id="50" name="Text 48"/>
          <p:cNvSpPr/>
          <p:nvPr/>
        </p:nvSpPr>
        <p:spPr>
          <a:xfrm>
            <a:off x="4828032" y="4178808"/>
            <a:ext cx="118872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Precision</a:t>
            </a:r>
            <a:endParaRPr lang="en-US" sz="900" dirty="0"/>
          </a:p>
        </p:txBody>
      </p:sp>
      <p:sp>
        <p:nvSpPr>
          <p:cNvPr id="51" name="Text 49"/>
          <p:cNvSpPr/>
          <p:nvPr/>
        </p:nvSpPr>
        <p:spPr>
          <a:xfrm>
            <a:off x="4828032" y="4398264"/>
            <a:ext cx="1188720" cy="347472"/>
          </a:xfrm>
          <a:prstGeom prst="rect">
            <a:avLst/>
          </a:prstGeom>
          <a:noFill/>
          <a:ln/>
        </p:spPr>
        <p:txBody>
          <a:bodyPr wrap="square" lIns="0" tIns="0" rIns="0" bIns="0"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90%</a:t>
            </a:r>
            <a:endParaRPr lang="en-US" sz="1800" dirty="0"/>
          </a:p>
        </p:txBody>
      </p:sp>
      <p:sp>
        <p:nvSpPr>
          <p:cNvPr id="52" name="Text 50"/>
          <p:cNvSpPr/>
          <p:nvPr/>
        </p:nvSpPr>
        <p:spPr>
          <a:xfrm>
            <a:off x="6126480" y="4178808"/>
            <a:ext cx="118872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Recall</a:t>
            </a:r>
            <a:endParaRPr lang="en-US" sz="900" dirty="0"/>
          </a:p>
        </p:txBody>
      </p:sp>
      <p:sp>
        <p:nvSpPr>
          <p:cNvPr id="53" name="Text 51"/>
          <p:cNvSpPr/>
          <p:nvPr/>
        </p:nvSpPr>
        <p:spPr>
          <a:xfrm>
            <a:off x="6126480" y="4398264"/>
            <a:ext cx="1188720" cy="347472"/>
          </a:xfrm>
          <a:prstGeom prst="rect">
            <a:avLst/>
          </a:prstGeom>
          <a:noFill/>
          <a:ln/>
        </p:spPr>
        <p:txBody>
          <a:bodyPr wrap="square" lIns="0" tIns="0" rIns="0" bIns="0"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88%</a:t>
            </a:r>
            <a:endParaRPr lang="en-US" sz="1800" dirty="0"/>
          </a:p>
        </p:txBody>
      </p:sp>
      <p:sp>
        <p:nvSpPr>
          <p:cNvPr id="54" name="Text 52"/>
          <p:cNvSpPr/>
          <p:nvPr/>
        </p:nvSpPr>
        <p:spPr>
          <a:xfrm>
            <a:off x="7424928" y="4178808"/>
            <a:ext cx="118872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F1</a:t>
            </a:r>
            <a:endParaRPr lang="en-US" sz="900" dirty="0"/>
          </a:p>
        </p:txBody>
      </p:sp>
      <p:sp>
        <p:nvSpPr>
          <p:cNvPr id="55" name="Text 53"/>
          <p:cNvSpPr/>
          <p:nvPr/>
        </p:nvSpPr>
        <p:spPr>
          <a:xfrm>
            <a:off x="7424928" y="4398264"/>
            <a:ext cx="1188720" cy="347472"/>
          </a:xfrm>
          <a:prstGeom prst="rect">
            <a:avLst/>
          </a:prstGeom>
          <a:noFill/>
          <a:ln/>
        </p:spPr>
        <p:txBody>
          <a:bodyPr wrap="square" lIns="0" tIns="0" rIns="0" bIns="0"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0.89</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72A"/>
          </a:solidFill>
          <a:ln w="12700">
            <a:solidFill>
              <a:srgbClr val="0F172A"/>
            </a:solidFill>
            <a:prstDash val="solid"/>
          </a:ln>
        </p:spPr>
      </p:sp>
      <p:sp>
        <p:nvSpPr>
          <p:cNvPr id="3" name="Shape 1"/>
          <p:cNvSpPr/>
          <p:nvPr/>
        </p:nvSpPr>
        <p:spPr>
          <a:xfrm>
            <a:off x="0" y="0"/>
            <a:ext cx="164592" cy="502920"/>
          </a:xfrm>
          <a:prstGeom prst="rect">
            <a:avLst/>
          </a:prstGeom>
          <a:solidFill>
            <a:srgbClr val="0D9488"/>
          </a:solidFill>
          <a:ln w="12700">
            <a:solidFill>
              <a:srgbClr val="0D9488"/>
            </a:solidFill>
            <a:prstDash val="solid"/>
          </a:ln>
        </p:spPr>
      </p:sp>
      <p:sp>
        <p:nvSpPr>
          <p:cNvPr id="4" name="Text 2"/>
          <p:cNvSpPr/>
          <p:nvPr/>
        </p:nvSpPr>
        <p:spPr>
          <a:xfrm>
            <a:off x="320040" y="0"/>
            <a:ext cx="8503920" cy="502920"/>
          </a:xfrm>
          <a:prstGeom prst="rect">
            <a:avLst/>
          </a:prstGeom>
          <a:noFill/>
          <a:ln/>
        </p:spPr>
        <p:txBody>
          <a:bodyPr wrap="square" lIns="0" tIns="0" rIns="0" bIns="0" rtlCol="0" anchor="ctr"/>
          <a:lstStyle/>
          <a:p>
            <a:pPr indent="0" marL="0">
              <a:buNone/>
            </a:pPr>
            <a:r>
              <a:rPr lang="en-US" sz="1900" b="1" dirty="0">
                <a:solidFill>
                  <a:srgbClr val="FFFFFF"/>
                </a:solidFill>
                <a:latin typeface="Arial Black" pitchFamily="34" charset="0"/>
                <a:ea typeface="Arial Black" pitchFamily="34" charset="-122"/>
                <a:cs typeface="Arial Black" pitchFamily="34" charset="-120"/>
              </a:rPr>
              <a:t>Why 89% Doesn't Tell the Full Story</a:t>
            </a:r>
            <a:endParaRPr lang="en-US" sz="1900" dirty="0"/>
          </a:p>
        </p:txBody>
      </p:sp>
      <p:sp>
        <p:nvSpPr>
          <p:cNvPr id="5" name="Shape 3"/>
          <p:cNvSpPr/>
          <p:nvPr/>
        </p:nvSpPr>
        <p:spPr>
          <a:xfrm>
            <a:off x="274320" y="640080"/>
            <a:ext cx="8595360" cy="658368"/>
          </a:xfrm>
          <a:prstGeom prst="rect">
            <a:avLst/>
          </a:prstGeom>
          <a:solidFill>
            <a:srgbClr val="FEF3C7"/>
          </a:solidFill>
          <a:ln w="25400">
            <a:solidFill>
              <a:srgbClr val="D97706"/>
            </a:solidFill>
            <a:prstDash val="solid"/>
          </a:ln>
        </p:spPr>
      </p:sp>
      <p:sp>
        <p:nvSpPr>
          <p:cNvPr id="6" name="Text 4"/>
          <p:cNvSpPr/>
          <p:nvPr/>
        </p:nvSpPr>
        <p:spPr>
          <a:xfrm>
            <a:off x="457200" y="640080"/>
            <a:ext cx="8229600" cy="658368"/>
          </a:xfrm>
          <a:prstGeom prst="rect">
            <a:avLst/>
          </a:prstGeom>
          <a:noFill/>
          <a:ln/>
        </p:spPr>
        <p:txBody>
          <a:bodyPr wrap="square" lIns="0" tIns="0" rIns="0" bIns="0" rtlCol="0" anchor="ctr"/>
          <a:lstStyle/>
          <a:p>
            <a:pPr indent="0" marL="0">
              <a:buNone/>
            </a:pPr>
            <a:r>
              <a:rPr lang="en-US" sz="1300" dirty="0">
                <a:solidFill>
                  <a:srgbClr val="92400E"/>
                </a:solidFill>
                <a:latin typeface="Calibri" pitchFamily="34" charset="0"/>
                <a:ea typeface="Calibri" pitchFamily="34" charset="-122"/>
                <a:cs typeface="Calibri" pitchFamily="34" charset="-120"/>
              </a:rPr>
              <a:t>[!]  WELFake covers US political news from 2015-2017 - data the LLM already memorized during pretraining.</a:t>
            </a:r>
            <a:endParaRPr lang="en-US" sz="1300" dirty="0"/>
          </a:p>
        </p:txBody>
      </p:sp>
      <p:sp>
        <p:nvSpPr>
          <p:cNvPr id="7" name="Shape 5"/>
          <p:cNvSpPr/>
          <p:nvPr/>
        </p:nvSpPr>
        <p:spPr>
          <a:xfrm>
            <a:off x="274320" y="1463040"/>
            <a:ext cx="4206240" cy="157276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274320" y="1463040"/>
            <a:ext cx="91440" cy="1572768"/>
          </a:xfrm>
          <a:prstGeom prst="rect">
            <a:avLst/>
          </a:prstGeom>
          <a:solidFill>
            <a:srgbClr val="D97706"/>
          </a:solidFill>
          <a:ln w="12700">
            <a:solidFill>
              <a:srgbClr val="D97706"/>
            </a:solidFill>
            <a:prstDash val="solid"/>
          </a:ln>
        </p:spPr>
      </p:sp>
      <p:sp>
        <p:nvSpPr>
          <p:cNvPr id="9" name="Text 7"/>
          <p:cNvSpPr/>
          <p:nvPr/>
        </p:nvSpPr>
        <p:spPr>
          <a:xfrm>
            <a:off x="475488" y="1554480"/>
            <a:ext cx="3858768" cy="347472"/>
          </a:xfrm>
          <a:prstGeom prst="rect">
            <a:avLst/>
          </a:prstGeom>
          <a:noFill/>
          <a:ln/>
        </p:spPr>
        <p:txBody>
          <a:bodyPr wrap="square" lIns="0" tIns="0" rIns="0" bIns="0" rtlCol="0" anchor="ctr"/>
          <a:lstStyle/>
          <a:p>
            <a:pPr indent="0" marL="0">
              <a:buNone/>
            </a:pPr>
            <a:r>
              <a:rPr lang="en-US" sz="1300" b="1" dirty="0">
                <a:solidFill>
                  <a:srgbClr val="1E293B"/>
                </a:solidFill>
                <a:latin typeface="Arial Black" pitchFamily="34" charset="0"/>
                <a:ea typeface="Arial Black" pitchFamily="34" charset="-122"/>
                <a:cs typeface="Arial Black" pitchFamily="34" charset="-120"/>
              </a:rPr>
              <a:t>Training data leakage</a:t>
            </a:r>
            <a:endParaRPr lang="en-US" sz="1300" dirty="0"/>
          </a:p>
        </p:txBody>
      </p:sp>
      <p:sp>
        <p:nvSpPr>
          <p:cNvPr id="10" name="Text 8"/>
          <p:cNvSpPr/>
          <p:nvPr/>
        </p:nvSpPr>
        <p:spPr>
          <a:xfrm>
            <a:off x="475488" y="1938528"/>
            <a:ext cx="3858768" cy="102412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 model pattern-matches to articles it already knows from pretraining. High accuracy on WELFake is not real generalization - it is memorization. A truly robust evaluation needs post-cutoff data the model has never seen.</a:t>
            </a:r>
            <a:endParaRPr lang="en-US" sz="1050" dirty="0"/>
          </a:p>
        </p:txBody>
      </p:sp>
      <p:sp>
        <p:nvSpPr>
          <p:cNvPr id="11" name="Shape 9"/>
          <p:cNvSpPr/>
          <p:nvPr/>
        </p:nvSpPr>
        <p:spPr>
          <a:xfrm>
            <a:off x="4663440" y="1463040"/>
            <a:ext cx="4206240" cy="157276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2" name="Shape 10"/>
          <p:cNvSpPr/>
          <p:nvPr/>
        </p:nvSpPr>
        <p:spPr>
          <a:xfrm>
            <a:off x="4663440" y="1463040"/>
            <a:ext cx="91440" cy="1572768"/>
          </a:xfrm>
          <a:prstGeom prst="rect">
            <a:avLst/>
          </a:prstGeom>
          <a:solidFill>
            <a:srgbClr val="1E293B"/>
          </a:solidFill>
          <a:ln w="12700">
            <a:solidFill>
              <a:srgbClr val="1E293B"/>
            </a:solidFill>
            <a:prstDash val="solid"/>
          </a:ln>
        </p:spPr>
      </p:sp>
      <p:sp>
        <p:nvSpPr>
          <p:cNvPr id="13" name="Text 11"/>
          <p:cNvSpPr/>
          <p:nvPr/>
        </p:nvSpPr>
        <p:spPr>
          <a:xfrm>
            <a:off x="4864608" y="1554480"/>
            <a:ext cx="3858768" cy="347472"/>
          </a:xfrm>
          <a:prstGeom prst="rect">
            <a:avLst/>
          </a:prstGeom>
          <a:noFill/>
          <a:ln/>
        </p:spPr>
        <p:txBody>
          <a:bodyPr wrap="square" lIns="0" tIns="0" rIns="0" bIns="0" rtlCol="0" anchor="ctr"/>
          <a:lstStyle/>
          <a:p>
            <a:pPr indent="0" marL="0">
              <a:buNone/>
            </a:pPr>
            <a:r>
              <a:rPr lang="en-US" sz="1300" b="1" dirty="0">
                <a:solidFill>
                  <a:srgbClr val="1E293B"/>
                </a:solidFill>
                <a:latin typeface="Arial Black" pitchFamily="34" charset="0"/>
                <a:ea typeface="Arial Black" pitchFamily="34" charset="-122"/>
                <a:cs typeface="Arial Black" pitchFamily="34" charset="-120"/>
              </a:rPr>
              <a:t>Wikipedia search adds noise</a:t>
            </a:r>
            <a:endParaRPr lang="en-US" sz="1300" dirty="0"/>
          </a:p>
        </p:txBody>
      </p:sp>
      <p:sp>
        <p:nvSpPr>
          <p:cNvPr id="14" name="Text 12"/>
          <p:cNvSpPr/>
          <p:nvPr/>
        </p:nvSpPr>
        <p:spPr>
          <a:xfrm>
            <a:off x="4864608" y="1938528"/>
            <a:ext cx="3858768" cy="102412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When the model has the answer baked in from training, search results introduce conflicting or redundant context. The model tries to reconcile internal knowledge with retrieved text and sometimes produces worse verdicts.</a:t>
            </a:r>
            <a:endParaRPr lang="en-US" sz="1050" dirty="0"/>
          </a:p>
        </p:txBody>
      </p:sp>
      <p:sp>
        <p:nvSpPr>
          <p:cNvPr id="15" name="Shape 13"/>
          <p:cNvSpPr/>
          <p:nvPr/>
        </p:nvSpPr>
        <p:spPr>
          <a:xfrm>
            <a:off x="274320" y="3182112"/>
            <a:ext cx="4206240" cy="157276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274320" y="3182112"/>
            <a:ext cx="91440" cy="1572768"/>
          </a:xfrm>
          <a:prstGeom prst="rect">
            <a:avLst/>
          </a:prstGeom>
          <a:solidFill>
            <a:srgbClr val="0D9488"/>
          </a:solidFill>
          <a:ln w="12700">
            <a:solidFill>
              <a:srgbClr val="0D9488"/>
            </a:solidFill>
            <a:prstDash val="solid"/>
          </a:ln>
        </p:spPr>
      </p:sp>
      <p:sp>
        <p:nvSpPr>
          <p:cNvPr id="17" name="Text 15"/>
          <p:cNvSpPr/>
          <p:nvPr/>
        </p:nvSpPr>
        <p:spPr>
          <a:xfrm>
            <a:off x="475488" y="3273552"/>
            <a:ext cx="3858768" cy="347472"/>
          </a:xfrm>
          <a:prstGeom prst="rect">
            <a:avLst/>
          </a:prstGeom>
          <a:noFill/>
          <a:ln/>
        </p:spPr>
        <p:txBody>
          <a:bodyPr wrap="square" lIns="0" tIns="0" rIns="0" bIns="0" rtlCol="0" anchor="ctr"/>
          <a:lstStyle/>
          <a:p>
            <a:pPr indent="0" marL="0">
              <a:buNone/>
            </a:pPr>
            <a:r>
              <a:rPr lang="en-US" sz="1300" b="1" dirty="0">
                <a:solidFill>
                  <a:srgbClr val="1E293B"/>
                </a:solidFill>
                <a:latin typeface="Arial Black" pitchFamily="34" charset="0"/>
                <a:ea typeface="Arial Black" pitchFamily="34" charset="-122"/>
                <a:cs typeface="Arial Black" pitchFamily="34" charset="-120"/>
              </a:rPr>
              <a:t>Smaller model overthinks less</a:t>
            </a:r>
            <a:endParaRPr lang="en-US" sz="1300" dirty="0"/>
          </a:p>
        </p:txBody>
      </p:sp>
      <p:sp>
        <p:nvSpPr>
          <p:cNvPr id="18" name="Text 16"/>
          <p:cNvSpPr/>
          <p:nvPr/>
        </p:nvSpPr>
        <p:spPr>
          <a:xfrm>
            <a:off x="475488" y="3657600"/>
            <a:ext cx="3858768" cy="102412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Qwen2.5:3b outperformed Qwen2.5:7b on this dataset. Not because it is smarter - 3b pattern-matches quickly to salient features. The 7b model considers counterarguments, hedges, and talks itself out of the correct answer.</a:t>
            </a:r>
            <a:endParaRPr lang="en-US" sz="1050" dirty="0"/>
          </a:p>
        </p:txBody>
      </p:sp>
      <p:sp>
        <p:nvSpPr>
          <p:cNvPr id="19" name="Shape 17"/>
          <p:cNvSpPr/>
          <p:nvPr/>
        </p:nvSpPr>
        <p:spPr>
          <a:xfrm>
            <a:off x="4663440" y="3182112"/>
            <a:ext cx="4206240" cy="157276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0" name="Shape 18"/>
          <p:cNvSpPr/>
          <p:nvPr/>
        </p:nvSpPr>
        <p:spPr>
          <a:xfrm>
            <a:off x="4663440" y="3182112"/>
            <a:ext cx="91440" cy="1572768"/>
          </a:xfrm>
          <a:prstGeom prst="rect">
            <a:avLst/>
          </a:prstGeom>
          <a:solidFill>
            <a:srgbClr val="D97706"/>
          </a:solidFill>
          <a:ln w="12700">
            <a:solidFill>
              <a:srgbClr val="D97706"/>
            </a:solidFill>
            <a:prstDash val="solid"/>
          </a:ln>
        </p:spPr>
      </p:sp>
      <p:sp>
        <p:nvSpPr>
          <p:cNvPr id="21" name="Text 19"/>
          <p:cNvSpPr/>
          <p:nvPr/>
        </p:nvSpPr>
        <p:spPr>
          <a:xfrm>
            <a:off x="4864608" y="3273552"/>
            <a:ext cx="3858768" cy="347472"/>
          </a:xfrm>
          <a:prstGeom prst="rect">
            <a:avLst/>
          </a:prstGeom>
          <a:noFill/>
          <a:ln/>
        </p:spPr>
        <p:txBody>
          <a:bodyPr wrap="square" lIns="0" tIns="0" rIns="0" bIns="0" rtlCol="0" anchor="ctr"/>
          <a:lstStyle/>
          <a:p>
            <a:pPr indent="0" marL="0">
              <a:buNone/>
            </a:pPr>
            <a:r>
              <a:rPr lang="en-US" sz="1300" b="1" dirty="0">
                <a:solidFill>
                  <a:srgbClr val="1E293B"/>
                </a:solidFill>
                <a:latin typeface="Arial Black" pitchFamily="34" charset="0"/>
                <a:ea typeface="Arial Black" pitchFamily="34" charset="-122"/>
                <a:cs typeface="Arial Black" pitchFamily="34" charset="-120"/>
              </a:rPr>
              <a:t>No clean post-2024 dataset exists</a:t>
            </a:r>
            <a:endParaRPr lang="en-US" sz="1300" dirty="0"/>
          </a:p>
        </p:txBody>
      </p:sp>
      <p:sp>
        <p:nvSpPr>
          <p:cNvPr id="22" name="Text 20"/>
          <p:cNvSpPr/>
          <p:nvPr/>
        </p:nvSpPr>
        <p:spPr>
          <a:xfrm>
            <a:off x="4864608" y="3657600"/>
            <a:ext cx="3858768" cy="102412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 algozee/fake-news Kaggle dataset turned out to contain synthetic template-generated articles, not real news - useless for evaluation. Credible fake news evaluation requires a held-out post-cutoff test set, which is very hard to build.</a:t>
            </a:r>
            <a:endParaRPr lang="en-US" sz="1050" dirty="0"/>
          </a:p>
        </p:txBody>
      </p:sp>
      <p:sp>
        <p:nvSpPr>
          <p:cNvPr id="23" name="Text 21"/>
          <p:cNvSpPr/>
          <p:nvPr/>
        </p:nvSpPr>
        <p:spPr>
          <a:xfrm>
            <a:off x="274320" y="4892040"/>
            <a:ext cx="8595360" cy="246888"/>
          </a:xfrm>
          <a:prstGeom prst="rect">
            <a:avLst/>
          </a:prstGeom>
          <a:noFill/>
          <a:ln/>
        </p:spPr>
        <p:txBody>
          <a:bodyPr wrap="square" lIns="0" tIns="0" rIns="0" bIns="0"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Takeaway: treat the 89% as an upper bound on contaminated data, not as real-world performance.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72A"/>
          </a:solidFill>
          <a:ln w="12700">
            <a:solidFill>
              <a:srgbClr val="0F172A"/>
            </a:solidFill>
            <a:prstDash val="solid"/>
          </a:ln>
        </p:spPr>
      </p:sp>
      <p:sp>
        <p:nvSpPr>
          <p:cNvPr id="3" name="Shape 1"/>
          <p:cNvSpPr/>
          <p:nvPr/>
        </p:nvSpPr>
        <p:spPr>
          <a:xfrm>
            <a:off x="0" y="0"/>
            <a:ext cx="164592" cy="502920"/>
          </a:xfrm>
          <a:prstGeom prst="rect">
            <a:avLst/>
          </a:prstGeom>
          <a:solidFill>
            <a:srgbClr val="0D9488"/>
          </a:solidFill>
          <a:ln w="12700">
            <a:solidFill>
              <a:srgbClr val="0D9488"/>
            </a:solidFill>
            <a:prstDash val="solid"/>
          </a:ln>
        </p:spPr>
      </p:sp>
      <p:sp>
        <p:nvSpPr>
          <p:cNvPr id="4" name="Text 2"/>
          <p:cNvSpPr/>
          <p:nvPr/>
        </p:nvSpPr>
        <p:spPr>
          <a:xfrm>
            <a:off x="320040" y="0"/>
            <a:ext cx="8503920" cy="502920"/>
          </a:xfrm>
          <a:prstGeom prst="rect">
            <a:avLst/>
          </a:prstGeom>
          <a:noFill/>
          <a:ln/>
        </p:spPr>
        <p:txBody>
          <a:bodyPr wrap="square" lIns="0" tIns="0" rIns="0" bIns="0" rtlCol="0" anchor="ctr"/>
          <a:lstStyle/>
          <a:p>
            <a:pPr indent="0" marL="0">
              <a:buNone/>
            </a:pPr>
            <a:r>
              <a:rPr lang="en-US" sz="1900" b="1" dirty="0">
                <a:solidFill>
                  <a:srgbClr val="FFFFFF"/>
                </a:solidFill>
                <a:latin typeface="Arial Black" pitchFamily="34" charset="0"/>
                <a:ea typeface="Arial Black" pitchFamily="34" charset="-122"/>
                <a:cs typeface="Arial Black" pitchFamily="34" charset="-120"/>
              </a:rPr>
              <a:t>Key Lessons Learned</a:t>
            </a:r>
            <a:endParaRPr lang="en-US" sz="1900" dirty="0"/>
          </a:p>
        </p:txBody>
      </p:sp>
      <p:sp>
        <p:nvSpPr>
          <p:cNvPr id="5" name="Shape 3"/>
          <p:cNvSpPr/>
          <p:nvPr/>
        </p:nvSpPr>
        <p:spPr>
          <a:xfrm>
            <a:off x="274320" y="658368"/>
            <a:ext cx="4206240" cy="202996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438912" y="841248"/>
            <a:ext cx="347472" cy="347472"/>
          </a:xfrm>
          <a:prstGeom prst="ellipse">
            <a:avLst/>
          </a:prstGeom>
          <a:solidFill>
            <a:srgbClr val="0D9488"/>
          </a:solidFill>
          <a:ln w="12700">
            <a:solidFill>
              <a:srgbClr val="0D9488"/>
            </a:solidFill>
            <a:prstDash val="solid"/>
          </a:ln>
        </p:spPr>
      </p:sp>
      <p:sp>
        <p:nvSpPr>
          <p:cNvPr id="7" name="Text 5"/>
          <p:cNvSpPr/>
          <p:nvPr/>
        </p:nvSpPr>
        <p:spPr>
          <a:xfrm>
            <a:off x="438912" y="84124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8" name="Text 6"/>
          <p:cNvSpPr/>
          <p:nvPr/>
        </p:nvSpPr>
        <p:spPr>
          <a:xfrm>
            <a:off x="914400" y="822960"/>
            <a:ext cx="3438144" cy="512064"/>
          </a:xfrm>
          <a:prstGeom prst="rect">
            <a:avLst/>
          </a:prstGeom>
          <a:noFill/>
          <a:ln/>
        </p:spPr>
        <p:txBody>
          <a:bodyPr wrap="square" lIns="0" tIns="0" rIns="0" bIns="0" rtlCol="0" anchor="ctr"/>
          <a:lstStyle/>
          <a:p>
            <a:pPr indent="0" marL="0">
              <a:buNone/>
            </a:pPr>
            <a:r>
              <a:rPr lang="en-US" sz="1250" b="1" dirty="0">
                <a:solidFill>
                  <a:srgbClr val="1E293B"/>
                </a:solidFill>
                <a:latin typeface="Arial Black" pitchFamily="34" charset="0"/>
                <a:ea typeface="Arial Black" pitchFamily="34" charset="-122"/>
                <a:cs typeface="Arial Black" pitchFamily="34" charset="-120"/>
              </a:rPr>
              <a:t>Use Python for arithmetic, not LLMs</a:t>
            </a:r>
            <a:endParaRPr lang="en-US" sz="1250" dirty="0"/>
          </a:p>
        </p:txBody>
      </p:sp>
      <p:sp>
        <p:nvSpPr>
          <p:cNvPr id="9" name="Text 7"/>
          <p:cNvSpPr/>
          <p:nvPr/>
        </p:nvSpPr>
        <p:spPr>
          <a:xfrm>
            <a:off x="457200" y="1408176"/>
            <a:ext cx="3877056" cy="11887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Never let an agent decide a numerical score. Extract scoring to _compute_verdict() in Python for guaranteed reproducibility. LLMs only write the human-readable explanation.</a:t>
            </a:r>
            <a:endParaRPr lang="en-US" sz="1100" dirty="0"/>
          </a:p>
        </p:txBody>
      </p:sp>
      <p:sp>
        <p:nvSpPr>
          <p:cNvPr id="10" name="Shape 8"/>
          <p:cNvSpPr/>
          <p:nvPr/>
        </p:nvSpPr>
        <p:spPr>
          <a:xfrm>
            <a:off x="4709160" y="658368"/>
            <a:ext cx="4206240" cy="202996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4873752" y="841248"/>
            <a:ext cx="347472" cy="347472"/>
          </a:xfrm>
          <a:prstGeom prst="ellipse">
            <a:avLst/>
          </a:prstGeom>
          <a:solidFill>
            <a:srgbClr val="1E293B"/>
          </a:solidFill>
          <a:ln w="12700">
            <a:solidFill>
              <a:srgbClr val="1E293B"/>
            </a:solidFill>
            <a:prstDash val="solid"/>
          </a:ln>
        </p:spPr>
      </p:sp>
      <p:sp>
        <p:nvSpPr>
          <p:cNvPr id="12" name="Text 10"/>
          <p:cNvSpPr/>
          <p:nvPr/>
        </p:nvSpPr>
        <p:spPr>
          <a:xfrm>
            <a:off x="4873752" y="84124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3" name="Text 11"/>
          <p:cNvSpPr/>
          <p:nvPr/>
        </p:nvSpPr>
        <p:spPr>
          <a:xfrm>
            <a:off x="5349240" y="822960"/>
            <a:ext cx="3438144" cy="512064"/>
          </a:xfrm>
          <a:prstGeom prst="rect">
            <a:avLst/>
          </a:prstGeom>
          <a:noFill/>
          <a:ln/>
        </p:spPr>
        <p:txBody>
          <a:bodyPr wrap="square" lIns="0" tIns="0" rIns="0" bIns="0" rtlCol="0" anchor="ctr"/>
          <a:lstStyle/>
          <a:p>
            <a:pPr indent="0" marL="0">
              <a:buNone/>
            </a:pPr>
            <a:r>
              <a:rPr lang="en-US" sz="1250" b="1" dirty="0">
                <a:solidFill>
                  <a:srgbClr val="1E293B"/>
                </a:solidFill>
                <a:latin typeface="Arial Black" pitchFamily="34" charset="0"/>
                <a:ea typeface="Arial Black" pitchFamily="34" charset="-122"/>
                <a:cs typeface="Arial Black" pitchFamily="34" charset="-120"/>
              </a:rPr>
              <a:t>Split search and synthesis into two tasks</a:t>
            </a:r>
            <a:endParaRPr lang="en-US" sz="1250" dirty="0"/>
          </a:p>
        </p:txBody>
      </p:sp>
      <p:sp>
        <p:nvSpPr>
          <p:cNvPr id="14" name="Text 12"/>
          <p:cNvSpPr/>
          <p:nvPr/>
        </p:nvSpPr>
        <p:spPr>
          <a:xfrm>
            <a:off x="4892040" y="1408176"/>
            <a:ext cx="3877056" cy="11887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output_pydantic on a search task makes agents skip tool calls entirely. Use one task to search (plain text output) and a separate task to produce structured output from the search results.</a:t>
            </a:r>
            <a:endParaRPr lang="en-US" sz="1100" dirty="0"/>
          </a:p>
        </p:txBody>
      </p:sp>
      <p:sp>
        <p:nvSpPr>
          <p:cNvPr id="15" name="Shape 13"/>
          <p:cNvSpPr/>
          <p:nvPr/>
        </p:nvSpPr>
        <p:spPr>
          <a:xfrm>
            <a:off x="274320" y="2834640"/>
            <a:ext cx="4206240" cy="202996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438912" y="3017520"/>
            <a:ext cx="347472" cy="347472"/>
          </a:xfrm>
          <a:prstGeom prst="ellipse">
            <a:avLst/>
          </a:prstGeom>
          <a:solidFill>
            <a:srgbClr val="D97706"/>
          </a:solidFill>
          <a:ln w="12700">
            <a:solidFill>
              <a:srgbClr val="D97706"/>
            </a:solidFill>
            <a:prstDash val="solid"/>
          </a:ln>
        </p:spPr>
      </p:sp>
      <p:sp>
        <p:nvSpPr>
          <p:cNvPr id="17" name="Text 15"/>
          <p:cNvSpPr/>
          <p:nvPr/>
        </p:nvSpPr>
        <p:spPr>
          <a:xfrm>
            <a:off x="438912" y="301752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8" name="Text 16"/>
          <p:cNvSpPr/>
          <p:nvPr/>
        </p:nvSpPr>
        <p:spPr>
          <a:xfrm>
            <a:off x="914400" y="2999232"/>
            <a:ext cx="3438144" cy="512064"/>
          </a:xfrm>
          <a:prstGeom prst="rect">
            <a:avLst/>
          </a:prstGeom>
          <a:noFill/>
          <a:ln/>
        </p:spPr>
        <p:txBody>
          <a:bodyPr wrap="square" lIns="0" tIns="0" rIns="0" bIns="0" rtlCol="0" anchor="ctr"/>
          <a:lstStyle/>
          <a:p>
            <a:pPr indent="0" marL="0">
              <a:buNone/>
            </a:pPr>
            <a:r>
              <a:rPr lang="en-US" sz="1250" b="1" dirty="0">
                <a:solidFill>
                  <a:srgbClr val="1E293B"/>
                </a:solidFill>
                <a:latin typeface="Arial Black" pitchFamily="34" charset="0"/>
                <a:ea typeface="Arial Black" pitchFamily="34" charset="-122"/>
                <a:cs typeface="Arial Black" pitchFamily="34" charset="-120"/>
              </a:rPr>
              <a:t>Bias signal is the most reliable feature</a:t>
            </a:r>
            <a:endParaRPr lang="en-US" sz="1250" dirty="0"/>
          </a:p>
        </p:txBody>
      </p:sp>
      <p:sp>
        <p:nvSpPr>
          <p:cNvPr id="19" name="Text 17"/>
          <p:cNvSpPr/>
          <p:nvPr/>
        </p:nvSpPr>
        <p:spPr>
          <a:xfrm>
            <a:off x="457200" y="3584448"/>
            <a:ext cx="3877056" cy="11887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When tool calling fails on local models, the Bias Detector carries most of the weight. Fake news tends to use inflammatory language and one-sided framing that the model detects without any web access.</a:t>
            </a:r>
            <a:endParaRPr lang="en-US" sz="1100" dirty="0"/>
          </a:p>
        </p:txBody>
      </p:sp>
      <p:sp>
        <p:nvSpPr>
          <p:cNvPr id="20" name="Shape 18"/>
          <p:cNvSpPr/>
          <p:nvPr/>
        </p:nvSpPr>
        <p:spPr>
          <a:xfrm>
            <a:off x="4709160" y="2834640"/>
            <a:ext cx="4206240" cy="202996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4873752" y="3017520"/>
            <a:ext cx="347472" cy="347472"/>
          </a:xfrm>
          <a:prstGeom prst="ellipse">
            <a:avLst/>
          </a:prstGeom>
          <a:solidFill>
            <a:srgbClr val="0D9488"/>
          </a:solidFill>
          <a:ln w="12700">
            <a:solidFill>
              <a:srgbClr val="0D9488"/>
            </a:solidFill>
            <a:prstDash val="solid"/>
          </a:ln>
        </p:spPr>
      </p:sp>
      <p:sp>
        <p:nvSpPr>
          <p:cNvPr id="22" name="Text 20"/>
          <p:cNvSpPr/>
          <p:nvPr/>
        </p:nvSpPr>
        <p:spPr>
          <a:xfrm>
            <a:off x="4873752" y="301752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4</a:t>
            </a:r>
            <a:endParaRPr lang="en-US" sz="1400" dirty="0"/>
          </a:p>
        </p:txBody>
      </p:sp>
      <p:sp>
        <p:nvSpPr>
          <p:cNvPr id="23" name="Text 21"/>
          <p:cNvSpPr/>
          <p:nvPr/>
        </p:nvSpPr>
        <p:spPr>
          <a:xfrm>
            <a:off x="5349240" y="2999232"/>
            <a:ext cx="3438144" cy="512064"/>
          </a:xfrm>
          <a:prstGeom prst="rect">
            <a:avLst/>
          </a:prstGeom>
          <a:noFill/>
          <a:ln/>
        </p:spPr>
        <p:txBody>
          <a:bodyPr wrap="square" lIns="0" tIns="0" rIns="0" bIns="0" rtlCol="0" anchor="ctr"/>
          <a:lstStyle/>
          <a:p>
            <a:pPr indent="0" marL="0">
              <a:buNone/>
            </a:pPr>
            <a:r>
              <a:rPr lang="en-US" sz="1250" b="1" dirty="0">
                <a:solidFill>
                  <a:srgbClr val="1E293B"/>
                </a:solidFill>
                <a:latin typeface="Arial Black" pitchFamily="34" charset="0"/>
                <a:ea typeface="Arial Black" pitchFamily="34" charset="-122"/>
                <a:cs typeface="Arial Black" pitchFamily="34" charset="-120"/>
              </a:rPr>
              <a:t>Local models need API-level function calls</a:t>
            </a:r>
            <a:endParaRPr lang="en-US" sz="1250" dirty="0"/>
          </a:p>
        </p:txBody>
      </p:sp>
      <p:sp>
        <p:nvSpPr>
          <p:cNvPr id="24" name="Text 22"/>
          <p:cNvSpPr/>
          <p:nvPr/>
        </p:nvSpPr>
        <p:spPr>
          <a:xfrm>
            <a:off x="4892040" y="3584448"/>
            <a:ext cx="3877056" cy="11887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Small models output tool parameters as plain text that frameworks cannot parse. For reliable tool use in production, prefer OpenAI API or call tools directly in Python rather than relying on model invocation.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Shape 1"/>
          <p:cNvSpPr/>
          <p:nvPr/>
        </p:nvSpPr>
        <p:spPr>
          <a:xfrm>
            <a:off x="0" y="0"/>
            <a:ext cx="9144000" cy="502920"/>
          </a:xfrm>
          <a:prstGeom prst="rect">
            <a:avLst/>
          </a:prstGeom>
          <a:solidFill>
            <a:srgbClr val="0F172A"/>
          </a:solidFill>
          <a:ln w="12700">
            <a:solidFill>
              <a:srgbClr val="0F172A"/>
            </a:solidFill>
            <a:prstDash val="solid"/>
          </a:ln>
        </p:spPr>
      </p:sp>
      <p:sp>
        <p:nvSpPr>
          <p:cNvPr id="4" name="Shape 2"/>
          <p:cNvSpPr/>
          <p:nvPr/>
        </p:nvSpPr>
        <p:spPr>
          <a:xfrm>
            <a:off x="0" y="0"/>
            <a:ext cx="164592" cy="502920"/>
          </a:xfrm>
          <a:prstGeom prst="rect">
            <a:avLst/>
          </a:prstGeom>
          <a:solidFill>
            <a:srgbClr val="0D9488"/>
          </a:solidFill>
          <a:ln w="12700">
            <a:solidFill>
              <a:srgbClr val="0D9488"/>
            </a:solidFill>
            <a:prstDash val="solid"/>
          </a:ln>
        </p:spPr>
      </p:sp>
      <p:sp>
        <p:nvSpPr>
          <p:cNvPr id="5" name="Text 3"/>
          <p:cNvSpPr/>
          <p:nvPr/>
        </p:nvSpPr>
        <p:spPr>
          <a:xfrm>
            <a:off x="320040" y="0"/>
            <a:ext cx="8503920" cy="502920"/>
          </a:xfrm>
          <a:prstGeom prst="rect">
            <a:avLst/>
          </a:prstGeom>
          <a:noFill/>
          <a:ln/>
        </p:spPr>
        <p:txBody>
          <a:bodyPr wrap="square" lIns="0" tIns="0" rIns="0" bIns="0" rtlCol="0" anchor="ctr"/>
          <a:lstStyle/>
          <a:p>
            <a:pPr indent="0" marL="0">
              <a:buNone/>
            </a:pPr>
            <a:r>
              <a:rPr lang="en-US" sz="1900" b="1" dirty="0">
                <a:solidFill>
                  <a:srgbClr val="FFFFFF"/>
                </a:solidFill>
                <a:latin typeface="Arial Black" pitchFamily="34" charset="0"/>
                <a:ea typeface="Arial Black" pitchFamily="34" charset="-122"/>
                <a:cs typeface="Arial Black" pitchFamily="34" charset="-120"/>
              </a:rPr>
              <a:t>Conclusions</a:t>
            </a:r>
            <a:endParaRPr lang="en-US" sz="1900" dirty="0"/>
          </a:p>
        </p:txBody>
      </p:sp>
      <p:sp>
        <p:nvSpPr>
          <p:cNvPr id="6" name="Shape 4"/>
          <p:cNvSpPr/>
          <p:nvPr/>
        </p:nvSpPr>
        <p:spPr>
          <a:xfrm>
            <a:off x="0" y="4480560"/>
            <a:ext cx="9144000" cy="662940"/>
          </a:xfrm>
          <a:prstGeom prst="rect">
            <a:avLst/>
          </a:prstGeom>
          <a:solidFill>
            <a:srgbClr val="334155"/>
          </a:solidFill>
          <a:ln w="12700">
            <a:solidFill>
              <a:srgbClr val="334155"/>
            </a:solidFill>
            <a:prstDash val="solid"/>
          </a:ln>
        </p:spPr>
      </p:sp>
      <p:sp>
        <p:nvSpPr>
          <p:cNvPr id="7" name="Shape 5"/>
          <p:cNvSpPr/>
          <p:nvPr/>
        </p:nvSpPr>
        <p:spPr>
          <a:xfrm>
            <a:off x="365760" y="621792"/>
            <a:ext cx="8412480" cy="1115568"/>
          </a:xfrm>
          <a:prstGeom prst="rect">
            <a:avLst/>
          </a:prstGeom>
          <a:solidFill>
            <a:srgbClr val="334155"/>
          </a:solidFill>
          <a:ln w="12700">
            <a:solidFill>
              <a:srgbClr val="475569"/>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65760" y="621792"/>
            <a:ext cx="91440" cy="1115568"/>
          </a:xfrm>
          <a:prstGeom prst="rect">
            <a:avLst/>
          </a:prstGeom>
          <a:solidFill>
            <a:srgbClr val="14B8A6"/>
          </a:solidFill>
          <a:ln w="12700">
            <a:solidFill>
              <a:srgbClr val="14B8A6"/>
            </a:solidFill>
            <a:prstDash val="solid"/>
          </a:ln>
        </p:spPr>
      </p:sp>
      <p:sp>
        <p:nvSpPr>
          <p:cNvPr id="9" name="Text 7"/>
          <p:cNvSpPr/>
          <p:nvPr/>
        </p:nvSpPr>
        <p:spPr>
          <a:xfrm>
            <a:off x="566928" y="713232"/>
            <a:ext cx="2286000" cy="347472"/>
          </a:xfrm>
          <a:prstGeom prst="rect">
            <a:avLst/>
          </a:prstGeom>
          <a:noFill/>
          <a:ln/>
        </p:spPr>
        <p:txBody>
          <a:bodyPr wrap="square" lIns="0" tIns="0" rIns="0" bIns="0" rtlCol="0" anchor="ctr"/>
          <a:lstStyle/>
          <a:p>
            <a:pPr indent="0" marL="0">
              <a:buNone/>
            </a:pPr>
            <a:r>
              <a:rPr lang="en-US" sz="1400" b="1" dirty="0">
                <a:solidFill>
                  <a:srgbClr val="14B8A6"/>
                </a:solidFill>
                <a:latin typeface="Arial Black" pitchFamily="34" charset="0"/>
                <a:ea typeface="Arial Black" pitchFamily="34" charset="-122"/>
                <a:cs typeface="Arial Black" pitchFamily="34" charset="-120"/>
              </a:rPr>
              <a:t>What Worked</a:t>
            </a:r>
            <a:endParaRPr lang="en-US" sz="1400" dirty="0"/>
          </a:p>
        </p:txBody>
      </p:sp>
      <p:sp>
        <p:nvSpPr>
          <p:cNvPr id="10" name="Text 8"/>
          <p:cNvSpPr/>
          <p:nvPr/>
        </p:nvSpPr>
        <p:spPr>
          <a:xfrm>
            <a:off x="566928" y="1097280"/>
            <a:ext cx="8046720" cy="5943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Sequential 4-agent pipeline, deterministic Python scoring (_compute_verdict), bias detection as a reliable fallback, RoBERTa as a lightweight supporting signal. 89% accuracy on WELFake using a free local 3b model.</a:t>
            </a:r>
            <a:endParaRPr lang="en-US" sz="1150" dirty="0"/>
          </a:p>
        </p:txBody>
      </p:sp>
      <p:sp>
        <p:nvSpPr>
          <p:cNvPr id="11" name="Shape 9"/>
          <p:cNvSpPr/>
          <p:nvPr/>
        </p:nvSpPr>
        <p:spPr>
          <a:xfrm>
            <a:off x="365760" y="1883664"/>
            <a:ext cx="8412480" cy="1115568"/>
          </a:xfrm>
          <a:prstGeom prst="rect">
            <a:avLst/>
          </a:prstGeom>
          <a:solidFill>
            <a:srgbClr val="334155"/>
          </a:solidFill>
          <a:ln w="12700">
            <a:solidFill>
              <a:srgbClr val="475569"/>
            </a:solidFill>
            <a:prstDash val="solid"/>
          </a:ln>
          <a:effectLst>
            <a:outerShdw sx="100000" sy="100000" kx="0" ky="0" algn="bl" rotWithShape="0" blurRad="101600" dist="38100" dir="8100000">
              <a:srgbClr val="000000">
                <a:alpha val="10000"/>
              </a:srgbClr>
            </a:outerShdw>
          </a:effectLst>
        </p:spPr>
      </p:sp>
      <p:sp>
        <p:nvSpPr>
          <p:cNvPr id="12" name="Shape 10"/>
          <p:cNvSpPr/>
          <p:nvPr/>
        </p:nvSpPr>
        <p:spPr>
          <a:xfrm>
            <a:off x="365760" y="1883664"/>
            <a:ext cx="91440" cy="1115568"/>
          </a:xfrm>
          <a:prstGeom prst="rect">
            <a:avLst/>
          </a:prstGeom>
          <a:solidFill>
            <a:srgbClr val="F59E0B"/>
          </a:solidFill>
          <a:ln w="12700">
            <a:solidFill>
              <a:srgbClr val="F59E0B"/>
            </a:solidFill>
            <a:prstDash val="solid"/>
          </a:ln>
        </p:spPr>
      </p:sp>
      <p:sp>
        <p:nvSpPr>
          <p:cNvPr id="13" name="Text 11"/>
          <p:cNvSpPr/>
          <p:nvPr/>
        </p:nvSpPr>
        <p:spPr>
          <a:xfrm>
            <a:off x="566928" y="1975104"/>
            <a:ext cx="2286000" cy="347472"/>
          </a:xfrm>
          <a:prstGeom prst="rect">
            <a:avLst/>
          </a:prstGeom>
          <a:noFill/>
          <a:ln/>
        </p:spPr>
        <p:txBody>
          <a:bodyPr wrap="square" lIns="0" tIns="0" rIns="0" bIns="0" rtlCol="0" anchor="ctr"/>
          <a:lstStyle/>
          <a:p>
            <a:pPr indent="0" marL="0">
              <a:buNone/>
            </a:pPr>
            <a:r>
              <a:rPr lang="en-US" sz="1400" b="1" dirty="0">
                <a:solidFill>
                  <a:srgbClr val="F59E0B"/>
                </a:solidFill>
                <a:latin typeface="Arial Black" pitchFamily="34" charset="0"/>
                <a:ea typeface="Arial Black" pitchFamily="34" charset="-122"/>
                <a:cs typeface="Arial Black" pitchFamily="34" charset="-120"/>
              </a:rPr>
              <a:t>What Didn't</a:t>
            </a:r>
            <a:endParaRPr lang="en-US" sz="1400" dirty="0"/>
          </a:p>
        </p:txBody>
      </p:sp>
      <p:sp>
        <p:nvSpPr>
          <p:cNvPr id="14" name="Text 12"/>
          <p:cNvSpPr/>
          <p:nvPr/>
        </p:nvSpPr>
        <p:spPr>
          <a:xfrm>
            <a:off x="566928" y="2359152"/>
            <a:ext cx="8046720" cy="5943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Local model tool calling is fragile - Qwen outputs plain text instead of function calls. Dataset leakage inflates metrics. The 3b model wins for the wrong reasons: fast pattern matching on memorized data.</a:t>
            </a:r>
            <a:endParaRPr lang="en-US" sz="1150" dirty="0"/>
          </a:p>
        </p:txBody>
      </p:sp>
      <p:sp>
        <p:nvSpPr>
          <p:cNvPr id="15" name="Shape 13"/>
          <p:cNvSpPr/>
          <p:nvPr/>
        </p:nvSpPr>
        <p:spPr>
          <a:xfrm>
            <a:off x="365760" y="3145536"/>
            <a:ext cx="8412480" cy="1115568"/>
          </a:xfrm>
          <a:prstGeom prst="rect">
            <a:avLst/>
          </a:prstGeom>
          <a:solidFill>
            <a:srgbClr val="334155"/>
          </a:solidFill>
          <a:ln w="12700">
            <a:solidFill>
              <a:srgbClr val="475569"/>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365760" y="3145536"/>
            <a:ext cx="91440" cy="1115568"/>
          </a:xfrm>
          <a:prstGeom prst="rect">
            <a:avLst/>
          </a:prstGeom>
          <a:solidFill>
            <a:srgbClr val="93C5FD"/>
          </a:solidFill>
          <a:ln w="12700">
            <a:solidFill>
              <a:srgbClr val="93C5FD"/>
            </a:solidFill>
            <a:prstDash val="solid"/>
          </a:ln>
        </p:spPr>
      </p:sp>
      <p:sp>
        <p:nvSpPr>
          <p:cNvPr id="17" name="Text 15"/>
          <p:cNvSpPr/>
          <p:nvPr/>
        </p:nvSpPr>
        <p:spPr>
          <a:xfrm>
            <a:off x="566928" y="3236976"/>
            <a:ext cx="2286000" cy="347472"/>
          </a:xfrm>
          <a:prstGeom prst="rect">
            <a:avLst/>
          </a:prstGeom>
          <a:noFill/>
          <a:ln/>
        </p:spPr>
        <p:txBody>
          <a:bodyPr wrap="square" lIns="0" tIns="0" rIns="0" bIns="0" rtlCol="0" anchor="ctr"/>
          <a:lstStyle/>
          <a:p>
            <a:pPr indent="0" marL="0">
              <a:buNone/>
            </a:pPr>
            <a:r>
              <a:rPr lang="en-US" sz="1400" b="1" dirty="0">
                <a:solidFill>
                  <a:srgbClr val="93C5FD"/>
                </a:solidFill>
                <a:latin typeface="Arial Black" pitchFamily="34" charset="0"/>
                <a:ea typeface="Arial Black" pitchFamily="34" charset="-122"/>
                <a:cs typeface="Arial Black" pitchFamily="34" charset="-120"/>
              </a:rPr>
              <a:t>Future Work</a:t>
            </a:r>
            <a:endParaRPr lang="en-US" sz="1400" dirty="0"/>
          </a:p>
        </p:txBody>
      </p:sp>
      <p:sp>
        <p:nvSpPr>
          <p:cNvPr id="18" name="Text 16"/>
          <p:cNvSpPr/>
          <p:nvPr/>
        </p:nvSpPr>
        <p:spPr>
          <a:xfrm>
            <a:off x="566928" y="3621024"/>
            <a:ext cx="8046720" cy="5943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Post-cutoff evaluation dataset for uncontaminated testing, OpenAI backend for reliable tool use, parallel pipeline (Option B) with agents 2 and 3 running concurrently to reduce latency.</a:t>
            </a:r>
            <a:endParaRPr lang="en-US" sz="1150" dirty="0"/>
          </a:p>
        </p:txBody>
      </p:sp>
      <p:sp>
        <p:nvSpPr>
          <p:cNvPr id="19" name="Text 17"/>
          <p:cNvSpPr/>
          <p:nvPr/>
        </p:nvSpPr>
        <p:spPr>
          <a:xfrm>
            <a:off x="320040" y="4480560"/>
            <a:ext cx="8503920" cy="66294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Gen AI &amp; Agents  -  IE University  -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Fake News Detection</dc:title>
  <dc:subject>PptxGenJS Presentation</dc:subject>
  <dc:creator>PptxGenJS</dc:creator>
  <cp:lastModifiedBy>PptxGenJS</cp:lastModifiedBy>
  <cp:revision>1</cp:revision>
  <dcterms:created xsi:type="dcterms:W3CDTF">2026-04-24T16:24:08Z</dcterms:created>
  <dcterms:modified xsi:type="dcterms:W3CDTF">2026-04-24T16:24:08Z</dcterms:modified>
</cp:coreProperties>
</file>